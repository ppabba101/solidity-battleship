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t>
            </a:r>
          </a:p>
          <a:p>
            <a:r>
              <a:t>Welcome, everyone. What you're about to see is Battleship — the classic two-player board game — reimagined with zero-knowledge proofs. My name is Presenter A, and I'll be walking you through the problem we set out to solve. In about eight minutes, you'll understand why a cryptographic commitment alone isn't enough to make this game trustworthy, and how a single zk-SNARK changes everything. By the end we'll show you a live demo running entirely in the browser.</a:t>
            </a:r>
          </a:p>
          <a:p/>
          <a:p>
            <a:r>
              <a:t>[Presenter B]</a:t>
            </a:r>
          </a:p>
          <a:p>
            <a:r>
              <a:t>And I'm Presenter B. I'll take over for the technical deep-dive and the architecture walkthrough. Let's get started.</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t>
            </a:r>
          </a:p>
          <a:p>
            <a:r>
              <a:t>At its core, Battleship is a game of hidden information. You place your ships on a private board and your opponent can't see them. But here's the problem: in a digital implementation, how does your opponent know you placed ships at all? You could claim every shot is a miss, never admit a hit, and coast to victory. The rules don't enforce themselves. We need a way to commit to a board—prove it's a legal fleet—without showing anyone where the ships actually are. That's the central cryptographic puzzle we're solving.</a:t>
            </a:r>
          </a:p>
          <a:p/>
          <a:p>
            <a:r>
              <a:t>[Presenter B]</a:t>
            </a:r>
          </a:p>
          <a:p>
            <a:r>
              <a:t>Exactly. And the naive solution—Merkle trees—turns out to be insufficient. I'll show you why on the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t>
            </a:r>
          </a:p>
          <a:p>
            <a:r>
              <a:t>A Merkle tree lets you commit to a set of values and later prove membership. It sounds perfect— put your board in a Merkle tree, hand over the root. But here's the fatal flaw: the Merkle root proves you committed to *some* set of values. It does not prove those values constitute a legal fleet. An attacker commits to an all-empty 10-by-10 grid. That's a perfectly valid Merkle tree. They respond "miss" to every single shot. At game end, you'd need to verify the reveal—but by then the game is already over and the attacker has "won." The deferred-reveal path that was supposed to catch cheaters is essentially dead code in our original contract—both branches of the legality check assigned the same winner.</a:t>
            </a:r>
          </a:p>
          <a:p/>
          <a:p>
            <a:r>
              <a:t>[Presenter B]</a:t>
            </a:r>
          </a:p>
          <a:p>
            <a:r>
              <a:t>So the whole deferred-reveal scheme is theatre. We need validity proven *upfront*, before a single shot is fired. That's what zero-knowledge SNARKs give us.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t>
            </a:r>
          </a:p>
          <a:p>
            <a:r>
              <a:t>This is where Noir comes in. Noir is a Rust-inspired domain-specific language for writing zero-knowledge circuits. We wrote a circuit that takes your 100 private board cells plus some random salts, and proves—without revealing anything—that those cells form exactly one carrier, one battleship, two cruisers, and one destroyer: 17 occupied cells, no overlaps, no diagonals, nothing out of bounds. The proof is a single blob of bytes that the on-chain verifier checks for around 250,000 gas. Critically, Noir's UltraPlonk backend requires no trusted setup ceremony. That's a big deal for a demo narrative: you never have to explain why you trust the setup.</a:t>
            </a:r>
          </a:p>
          <a:p/>
          <a:p>
            <a:r>
              <a:t>[Presenter A]</a:t>
            </a:r>
          </a:p>
          <a:p>
            <a:r>
              <a:t>And the proof is generated right in the browser using the @aztec/bb.js WASM prover. No server, no backend, no cheating.</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t>
            </a:r>
          </a:p>
          <a:p>
            <a:r>
              <a:t>Let me walk you through the data flow. A player opens the React app in their browser. When they click Ready, bb.js—Aztec's WASM-compiled Barretenberg prover—runs the Noir board-validity circuit locally. That produces a proof, which is sent as calldata to BattleshipGame.sol on a local Anvil chain. The contract calls the Noir-generated Solidity verifier, which either accepts or rejects the proof on-chain. Every shot response goes through the same pipeline with the shot-response circuit. Nothing trusts the frontend—every claim is verified by the contract.</a:t>
            </a:r>
          </a:p>
          <a:p/>
          <a:p>
            <a:r>
              <a:t>[Presenter A]</a:t>
            </a:r>
          </a:p>
          <a:p>
            <a:r>
              <a:t>Two burner wallets derived from Anvil's deterministic test keys mean no MetaMask popups, no wallet switching, no friction. It's genuinely a one-laptop, two-player demo.</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t>
            </a:r>
          </a:p>
          <a:p>
            <a:r>
              <a:t>Alright, let's see it in action. I'm opening the app now—you can see both players' grids side-by-side. I'm dragging the carrier—the five-cell ship—onto the board here... rotating it with R... and dropping it. I'll place the rest quickly. Now I hit Ready. Watch the spinner: "Proving your board…"—this is the Noir circuit running in the browser right now.</a:t>
            </a:r>
          </a:p>
          <a:p/>
          <a:p>
            <a:r>
              <a:t>[Presenter B]</a:t>
            </a:r>
          </a:p>
          <a:p>
            <a:r>
              <a:t>And you can see the crypto log on the right: "Board legality proven in 4.2 seconds." That proof just landed on-chain. Player 2 does the same. Now we start shooting—I'll click (3, 5) on the enemy grid. There's the pending pulse animation, and—explosion! Hit confirmed on-chain. The proof for that shot response verified in under two seconds. Watch the sunk animation when the last cell of a ship goes down. This is cryptographic proof, running live.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B]</a:t>
            </a:r>
          </a:p>
          <a:p>
            <a:r>
              <a:t>Let me recap what the cryptography actually guaranteed during that demo. Before the first shot, each player produced a zk-SNARK proving their board contained exactly the standard fleet—17 cells, correct ship shapes, no overlaps. The contract rejected that proof or stored it; there was no way to cheat at commit time. Then, for every single shot, the responding player produced a second proof: 'given my committed board, the response to coordinate (x,y) is honestly hit or miss.' Neither player ever revealed their full board. The opponent's claims about hit and miss were not taken on trust—they were verified by the Solidity contract on every response. And none of this required a trusted setup ceremony.</a:t>
            </a:r>
          </a:p>
          <a:p/>
          <a:p>
            <a:r>
              <a:t>[Presenter A]</a:t>
            </a:r>
          </a:p>
          <a:p>
            <a:r>
              <a:t>That's the full cryptographic story in four bullets. No trust, no reveal, no ceremony.</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A]</a:t>
            </a:r>
          </a:p>
          <a:p>
            <a:r>
              <a:t>So where does this go from here? The most obvious next step is a mainnet deployment path—the verifier contract is already Solidity, so it's essentially a deploy script away from running on any EVM chain. We also want to optimize the shot-response circuit: right now proving time is a few seconds, but with constraint pruning and a faster proving key we can get that below one second. Longer term, a multi-game lobby and tournament mode would make this a real product— imagine trustless Battleship tournaments where every move is cryptographically auditable. That's the vision. Thank you for your time today.</a:t>
            </a:r>
          </a:p>
          <a:p/>
          <a:p>
            <a:r>
              <a:t>[Presenter B]</a:t>
            </a:r>
          </a:p>
          <a:p>
            <a:r>
              <a:t>We're happy to take questions—on the circuits, the contract architecture, the frontend choices, or anything you saw in the demo. The code is all open source and we can point you to any part of the stack.</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34440"/>
            <a:ext cx="10972800" cy="320040"/>
          </a:xfrm>
          <a:prstGeom prst="rect">
            <a:avLst/>
          </a:prstGeom>
          <a:noFill/>
        </p:spPr>
        <p:txBody>
          <a:bodyPr wrap="square" lIns="0" rIns="0" tIns="0" bIns="0" anchor="t">
            <a:spAutoFit/>
          </a:bodyPr>
          <a:lstStyle/>
          <a:p>
            <a:pPr algn="l"/>
            <a:r>
              <a:rPr sz="1200" b="1" spc="350">
                <a:solidFill>
                  <a:srgbClr val="38BDF8"/>
                </a:solidFill>
                <a:latin typeface="Inter"/>
              </a:rPr>
              <a:t>A ZERO-KNOWLEDGE DEMO  •  BLOCKCHAIN CLUB</a:t>
            </a:r>
          </a:p>
        </p:txBody>
      </p:sp>
      <p:sp>
        <p:nvSpPr>
          <p:cNvPr id="5" name="TextBox 4"/>
          <p:cNvSpPr txBox="1"/>
          <p:nvPr/>
        </p:nvSpPr>
        <p:spPr>
          <a:xfrm>
            <a:off x="777240" y="1783080"/>
            <a:ext cx="10972800" cy="1645920"/>
          </a:xfrm>
          <a:prstGeom prst="rect">
            <a:avLst/>
          </a:prstGeom>
          <a:noFill/>
        </p:spPr>
        <p:txBody>
          <a:bodyPr wrap="square" lIns="0" rIns="0" tIns="0" bIns="0" anchor="t">
            <a:spAutoFit/>
          </a:bodyPr>
          <a:lstStyle/>
          <a:p>
            <a:pPr algn="l"/>
            <a:r>
              <a:rPr sz="7200" b="1">
                <a:solidFill>
                  <a:srgbClr val="F8FAFC"/>
                </a:solidFill>
                <a:latin typeface="Inter"/>
              </a:rPr>
              <a:t>Battleship,</a:t>
            </a:r>
          </a:p>
        </p:txBody>
      </p:sp>
      <p:sp>
        <p:nvSpPr>
          <p:cNvPr id="6" name="TextBox 5"/>
          <p:cNvSpPr txBox="1"/>
          <p:nvPr/>
        </p:nvSpPr>
        <p:spPr>
          <a:xfrm>
            <a:off x="777240" y="2971800"/>
            <a:ext cx="10972800" cy="1645920"/>
          </a:xfrm>
          <a:prstGeom prst="rect">
            <a:avLst/>
          </a:prstGeom>
          <a:noFill/>
        </p:spPr>
        <p:txBody>
          <a:bodyPr wrap="square" lIns="0" rIns="0" tIns="0" bIns="0" anchor="t">
            <a:spAutoFit/>
          </a:bodyPr>
          <a:lstStyle/>
          <a:p>
            <a:pPr algn="l"/>
            <a:r>
              <a:rPr sz="7200" b="1">
                <a:solidFill>
                  <a:srgbClr val="F97316"/>
                </a:solidFill>
                <a:latin typeface="Inter"/>
              </a:rPr>
              <a:t>proven.</a:t>
            </a:r>
          </a:p>
        </p:txBody>
      </p:sp>
      <p:sp>
        <p:nvSpPr>
          <p:cNvPr id="7" name="TextBox 6"/>
          <p:cNvSpPr txBox="1"/>
          <p:nvPr/>
        </p:nvSpPr>
        <p:spPr>
          <a:xfrm>
            <a:off x="822960" y="4434840"/>
            <a:ext cx="10972800" cy="457200"/>
          </a:xfrm>
          <a:prstGeom prst="rect">
            <a:avLst/>
          </a:prstGeom>
          <a:noFill/>
        </p:spPr>
        <p:txBody>
          <a:bodyPr wrap="square" lIns="0" rIns="0" tIns="0" bIns="0" anchor="t">
            <a:spAutoFit/>
          </a:bodyPr>
          <a:lstStyle/>
          <a:p>
            <a:pPr algn="l"/>
            <a:r>
              <a:rPr sz="1800" b="0">
                <a:solidFill>
                  <a:srgbClr val="94A3B8"/>
                </a:solidFill>
                <a:latin typeface="Inter"/>
              </a:rPr>
              <a:t>Eight minutes on how a single zk-SNARK turns a game of hidden state into a trustless one.</a:t>
            </a:r>
          </a:p>
        </p:txBody>
      </p:sp>
      <p:sp>
        <p:nvSpPr>
          <p:cNvPr id="8" name="Rounded Rectangle 7"/>
          <p:cNvSpPr/>
          <p:nvPr/>
        </p:nvSpPr>
        <p:spPr>
          <a:xfrm>
            <a:off x="777240" y="5486400"/>
            <a:ext cx="4206240" cy="502920"/>
          </a:xfrm>
          <a:prstGeom prst="roundRect">
            <a:avLst>
              <a:gd name="adj" fmla="val 50000"/>
            </a:avLst>
          </a:prstGeom>
          <a:solidFill>
            <a:srgbClr val="1B2942"/>
          </a:solidFill>
          <a:ln w="9525">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78408" y="5669280"/>
            <a:ext cx="137160" cy="13716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6152" y="5596128"/>
            <a:ext cx="3657600" cy="502920"/>
          </a:xfrm>
          <a:prstGeom prst="rect">
            <a:avLst/>
          </a:prstGeom>
          <a:noFill/>
        </p:spPr>
        <p:txBody>
          <a:bodyPr wrap="square" lIns="0" rIns="0" tIns="0" bIns="0" anchor="t">
            <a:spAutoFit/>
          </a:bodyPr>
          <a:lstStyle/>
          <a:p>
            <a:pPr algn="l"/>
            <a:r>
              <a:rPr sz="1100" b="1" spc="200">
                <a:solidFill>
                  <a:srgbClr val="F8FAFC"/>
                </a:solidFill>
                <a:latin typeface="Inter"/>
              </a:rPr>
              <a:t>PRESENTER A    ·    PRESENTER B</a:t>
            </a:r>
          </a:p>
        </p:txBody>
      </p:sp>
      <p:sp>
        <p:nvSpPr>
          <p:cNvPr id="11" name="TextBox 10"/>
          <p:cNvSpPr txBox="1"/>
          <p:nvPr/>
        </p:nvSpPr>
        <p:spPr>
          <a:xfrm>
            <a:off x="7985455" y="5596128"/>
            <a:ext cx="3657600" cy="274320"/>
          </a:xfrm>
          <a:prstGeom prst="rect">
            <a:avLst/>
          </a:prstGeom>
          <a:noFill/>
        </p:spPr>
        <p:txBody>
          <a:bodyPr wrap="square" lIns="0" rIns="0" tIns="0" bIns="0" anchor="t">
            <a:spAutoFit/>
          </a:bodyPr>
          <a:lstStyle/>
          <a:p>
            <a:pPr algn="r"/>
            <a:r>
              <a:rPr sz="1100" b="0">
                <a:solidFill>
                  <a:srgbClr val="94A3B8"/>
                </a:solidFill>
                <a:latin typeface="JetBrains Mono"/>
              </a:rPr>
              <a:t>noir → ultraplonk → solidity</a:t>
            </a:r>
          </a:p>
        </p:txBody>
      </p:sp>
      <p:sp>
        <p:nvSpPr>
          <p:cNvPr id="12" name="Rectangle 11"/>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6720840"/>
            <a:ext cx="1386801"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01 /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01  ·  THE PROBLEM</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A game built on hidden state.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2773603"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02 / 08</a:t>
            </a:r>
          </a:p>
        </p:txBody>
      </p:sp>
      <p:sp>
        <p:nvSpPr>
          <p:cNvPr id="10" name="TextBox 9"/>
          <p:cNvSpPr txBox="1"/>
          <p:nvPr/>
        </p:nvSpPr>
        <p:spPr>
          <a:xfrm>
            <a:off x="548640" y="2377440"/>
            <a:ext cx="1097280" cy="1828800"/>
          </a:xfrm>
          <a:prstGeom prst="rect">
            <a:avLst/>
          </a:prstGeom>
          <a:noFill/>
        </p:spPr>
        <p:txBody>
          <a:bodyPr wrap="square" lIns="0" rIns="0" tIns="0" bIns="0" anchor="t">
            <a:spAutoFit/>
          </a:bodyPr>
          <a:lstStyle/>
          <a:p>
            <a:pPr algn="l"/>
            <a:r>
              <a:rPr sz="18000" b="1">
                <a:solidFill>
                  <a:srgbClr val="F97316"/>
                </a:solidFill>
                <a:latin typeface="Inter"/>
              </a:rPr>
              <a:t>“</a:t>
            </a:r>
          </a:p>
        </p:txBody>
      </p:sp>
      <p:sp>
        <p:nvSpPr>
          <p:cNvPr id="11" name="TextBox 10"/>
          <p:cNvSpPr txBox="1"/>
          <p:nvPr/>
        </p:nvSpPr>
        <p:spPr>
          <a:xfrm>
            <a:off x="1737360" y="2788920"/>
            <a:ext cx="9966960" cy="2377440"/>
          </a:xfrm>
          <a:prstGeom prst="rect">
            <a:avLst/>
          </a:prstGeom>
          <a:noFill/>
        </p:spPr>
        <p:txBody>
          <a:bodyPr wrap="square" lIns="0" rIns="0" tIns="0" bIns="0">
            <a:spAutoFit/>
          </a:bodyPr>
          <a:lstStyle/>
          <a:p>
            <a:pPr algn="l">
              <a:spcBef>
                <a:spcPts val="0"/>
              </a:spcBef>
            </a:pPr>
            <a:r>
              <a:rPr sz="4200" b="1">
                <a:solidFill>
                  <a:srgbClr val="F8FAFC"/>
                </a:solidFill>
                <a:latin typeface="Inter"/>
              </a:rPr>
              <a:t>How do you prove your board</a:t>
            </a:r>
          </a:p>
          <a:p>
            <a:pPr algn="l">
              <a:spcBef>
                <a:spcPts val="0"/>
              </a:spcBef>
            </a:pPr>
            <a:r>
              <a:rPr sz="4200" b="1">
                <a:solidFill>
                  <a:srgbClr val="F97316"/>
                </a:solidFill>
                <a:latin typeface="Inter"/>
              </a:rPr>
              <a:t>is legal—without revealing it?</a:t>
            </a:r>
          </a:p>
        </p:txBody>
      </p:sp>
      <p:sp>
        <p:nvSpPr>
          <p:cNvPr id="12" name="TextBox 11"/>
          <p:cNvSpPr txBox="1"/>
          <p:nvPr/>
        </p:nvSpPr>
        <p:spPr>
          <a:xfrm>
            <a:off x="1737360" y="5074920"/>
            <a:ext cx="9966960" cy="365760"/>
          </a:xfrm>
          <a:prstGeom prst="rect">
            <a:avLst/>
          </a:prstGeom>
          <a:noFill/>
        </p:spPr>
        <p:txBody>
          <a:bodyPr wrap="square" lIns="0" rIns="0" tIns="0" bIns="0" anchor="t">
            <a:spAutoFit/>
          </a:bodyPr>
          <a:lstStyle/>
          <a:p>
            <a:pPr algn="l"/>
            <a:r>
              <a:rPr sz="1400" b="0">
                <a:solidFill>
                  <a:srgbClr val="94A3B8"/>
                </a:solidFill>
                <a:latin typeface="Inter"/>
              </a:rPr>
              <a:t>— the central cryptographic puzzle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02  ·  COMMITMENT SCHEMES</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Why Merkle isn't enough.</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4160405"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03 / 08</a:t>
            </a:r>
          </a:p>
        </p:txBody>
      </p:sp>
      <p:sp>
        <p:nvSpPr>
          <p:cNvPr id="10" name="Rounded Rectangle 9"/>
          <p:cNvSpPr/>
          <p:nvPr/>
        </p:nvSpPr>
        <p:spPr>
          <a:xfrm>
            <a:off x="548640" y="2331720"/>
            <a:ext cx="5364327" cy="3383280"/>
          </a:xfrm>
          <a:prstGeom prst="roundRect">
            <a:avLst>
              <a:gd name="adj" fmla="val 8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606040"/>
            <a:ext cx="4632807" cy="365760"/>
          </a:xfrm>
          <a:prstGeom prst="rect">
            <a:avLst/>
          </a:prstGeom>
          <a:noFill/>
        </p:spPr>
        <p:txBody>
          <a:bodyPr wrap="square" lIns="0" rIns="0" tIns="0" bIns="0" anchor="t">
            <a:spAutoFit/>
          </a:bodyPr>
          <a:lstStyle/>
          <a:p>
            <a:pPr algn="l"/>
            <a:r>
              <a:rPr sz="1100" b="1" spc="250">
                <a:solidFill>
                  <a:srgbClr val="38BDF8"/>
                </a:solidFill>
                <a:latin typeface="Inter"/>
              </a:rPr>
              <a:t>WHAT MERKLE PROVES</a:t>
            </a:r>
          </a:p>
        </p:txBody>
      </p:sp>
      <p:sp>
        <p:nvSpPr>
          <p:cNvPr id="12" name="TextBox 11"/>
          <p:cNvSpPr txBox="1"/>
          <p:nvPr/>
        </p:nvSpPr>
        <p:spPr>
          <a:xfrm>
            <a:off x="914400" y="2971800"/>
            <a:ext cx="4632807" cy="502920"/>
          </a:xfrm>
          <a:prstGeom prst="rect">
            <a:avLst/>
          </a:prstGeom>
          <a:noFill/>
        </p:spPr>
        <p:txBody>
          <a:bodyPr wrap="square" lIns="0" rIns="0" tIns="0" bIns="0" anchor="t">
            <a:spAutoFit/>
          </a:bodyPr>
          <a:lstStyle/>
          <a:p>
            <a:pPr algn="l"/>
            <a:r>
              <a:rPr sz="2400" b="1">
                <a:solidFill>
                  <a:srgbClr val="F8FAFC"/>
                </a:solidFill>
                <a:latin typeface="Inter"/>
              </a:rPr>
              <a:t>Commitment ✓</a:t>
            </a:r>
          </a:p>
        </p:txBody>
      </p:sp>
      <p:sp>
        <p:nvSpPr>
          <p:cNvPr id="13" name="TextBox 12"/>
          <p:cNvSpPr txBox="1"/>
          <p:nvPr/>
        </p:nvSpPr>
        <p:spPr>
          <a:xfrm>
            <a:off x="914400" y="3749040"/>
            <a:ext cx="365760" cy="411480"/>
          </a:xfrm>
          <a:prstGeom prst="rect">
            <a:avLst/>
          </a:prstGeom>
          <a:noFill/>
        </p:spPr>
        <p:txBody>
          <a:bodyPr wrap="square" lIns="0" rIns="0" tIns="0" bIns="0" anchor="t">
            <a:spAutoFit/>
          </a:bodyPr>
          <a:lstStyle/>
          <a:p>
            <a:pPr algn="l"/>
            <a:r>
              <a:rPr sz="1800" b="1">
                <a:solidFill>
                  <a:srgbClr val="4ADE80"/>
                </a:solidFill>
                <a:latin typeface="Inter"/>
              </a:rPr>
              <a:t>✓</a:t>
            </a:r>
          </a:p>
        </p:txBody>
      </p:sp>
      <p:sp>
        <p:nvSpPr>
          <p:cNvPr id="14" name="TextBox 13"/>
          <p:cNvSpPr txBox="1"/>
          <p:nvPr/>
        </p:nvSpPr>
        <p:spPr>
          <a:xfrm>
            <a:off x="1325880" y="3749040"/>
            <a:ext cx="4221327" cy="457200"/>
          </a:xfrm>
          <a:prstGeom prst="rect">
            <a:avLst/>
          </a:prstGeom>
          <a:noFill/>
        </p:spPr>
        <p:txBody>
          <a:bodyPr wrap="square" lIns="0" rIns="0" tIns="0" bIns="0" anchor="t">
            <a:spAutoFit/>
          </a:bodyPr>
          <a:lstStyle/>
          <a:p>
            <a:pPr algn="l"/>
            <a:r>
              <a:rPr sz="1600" b="0">
                <a:solidFill>
                  <a:srgbClr val="F8FAFC"/>
                </a:solidFill>
                <a:latin typeface="Inter"/>
              </a:rPr>
              <a:t>You committed to some 100 values.</a:t>
            </a:r>
          </a:p>
        </p:txBody>
      </p:sp>
      <p:sp>
        <p:nvSpPr>
          <p:cNvPr id="15" name="TextBox 14"/>
          <p:cNvSpPr txBox="1"/>
          <p:nvPr/>
        </p:nvSpPr>
        <p:spPr>
          <a:xfrm>
            <a:off x="914400" y="4297680"/>
            <a:ext cx="365760" cy="411480"/>
          </a:xfrm>
          <a:prstGeom prst="rect">
            <a:avLst/>
          </a:prstGeom>
          <a:noFill/>
        </p:spPr>
        <p:txBody>
          <a:bodyPr wrap="square" lIns="0" rIns="0" tIns="0" bIns="0" anchor="t">
            <a:spAutoFit/>
          </a:bodyPr>
          <a:lstStyle/>
          <a:p>
            <a:pPr algn="l"/>
            <a:r>
              <a:rPr sz="1800" b="1">
                <a:solidFill>
                  <a:srgbClr val="4ADE80"/>
                </a:solidFill>
                <a:latin typeface="Inter"/>
              </a:rPr>
              <a:t>✓</a:t>
            </a:r>
          </a:p>
        </p:txBody>
      </p:sp>
      <p:sp>
        <p:nvSpPr>
          <p:cNvPr id="16" name="TextBox 15"/>
          <p:cNvSpPr txBox="1"/>
          <p:nvPr/>
        </p:nvSpPr>
        <p:spPr>
          <a:xfrm>
            <a:off x="1325880" y="4297680"/>
            <a:ext cx="4221327" cy="457200"/>
          </a:xfrm>
          <a:prstGeom prst="rect">
            <a:avLst/>
          </a:prstGeom>
          <a:noFill/>
        </p:spPr>
        <p:txBody>
          <a:bodyPr wrap="square" lIns="0" rIns="0" tIns="0" bIns="0" anchor="t">
            <a:spAutoFit/>
          </a:bodyPr>
          <a:lstStyle/>
          <a:p>
            <a:pPr algn="l"/>
            <a:r>
              <a:rPr sz="1600" b="0">
                <a:solidFill>
                  <a:srgbClr val="F8FAFC"/>
                </a:solidFill>
                <a:latin typeface="Inter"/>
              </a:rPr>
              <a:t>You can't change them later.</a:t>
            </a:r>
          </a:p>
        </p:txBody>
      </p:sp>
      <p:sp>
        <p:nvSpPr>
          <p:cNvPr id="17" name="TextBox 16"/>
          <p:cNvSpPr txBox="1"/>
          <p:nvPr/>
        </p:nvSpPr>
        <p:spPr>
          <a:xfrm>
            <a:off x="914400" y="4846320"/>
            <a:ext cx="365760" cy="411480"/>
          </a:xfrm>
          <a:prstGeom prst="rect">
            <a:avLst/>
          </a:prstGeom>
          <a:noFill/>
        </p:spPr>
        <p:txBody>
          <a:bodyPr wrap="square" lIns="0" rIns="0" tIns="0" bIns="0" anchor="t">
            <a:spAutoFit/>
          </a:bodyPr>
          <a:lstStyle/>
          <a:p>
            <a:pPr algn="l"/>
            <a:r>
              <a:rPr sz="1800" b="1">
                <a:solidFill>
                  <a:srgbClr val="4ADE80"/>
                </a:solidFill>
                <a:latin typeface="Inter"/>
              </a:rPr>
              <a:t>✓</a:t>
            </a:r>
          </a:p>
        </p:txBody>
      </p:sp>
      <p:sp>
        <p:nvSpPr>
          <p:cNvPr id="18" name="TextBox 17"/>
          <p:cNvSpPr txBox="1"/>
          <p:nvPr/>
        </p:nvSpPr>
        <p:spPr>
          <a:xfrm>
            <a:off x="1325880" y="4846320"/>
            <a:ext cx="4221327" cy="457200"/>
          </a:xfrm>
          <a:prstGeom prst="rect">
            <a:avLst/>
          </a:prstGeom>
          <a:noFill/>
        </p:spPr>
        <p:txBody>
          <a:bodyPr wrap="square" lIns="0" rIns="0" tIns="0" bIns="0" anchor="t">
            <a:spAutoFit/>
          </a:bodyPr>
          <a:lstStyle/>
          <a:p>
            <a:pPr algn="l"/>
            <a:r>
              <a:rPr sz="1600" b="0">
                <a:solidFill>
                  <a:srgbClr val="F8FAFC"/>
                </a:solidFill>
                <a:latin typeface="Inter"/>
              </a:rPr>
              <a:t>You can reveal any single cell.</a:t>
            </a:r>
          </a:p>
        </p:txBody>
      </p:sp>
      <p:sp>
        <p:nvSpPr>
          <p:cNvPr id="19" name="Rounded Rectangle 18"/>
          <p:cNvSpPr/>
          <p:nvPr/>
        </p:nvSpPr>
        <p:spPr>
          <a:xfrm>
            <a:off x="6278727" y="2331720"/>
            <a:ext cx="5364327" cy="3383280"/>
          </a:xfrm>
          <a:prstGeom prst="roundRect">
            <a:avLst>
              <a:gd name="adj" fmla="val 8000"/>
            </a:avLst>
          </a:prstGeom>
          <a:solidFill>
            <a:srgbClr val="2A1820"/>
          </a:solidFill>
          <a:ln w="12700">
            <a:solidFill>
              <a:srgbClr val="5A2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44487" y="2606040"/>
            <a:ext cx="4632807" cy="365760"/>
          </a:xfrm>
          <a:prstGeom prst="rect">
            <a:avLst/>
          </a:prstGeom>
          <a:noFill/>
        </p:spPr>
        <p:txBody>
          <a:bodyPr wrap="square" lIns="0" rIns="0" tIns="0" bIns="0" anchor="t">
            <a:spAutoFit/>
          </a:bodyPr>
          <a:lstStyle/>
          <a:p>
            <a:pPr algn="l"/>
            <a:r>
              <a:rPr sz="1100" b="1" spc="250">
                <a:solidFill>
                  <a:srgbClr val="F87171"/>
                </a:solidFill>
                <a:latin typeface="Inter"/>
              </a:rPr>
              <a:t>WHAT MERKLE CAN'T PROVE</a:t>
            </a:r>
          </a:p>
        </p:txBody>
      </p:sp>
      <p:sp>
        <p:nvSpPr>
          <p:cNvPr id="21" name="TextBox 20"/>
          <p:cNvSpPr txBox="1"/>
          <p:nvPr/>
        </p:nvSpPr>
        <p:spPr>
          <a:xfrm>
            <a:off x="6644487" y="2971800"/>
            <a:ext cx="4632807" cy="502920"/>
          </a:xfrm>
          <a:prstGeom prst="rect">
            <a:avLst/>
          </a:prstGeom>
          <a:noFill/>
        </p:spPr>
        <p:txBody>
          <a:bodyPr wrap="square" lIns="0" rIns="0" tIns="0" bIns="0" anchor="t">
            <a:spAutoFit/>
          </a:bodyPr>
          <a:lstStyle/>
          <a:p>
            <a:pPr algn="l"/>
            <a:r>
              <a:rPr sz="2400" b="1">
                <a:solidFill>
                  <a:srgbClr val="F87171"/>
                </a:solidFill>
                <a:latin typeface="Inter"/>
              </a:rPr>
              <a:t>Constraints ✗</a:t>
            </a:r>
          </a:p>
        </p:txBody>
      </p:sp>
      <p:sp>
        <p:nvSpPr>
          <p:cNvPr id="22" name="TextBox 21"/>
          <p:cNvSpPr txBox="1"/>
          <p:nvPr/>
        </p:nvSpPr>
        <p:spPr>
          <a:xfrm>
            <a:off x="6644487" y="3749040"/>
            <a:ext cx="365760" cy="411480"/>
          </a:xfrm>
          <a:prstGeom prst="rect">
            <a:avLst/>
          </a:prstGeom>
          <a:noFill/>
        </p:spPr>
        <p:txBody>
          <a:bodyPr wrap="square" lIns="0" rIns="0" tIns="0" bIns="0" anchor="t">
            <a:spAutoFit/>
          </a:bodyPr>
          <a:lstStyle/>
          <a:p>
            <a:pPr algn="l"/>
            <a:r>
              <a:rPr sz="1800" b="1">
                <a:solidFill>
                  <a:srgbClr val="F87171"/>
                </a:solidFill>
                <a:latin typeface="Inter"/>
              </a:rPr>
              <a:t>✗</a:t>
            </a:r>
          </a:p>
        </p:txBody>
      </p:sp>
      <p:sp>
        <p:nvSpPr>
          <p:cNvPr id="23" name="TextBox 22"/>
          <p:cNvSpPr txBox="1"/>
          <p:nvPr/>
        </p:nvSpPr>
        <p:spPr>
          <a:xfrm>
            <a:off x="7055967" y="3749040"/>
            <a:ext cx="4221327" cy="457200"/>
          </a:xfrm>
          <a:prstGeom prst="rect">
            <a:avLst/>
          </a:prstGeom>
          <a:noFill/>
        </p:spPr>
        <p:txBody>
          <a:bodyPr wrap="square" lIns="0" rIns="0" tIns="0" bIns="0" anchor="t">
            <a:spAutoFit/>
          </a:bodyPr>
          <a:lstStyle/>
          <a:p>
            <a:pPr algn="l"/>
            <a:r>
              <a:rPr sz="1600" b="0">
                <a:solidFill>
                  <a:srgbClr val="F8FAFC"/>
                </a:solidFill>
                <a:latin typeface="Inter"/>
              </a:rPr>
              <a:t>That those values form a legal fleet.</a:t>
            </a:r>
          </a:p>
        </p:txBody>
      </p:sp>
      <p:sp>
        <p:nvSpPr>
          <p:cNvPr id="24" name="TextBox 23"/>
          <p:cNvSpPr txBox="1"/>
          <p:nvPr/>
        </p:nvSpPr>
        <p:spPr>
          <a:xfrm>
            <a:off x="6644487" y="4297680"/>
            <a:ext cx="365760" cy="411480"/>
          </a:xfrm>
          <a:prstGeom prst="rect">
            <a:avLst/>
          </a:prstGeom>
          <a:noFill/>
        </p:spPr>
        <p:txBody>
          <a:bodyPr wrap="square" lIns="0" rIns="0" tIns="0" bIns="0" anchor="t">
            <a:spAutoFit/>
          </a:bodyPr>
          <a:lstStyle/>
          <a:p>
            <a:pPr algn="l"/>
            <a:r>
              <a:rPr sz="1800" b="1">
                <a:solidFill>
                  <a:srgbClr val="F87171"/>
                </a:solidFill>
                <a:latin typeface="Inter"/>
              </a:rPr>
              <a:t>✗</a:t>
            </a:r>
          </a:p>
        </p:txBody>
      </p:sp>
      <p:sp>
        <p:nvSpPr>
          <p:cNvPr id="25" name="TextBox 24"/>
          <p:cNvSpPr txBox="1"/>
          <p:nvPr/>
        </p:nvSpPr>
        <p:spPr>
          <a:xfrm>
            <a:off x="7055967" y="4297680"/>
            <a:ext cx="4221327" cy="457200"/>
          </a:xfrm>
          <a:prstGeom prst="rect">
            <a:avLst/>
          </a:prstGeom>
          <a:noFill/>
        </p:spPr>
        <p:txBody>
          <a:bodyPr wrap="square" lIns="0" rIns="0" tIns="0" bIns="0" anchor="t">
            <a:spAutoFit/>
          </a:bodyPr>
          <a:lstStyle/>
          <a:p>
            <a:pPr algn="l"/>
            <a:r>
              <a:rPr sz="1600" b="0">
                <a:solidFill>
                  <a:srgbClr val="F8FAFC"/>
                </a:solidFill>
                <a:latin typeface="Inter"/>
              </a:rPr>
              <a:t>No overlaps, no diagonals, correct shapes.</a:t>
            </a:r>
          </a:p>
        </p:txBody>
      </p:sp>
      <p:sp>
        <p:nvSpPr>
          <p:cNvPr id="26" name="TextBox 25"/>
          <p:cNvSpPr txBox="1"/>
          <p:nvPr/>
        </p:nvSpPr>
        <p:spPr>
          <a:xfrm>
            <a:off x="6644487" y="4846320"/>
            <a:ext cx="365760" cy="411480"/>
          </a:xfrm>
          <a:prstGeom prst="rect">
            <a:avLst/>
          </a:prstGeom>
          <a:noFill/>
        </p:spPr>
        <p:txBody>
          <a:bodyPr wrap="square" lIns="0" rIns="0" tIns="0" bIns="0" anchor="t">
            <a:spAutoFit/>
          </a:bodyPr>
          <a:lstStyle/>
          <a:p>
            <a:pPr algn="l"/>
            <a:r>
              <a:rPr sz="1800" b="1">
                <a:solidFill>
                  <a:srgbClr val="F87171"/>
                </a:solidFill>
                <a:latin typeface="Inter"/>
              </a:rPr>
              <a:t>✗</a:t>
            </a:r>
          </a:p>
        </p:txBody>
      </p:sp>
      <p:sp>
        <p:nvSpPr>
          <p:cNvPr id="27" name="TextBox 26"/>
          <p:cNvSpPr txBox="1"/>
          <p:nvPr/>
        </p:nvSpPr>
        <p:spPr>
          <a:xfrm>
            <a:off x="7055967" y="4846320"/>
            <a:ext cx="4221327" cy="457200"/>
          </a:xfrm>
          <a:prstGeom prst="rect">
            <a:avLst/>
          </a:prstGeom>
          <a:noFill/>
        </p:spPr>
        <p:txBody>
          <a:bodyPr wrap="square" lIns="0" rIns="0" tIns="0" bIns="0" anchor="t">
            <a:spAutoFit/>
          </a:bodyPr>
          <a:lstStyle/>
          <a:p>
            <a:pPr algn="l"/>
            <a:r>
              <a:rPr sz="1600" b="0">
                <a:solidFill>
                  <a:srgbClr val="F8FAFC"/>
                </a:solidFill>
                <a:latin typeface="Inter"/>
              </a:rPr>
              <a:t>Deferred reveal catches cheaters too late.</a:t>
            </a:r>
          </a:p>
        </p:txBody>
      </p:sp>
      <p:sp>
        <p:nvSpPr>
          <p:cNvPr id="28" name="Rectangle 27"/>
          <p:cNvSpPr/>
          <p:nvPr/>
        </p:nvSpPr>
        <p:spPr>
          <a:xfrm>
            <a:off x="548640" y="5897880"/>
            <a:ext cx="54864" cy="41148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879592"/>
            <a:ext cx="10972800" cy="502920"/>
          </a:xfrm>
          <a:prstGeom prst="rect">
            <a:avLst/>
          </a:prstGeom>
          <a:noFill/>
        </p:spPr>
        <p:txBody>
          <a:bodyPr wrap="square" lIns="0" rIns="0" tIns="0" bIns="0" anchor="t">
            <a:spAutoFit/>
          </a:bodyPr>
          <a:lstStyle/>
          <a:p>
            <a:pPr algn="l"/>
            <a:r>
              <a:rPr sz="1200" b="0">
                <a:solidFill>
                  <a:srgbClr val="94A3B8"/>
                </a:solidFill>
                <a:latin typeface="JetBrains Mono"/>
              </a:rPr>
              <a:t>Exploit  →  commit an empty board, answer 'miss' forever, win.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03  ·  THE PRIMITIVE</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Enter zk-SNARKs.</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5547207"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04 / 08</a:t>
            </a:r>
          </a:p>
        </p:txBody>
      </p:sp>
      <p:sp>
        <p:nvSpPr>
          <p:cNvPr id="10" name="Rounded Rectangle 9"/>
          <p:cNvSpPr/>
          <p:nvPr/>
        </p:nvSpPr>
        <p:spPr>
          <a:xfrm>
            <a:off x="548640" y="2331720"/>
            <a:ext cx="5410047" cy="16459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496312"/>
            <a:ext cx="914400" cy="822960"/>
          </a:xfrm>
          <a:prstGeom prst="rect">
            <a:avLst/>
          </a:prstGeom>
          <a:noFill/>
        </p:spPr>
        <p:txBody>
          <a:bodyPr wrap="square" lIns="0" rIns="0" tIns="0" bIns="0" anchor="t">
            <a:spAutoFit/>
          </a:bodyPr>
          <a:lstStyle/>
          <a:p>
            <a:pPr algn="l"/>
            <a:r>
              <a:rPr sz="4400" b="1">
                <a:solidFill>
                  <a:srgbClr val="F97316"/>
                </a:solidFill>
                <a:latin typeface="Inter"/>
              </a:rPr>
              <a:t>λ</a:t>
            </a:r>
          </a:p>
        </p:txBody>
      </p:sp>
      <p:sp>
        <p:nvSpPr>
          <p:cNvPr id="12" name="TextBox 11"/>
          <p:cNvSpPr txBox="1"/>
          <p:nvPr/>
        </p:nvSpPr>
        <p:spPr>
          <a:xfrm>
            <a:off x="1783080" y="2624328"/>
            <a:ext cx="3947007" cy="457200"/>
          </a:xfrm>
          <a:prstGeom prst="rect">
            <a:avLst/>
          </a:prstGeom>
          <a:noFill/>
        </p:spPr>
        <p:txBody>
          <a:bodyPr wrap="square" lIns="0" rIns="0" tIns="0" bIns="0" anchor="t">
            <a:spAutoFit/>
          </a:bodyPr>
          <a:lstStyle/>
          <a:p>
            <a:pPr algn="l"/>
            <a:r>
              <a:rPr sz="2000" b="1">
                <a:solidFill>
                  <a:srgbClr val="F8FAFC"/>
                </a:solidFill>
                <a:latin typeface="Inter"/>
              </a:rPr>
              <a:t>Expressive predicates</a:t>
            </a:r>
          </a:p>
        </p:txBody>
      </p:sp>
      <p:sp>
        <p:nvSpPr>
          <p:cNvPr id="13" name="TextBox 12"/>
          <p:cNvSpPr txBox="1"/>
          <p:nvPr/>
        </p:nvSpPr>
        <p:spPr>
          <a:xfrm>
            <a:off x="1783080" y="3081528"/>
            <a:ext cx="3947007" cy="731520"/>
          </a:xfrm>
          <a:prstGeom prst="rect">
            <a:avLst/>
          </a:prstGeom>
          <a:noFill/>
        </p:spPr>
        <p:txBody>
          <a:bodyPr wrap="square" lIns="0" rIns="0" tIns="0" bIns="0" anchor="t">
            <a:spAutoFit/>
          </a:bodyPr>
          <a:lstStyle/>
          <a:p>
            <a:pPr algn="l"/>
            <a:r>
              <a:rPr sz="1300" b="0">
                <a:solidFill>
                  <a:srgbClr val="94A3B8"/>
                </a:solidFill>
                <a:latin typeface="Inter"/>
              </a:rPr>
              <a:t>Prove 'my board has exactly 1×5, 1×4, 2×3, 1×2.'</a:t>
            </a:r>
          </a:p>
        </p:txBody>
      </p:sp>
      <p:sp>
        <p:nvSpPr>
          <p:cNvPr id="14" name="Rounded Rectangle 13"/>
          <p:cNvSpPr/>
          <p:nvPr/>
        </p:nvSpPr>
        <p:spPr>
          <a:xfrm>
            <a:off x="6233007" y="2331720"/>
            <a:ext cx="5410047" cy="16459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3047" y="2496312"/>
            <a:ext cx="914400" cy="822960"/>
          </a:xfrm>
          <a:prstGeom prst="rect">
            <a:avLst/>
          </a:prstGeom>
          <a:noFill/>
        </p:spPr>
        <p:txBody>
          <a:bodyPr wrap="square" lIns="0" rIns="0" tIns="0" bIns="0" anchor="t">
            <a:spAutoFit/>
          </a:bodyPr>
          <a:lstStyle/>
          <a:p>
            <a:pPr algn="l"/>
            <a:r>
              <a:rPr sz="4400" b="1">
                <a:solidFill>
                  <a:srgbClr val="F97316"/>
                </a:solidFill>
                <a:latin typeface="Inter"/>
              </a:rPr>
              <a:t>π</a:t>
            </a:r>
          </a:p>
        </p:txBody>
      </p:sp>
      <p:sp>
        <p:nvSpPr>
          <p:cNvPr id="16" name="TextBox 15"/>
          <p:cNvSpPr txBox="1"/>
          <p:nvPr/>
        </p:nvSpPr>
        <p:spPr>
          <a:xfrm>
            <a:off x="7467447" y="2624328"/>
            <a:ext cx="3947007" cy="457200"/>
          </a:xfrm>
          <a:prstGeom prst="rect">
            <a:avLst/>
          </a:prstGeom>
          <a:noFill/>
        </p:spPr>
        <p:txBody>
          <a:bodyPr wrap="square" lIns="0" rIns="0" tIns="0" bIns="0" anchor="t">
            <a:spAutoFit/>
          </a:bodyPr>
          <a:lstStyle/>
          <a:p>
            <a:pPr algn="l"/>
            <a:r>
              <a:rPr sz="2000" b="1">
                <a:solidFill>
                  <a:srgbClr val="F8FAFC"/>
                </a:solidFill>
                <a:latin typeface="Inter"/>
              </a:rPr>
              <a:t>Succinct proof</a:t>
            </a:r>
          </a:p>
        </p:txBody>
      </p:sp>
      <p:sp>
        <p:nvSpPr>
          <p:cNvPr id="17" name="TextBox 16"/>
          <p:cNvSpPr txBox="1"/>
          <p:nvPr/>
        </p:nvSpPr>
        <p:spPr>
          <a:xfrm>
            <a:off x="7467447" y="3081528"/>
            <a:ext cx="3947007" cy="731520"/>
          </a:xfrm>
          <a:prstGeom prst="rect">
            <a:avLst/>
          </a:prstGeom>
          <a:noFill/>
        </p:spPr>
        <p:txBody>
          <a:bodyPr wrap="square" lIns="0" rIns="0" tIns="0" bIns="0" anchor="t">
            <a:spAutoFit/>
          </a:bodyPr>
          <a:lstStyle/>
          <a:p>
            <a:pPr algn="l"/>
            <a:r>
              <a:rPr sz="1300" b="0">
                <a:solidFill>
                  <a:srgbClr val="94A3B8"/>
                </a:solidFill>
                <a:latin typeface="Inter"/>
              </a:rPr>
              <a:t>A single blob of bytes. Constant-size, fast to verify.</a:t>
            </a:r>
          </a:p>
        </p:txBody>
      </p:sp>
      <p:sp>
        <p:nvSpPr>
          <p:cNvPr id="18" name="Rounded Rectangle 17"/>
          <p:cNvSpPr/>
          <p:nvPr/>
        </p:nvSpPr>
        <p:spPr>
          <a:xfrm>
            <a:off x="548640" y="4251960"/>
            <a:ext cx="5410047" cy="16459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416552"/>
            <a:ext cx="914400" cy="822960"/>
          </a:xfrm>
          <a:prstGeom prst="rect">
            <a:avLst/>
          </a:prstGeom>
          <a:noFill/>
        </p:spPr>
        <p:txBody>
          <a:bodyPr wrap="square" lIns="0" rIns="0" tIns="0" bIns="0" anchor="t">
            <a:spAutoFit/>
          </a:bodyPr>
          <a:lstStyle/>
          <a:p>
            <a:pPr algn="l"/>
            <a:r>
              <a:rPr sz="4400" b="1">
                <a:solidFill>
                  <a:srgbClr val="F97316"/>
                </a:solidFill>
                <a:latin typeface="Inter"/>
              </a:rPr>
              <a:t>#</a:t>
            </a:r>
          </a:p>
        </p:txBody>
      </p:sp>
      <p:sp>
        <p:nvSpPr>
          <p:cNvPr id="20" name="TextBox 19"/>
          <p:cNvSpPr txBox="1"/>
          <p:nvPr/>
        </p:nvSpPr>
        <p:spPr>
          <a:xfrm>
            <a:off x="1783080" y="4544568"/>
            <a:ext cx="3947007" cy="457200"/>
          </a:xfrm>
          <a:prstGeom prst="rect">
            <a:avLst/>
          </a:prstGeom>
          <a:noFill/>
        </p:spPr>
        <p:txBody>
          <a:bodyPr wrap="square" lIns="0" rIns="0" tIns="0" bIns="0" anchor="t">
            <a:spAutoFit/>
          </a:bodyPr>
          <a:lstStyle/>
          <a:p>
            <a:pPr algn="l"/>
            <a:r>
              <a:rPr sz="2000" b="1">
                <a:solidFill>
                  <a:srgbClr val="F8FAFC"/>
                </a:solidFill>
                <a:latin typeface="Inter"/>
              </a:rPr>
              <a:t>No trusted setup</a:t>
            </a:r>
          </a:p>
        </p:txBody>
      </p:sp>
      <p:sp>
        <p:nvSpPr>
          <p:cNvPr id="21" name="TextBox 20"/>
          <p:cNvSpPr txBox="1"/>
          <p:nvPr/>
        </p:nvSpPr>
        <p:spPr>
          <a:xfrm>
            <a:off x="1783080" y="5001768"/>
            <a:ext cx="3947007" cy="731520"/>
          </a:xfrm>
          <a:prstGeom prst="rect">
            <a:avLst/>
          </a:prstGeom>
          <a:noFill/>
        </p:spPr>
        <p:txBody>
          <a:bodyPr wrap="square" lIns="0" rIns="0" tIns="0" bIns="0" anchor="t">
            <a:spAutoFit/>
          </a:bodyPr>
          <a:lstStyle/>
          <a:p>
            <a:pPr algn="l"/>
            <a:r>
              <a:rPr sz="1300" b="0">
                <a:solidFill>
                  <a:srgbClr val="94A3B8"/>
                </a:solidFill>
                <a:latin typeface="Inter"/>
              </a:rPr>
              <a:t>UltraPlonk—no ceremony, no toxic waste.</a:t>
            </a:r>
          </a:p>
        </p:txBody>
      </p:sp>
      <p:sp>
        <p:nvSpPr>
          <p:cNvPr id="22" name="Rounded Rectangle 21"/>
          <p:cNvSpPr/>
          <p:nvPr/>
        </p:nvSpPr>
        <p:spPr>
          <a:xfrm>
            <a:off x="6233007" y="4251960"/>
            <a:ext cx="5410047" cy="1645920"/>
          </a:xfrm>
          <a:prstGeom prst="roundRect">
            <a:avLst>
              <a:gd name="adj" fmla="val 10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53047" y="4416552"/>
            <a:ext cx="914400" cy="822960"/>
          </a:xfrm>
          <a:prstGeom prst="rect">
            <a:avLst/>
          </a:prstGeom>
          <a:noFill/>
        </p:spPr>
        <p:txBody>
          <a:bodyPr wrap="square" lIns="0" rIns="0" tIns="0" bIns="0" anchor="t">
            <a:spAutoFit/>
          </a:bodyPr>
          <a:lstStyle/>
          <a:p>
            <a:pPr algn="l"/>
            <a:r>
              <a:rPr sz="4400" b="1">
                <a:solidFill>
                  <a:srgbClr val="F97316"/>
                </a:solidFill>
                <a:latin typeface="Inter"/>
              </a:rPr>
              <a:t>✓</a:t>
            </a:r>
          </a:p>
        </p:txBody>
      </p:sp>
      <p:sp>
        <p:nvSpPr>
          <p:cNvPr id="24" name="TextBox 23"/>
          <p:cNvSpPr txBox="1"/>
          <p:nvPr/>
        </p:nvSpPr>
        <p:spPr>
          <a:xfrm>
            <a:off x="7467447" y="4544568"/>
            <a:ext cx="3947007" cy="457200"/>
          </a:xfrm>
          <a:prstGeom prst="rect">
            <a:avLst/>
          </a:prstGeom>
          <a:noFill/>
        </p:spPr>
        <p:txBody>
          <a:bodyPr wrap="square" lIns="0" rIns="0" tIns="0" bIns="0" anchor="t">
            <a:spAutoFit/>
          </a:bodyPr>
          <a:lstStyle/>
          <a:p>
            <a:pPr algn="l"/>
            <a:r>
              <a:rPr sz="2000" b="1">
                <a:solidFill>
                  <a:srgbClr val="F8FAFC"/>
                </a:solidFill>
                <a:latin typeface="Inter"/>
              </a:rPr>
              <a:t>On-chain verify</a:t>
            </a:r>
          </a:p>
        </p:txBody>
      </p:sp>
      <p:sp>
        <p:nvSpPr>
          <p:cNvPr id="25" name="TextBox 24"/>
          <p:cNvSpPr txBox="1"/>
          <p:nvPr/>
        </p:nvSpPr>
        <p:spPr>
          <a:xfrm>
            <a:off x="7467447" y="5001768"/>
            <a:ext cx="3947007" cy="731520"/>
          </a:xfrm>
          <a:prstGeom prst="rect">
            <a:avLst/>
          </a:prstGeom>
          <a:noFill/>
        </p:spPr>
        <p:txBody>
          <a:bodyPr wrap="square" lIns="0" rIns="0" tIns="0" bIns="0" anchor="t">
            <a:spAutoFit/>
          </a:bodyPr>
          <a:lstStyle/>
          <a:p>
            <a:pPr algn="l"/>
            <a:r>
              <a:rPr sz="1300" b="0">
                <a:solidFill>
                  <a:srgbClr val="94A3B8"/>
                </a:solidFill>
                <a:latin typeface="Inter"/>
              </a:rPr>
              <a:t>≈250k gas. Solidity verifier auto-generated by Noir.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04  ·  STACK</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System architecture.</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6934009"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05 / 08</a:t>
            </a:r>
          </a:p>
        </p:txBody>
      </p:sp>
      <p:sp>
        <p:nvSpPr>
          <p:cNvPr id="10" name="Rounded Rectangle 9"/>
          <p:cNvSpPr/>
          <p:nvPr/>
        </p:nvSpPr>
        <p:spPr>
          <a:xfrm>
            <a:off x="54864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BRD</a:t>
            </a:r>
          </a:p>
        </p:txBody>
      </p:sp>
      <p:sp>
        <p:nvSpPr>
          <p:cNvPr id="12" name="TextBox 11"/>
          <p:cNvSpPr txBox="1"/>
          <p:nvPr/>
        </p:nvSpPr>
        <p:spPr>
          <a:xfrm>
            <a:off x="68580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Board</a:t>
            </a:r>
          </a:p>
        </p:txBody>
      </p:sp>
      <p:sp>
        <p:nvSpPr>
          <p:cNvPr id="13" name="TextBox 12"/>
          <p:cNvSpPr txBox="1"/>
          <p:nvPr/>
        </p:nvSpPr>
        <p:spPr>
          <a:xfrm>
            <a:off x="68580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private[100]</a:t>
            </a:r>
          </a:p>
        </p:txBody>
      </p:sp>
      <p:sp>
        <p:nvSpPr>
          <p:cNvPr id="14" name="Rounded Rectangle 13"/>
          <p:cNvSpPr/>
          <p:nvPr/>
        </p:nvSpPr>
        <p:spPr>
          <a:xfrm>
            <a:off x="242919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6635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PSD</a:t>
            </a:r>
          </a:p>
        </p:txBody>
      </p:sp>
      <p:sp>
        <p:nvSpPr>
          <p:cNvPr id="16" name="TextBox 15"/>
          <p:cNvSpPr txBox="1"/>
          <p:nvPr/>
        </p:nvSpPr>
        <p:spPr>
          <a:xfrm>
            <a:off x="256635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Poseidon</a:t>
            </a:r>
          </a:p>
        </p:txBody>
      </p:sp>
      <p:sp>
        <p:nvSpPr>
          <p:cNvPr id="17" name="TextBox 16"/>
          <p:cNvSpPr txBox="1"/>
          <p:nvPr/>
        </p:nvSpPr>
        <p:spPr>
          <a:xfrm>
            <a:off x="256635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hash → commit</a:t>
            </a:r>
          </a:p>
        </p:txBody>
      </p:sp>
      <p:sp>
        <p:nvSpPr>
          <p:cNvPr id="18" name="Rounded Rectangle 17"/>
          <p:cNvSpPr/>
          <p:nvPr/>
        </p:nvSpPr>
        <p:spPr>
          <a:xfrm>
            <a:off x="430975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4691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NOR</a:t>
            </a:r>
          </a:p>
        </p:txBody>
      </p:sp>
      <p:sp>
        <p:nvSpPr>
          <p:cNvPr id="20" name="TextBox 19"/>
          <p:cNvSpPr txBox="1"/>
          <p:nvPr/>
        </p:nvSpPr>
        <p:spPr>
          <a:xfrm>
            <a:off x="444691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Noir circuit</a:t>
            </a:r>
          </a:p>
        </p:txBody>
      </p:sp>
      <p:sp>
        <p:nvSpPr>
          <p:cNvPr id="21" name="TextBox 20"/>
          <p:cNvSpPr txBox="1"/>
          <p:nvPr/>
        </p:nvSpPr>
        <p:spPr>
          <a:xfrm>
            <a:off x="444691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board_validity</a:t>
            </a:r>
          </a:p>
        </p:txBody>
      </p:sp>
      <p:sp>
        <p:nvSpPr>
          <p:cNvPr id="22" name="Rounded Rectangle 21"/>
          <p:cNvSpPr/>
          <p:nvPr/>
        </p:nvSpPr>
        <p:spPr>
          <a:xfrm>
            <a:off x="619030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746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UPL</a:t>
            </a:r>
          </a:p>
        </p:txBody>
      </p:sp>
      <p:sp>
        <p:nvSpPr>
          <p:cNvPr id="24" name="TextBox 23"/>
          <p:cNvSpPr txBox="1"/>
          <p:nvPr/>
        </p:nvSpPr>
        <p:spPr>
          <a:xfrm>
            <a:off x="632746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UltraPlonk</a:t>
            </a:r>
          </a:p>
        </p:txBody>
      </p:sp>
      <p:sp>
        <p:nvSpPr>
          <p:cNvPr id="25" name="TextBox 24"/>
          <p:cNvSpPr txBox="1"/>
          <p:nvPr/>
        </p:nvSpPr>
        <p:spPr>
          <a:xfrm>
            <a:off x="632746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proof π</a:t>
            </a:r>
          </a:p>
        </p:txBody>
      </p:sp>
      <p:sp>
        <p:nvSpPr>
          <p:cNvPr id="26" name="Rounded Rectangle 25"/>
          <p:cNvSpPr/>
          <p:nvPr/>
        </p:nvSpPr>
        <p:spPr>
          <a:xfrm>
            <a:off x="8070860"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08020"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VER</a:t>
            </a:r>
          </a:p>
        </p:txBody>
      </p:sp>
      <p:sp>
        <p:nvSpPr>
          <p:cNvPr id="28" name="TextBox 27"/>
          <p:cNvSpPr txBox="1"/>
          <p:nvPr/>
        </p:nvSpPr>
        <p:spPr>
          <a:xfrm>
            <a:off x="8208020" y="2926080"/>
            <a:ext cx="1417320" cy="411480"/>
          </a:xfrm>
          <a:prstGeom prst="rect">
            <a:avLst/>
          </a:prstGeom>
          <a:noFill/>
        </p:spPr>
        <p:txBody>
          <a:bodyPr wrap="square" lIns="0" rIns="0" tIns="0" bIns="0" anchor="t">
            <a:spAutoFit/>
          </a:bodyPr>
          <a:lstStyle/>
          <a:p>
            <a:pPr algn="l"/>
            <a:r>
              <a:rPr sz="1500" b="1">
                <a:solidFill>
                  <a:srgbClr val="F8FAFC"/>
                </a:solidFill>
                <a:latin typeface="Inter"/>
              </a:rPr>
              <a:t>Verifier</a:t>
            </a:r>
          </a:p>
        </p:txBody>
      </p:sp>
      <p:sp>
        <p:nvSpPr>
          <p:cNvPr id="29" name="TextBox 28"/>
          <p:cNvSpPr txBox="1"/>
          <p:nvPr/>
        </p:nvSpPr>
        <p:spPr>
          <a:xfrm>
            <a:off x="8208020"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HonkVerifier.sol</a:t>
            </a:r>
          </a:p>
        </p:txBody>
      </p:sp>
      <p:sp>
        <p:nvSpPr>
          <p:cNvPr id="30" name="Rounded Rectangle 29"/>
          <p:cNvSpPr/>
          <p:nvPr/>
        </p:nvSpPr>
        <p:spPr>
          <a:xfrm>
            <a:off x="9951415" y="2514600"/>
            <a:ext cx="1691640" cy="1280160"/>
          </a:xfrm>
          <a:prstGeom prst="roundRect">
            <a:avLst>
              <a:gd name="adj" fmla="val 22000"/>
            </a:avLst>
          </a:prstGeom>
          <a:solidFill>
            <a:srgbClr val="1B2942"/>
          </a:solidFill>
          <a:ln w="12700">
            <a:solidFill>
              <a:srgbClr val="27344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88575" y="2606040"/>
            <a:ext cx="1097280" cy="320040"/>
          </a:xfrm>
          <a:prstGeom prst="rect">
            <a:avLst/>
          </a:prstGeom>
          <a:noFill/>
        </p:spPr>
        <p:txBody>
          <a:bodyPr wrap="square" lIns="0" rIns="0" tIns="0" bIns="0" anchor="t">
            <a:spAutoFit/>
          </a:bodyPr>
          <a:lstStyle/>
          <a:p>
            <a:pPr algn="l"/>
            <a:r>
              <a:rPr sz="1100" b="1" spc="150">
                <a:solidFill>
                  <a:srgbClr val="F97316"/>
                </a:solidFill>
                <a:latin typeface="JetBrains Mono"/>
              </a:rPr>
              <a:t>GME</a:t>
            </a:r>
          </a:p>
        </p:txBody>
      </p:sp>
      <p:sp>
        <p:nvSpPr>
          <p:cNvPr id="32" name="TextBox 31"/>
          <p:cNvSpPr txBox="1"/>
          <p:nvPr/>
        </p:nvSpPr>
        <p:spPr>
          <a:xfrm>
            <a:off x="10088575" y="2926080"/>
            <a:ext cx="1417320" cy="411480"/>
          </a:xfrm>
          <a:prstGeom prst="rect">
            <a:avLst/>
          </a:prstGeom>
          <a:noFill/>
        </p:spPr>
        <p:txBody>
          <a:bodyPr wrap="square" lIns="0" rIns="0" tIns="0" bIns="0" anchor="t">
            <a:spAutoFit/>
          </a:bodyPr>
          <a:lstStyle/>
          <a:p>
            <a:pPr algn="l"/>
            <a:r>
              <a:rPr sz="1500" b="1">
                <a:solidFill>
                  <a:srgbClr val="F8FAFC"/>
                </a:solidFill>
                <a:latin typeface="Inter"/>
              </a:rPr>
              <a:t>BattleshipGame</a:t>
            </a:r>
          </a:p>
        </p:txBody>
      </p:sp>
      <p:sp>
        <p:nvSpPr>
          <p:cNvPr id="33" name="TextBox 32"/>
          <p:cNvSpPr txBox="1"/>
          <p:nvPr/>
        </p:nvSpPr>
        <p:spPr>
          <a:xfrm>
            <a:off x="10088575" y="3355848"/>
            <a:ext cx="1417320" cy="320040"/>
          </a:xfrm>
          <a:prstGeom prst="rect">
            <a:avLst/>
          </a:prstGeom>
          <a:noFill/>
        </p:spPr>
        <p:txBody>
          <a:bodyPr wrap="square" lIns="0" rIns="0" tIns="0" bIns="0" anchor="t">
            <a:spAutoFit/>
          </a:bodyPr>
          <a:lstStyle/>
          <a:p>
            <a:pPr algn="l"/>
            <a:r>
              <a:rPr sz="900" b="0">
                <a:solidFill>
                  <a:srgbClr val="94A3B8"/>
                </a:solidFill>
                <a:latin typeface="JetBrains Mono"/>
              </a:rPr>
              <a:t>settle on-chain</a:t>
            </a:r>
          </a:p>
        </p:txBody>
      </p:sp>
      <p:cxnSp>
        <p:nvCxnSpPr>
          <p:cNvPr id="34" name="Connector 33"/>
          <p:cNvCxnSpPr/>
          <p:nvPr/>
        </p:nvCxnSpPr>
        <p:spPr>
          <a:xfrm>
            <a:off x="226028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40835.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02139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901945.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782500.0" y="3154680"/>
            <a:ext cx="148915.0" cy="0"/>
          </a:xfrm>
          <a:prstGeom prst="bentConnector3">
            <a:avLst/>
          </a:prstGeom>
          <a:ln w="22225">
            <a:solidFill>
              <a:srgbClr val="F97316"/>
            </a:solidFill>
            <a:tailEnd type="triangle" w="med" h="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4206240"/>
            <a:ext cx="11094415" cy="320040"/>
          </a:xfrm>
          <a:prstGeom prst="rect">
            <a:avLst/>
          </a:prstGeom>
          <a:noFill/>
        </p:spPr>
        <p:txBody>
          <a:bodyPr wrap="square" lIns="0" rIns="0" tIns="0" bIns="0" anchor="t">
            <a:spAutoFit/>
          </a:bodyPr>
          <a:lstStyle/>
          <a:p>
            <a:pPr algn="ctr"/>
            <a:r>
              <a:rPr sz="1000" b="1" spc="250">
                <a:solidFill>
                  <a:srgbClr val="94A3B8"/>
                </a:solidFill>
                <a:latin typeface="Inter"/>
              </a:rPr>
              <a:t>BROWSER  →  WASM PROVER  →  NOIR  →  BACKEND  →  CHAIN</a:t>
            </a:r>
          </a:p>
        </p:txBody>
      </p:sp>
      <p:sp>
        <p:nvSpPr>
          <p:cNvPr id="40" name="TextBox 39"/>
          <p:cNvSpPr txBox="1"/>
          <p:nvPr/>
        </p:nvSpPr>
        <p:spPr>
          <a:xfrm>
            <a:off x="548640" y="5074920"/>
            <a:ext cx="274320" cy="320040"/>
          </a:xfrm>
          <a:prstGeom prst="rect">
            <a:avLst/>
          </a:prstGeom>
          <a:noFill/>
        </p:spPr>
        <p:txBody>
          <a:bodyPr wrap="square" lIns="0" rIns="0" tIns="0" bIns="0" anchor="t">
            <a:spAutoFit/>
          </a:bodyPr>
          <a:lstStyle/>
          <a:p>
            <a:pPr algn="l"/>
            <a:r>
              <a:rPr sz="1400" b="1">
                <a:solidFill>
                  <a:srgbClr val="38BDF8"/>
                </a:solidFill>
                <a:latin typeface="Inter"/>
              </a:rPr>
              <a:t>●</a:t>
            </a:r>
          </a:p>
        </p:txBody>
      </p:sp>
      <p:sp>
        <p:nvSpPr>
          <p:cNvPr id="41" name="TextBox 40"/>
          <p:cNvSpPr txBox="1"/>
          <p:nvPr/>
        </p:nvSpPr>
        <p:spPr>
          <a:xfrm>
            <a:off x="822960" y="5056632"/>
            <a:ext cx="3423818" cy="365760"/>
          </a:xfrm>
          <a:prstGeom prst="rect">
            <a:avLst/>
          </a:prstGeom>
          <a:noFill/>
        </p:spPr>
        <p:txBody>
          <a:bodyPr wrap="square" lIns="0" rIns="0" tIns="0" bIns="0" anchor="t">
            <a:spAutoFit/>
          </a:bodyPr>
          <a:lstStyle/>
          <a:p>
            <a:pPr algn="l"/>
            <a:r>
              <a:rPr sz="1400" b="0">
                <a:solidFill>
                  <a:srgbClr val="F8FAFC"/>
                </a:solidFill>
                <a:latin typeface="Inter"/>
              </a:rPr>
              <a:t>Browser proves, chain verifies</a:t>
            </a:r>
          </a:p>
        </p:txBody>
      </p:sp>
      <p:sp>
        <p:nvSpPr>
          <p:cNvPr id="42" name="TextBox 41"/>
          <p:cNvSpPr txBox="1"/>
          <p:nvPr/>
        </p:nvSpPr>
        <p:spPr>
          <a:xfrm>
            <a:off x="4246778" y="5074920"/>
            <a:ext cx="274320" cy="320040"/>
          </a:xfrm>
          <a:prstGeom prst="rect">
            <a:avLst/>
          </a:prstGeom>
          <a:noFill/>
        </p:spPr>
        <p:txBody>
          <a:bodyPr wrap="square" lIns="0" rIns="0" tIns="0" bIns="0" anchor="t">
            <a:spAutoFit/>
          </a:bodyPr>
          <a:lstStyle/>
          <a:p>
            <a:pPr algn="l"/>
            <a:r>
              <a:rPr sz="1400" b="1">
                <a:solidFill>
                  <a:srgbClr val="F97316"/>
                </a:solidFill>
                <a:latin typeface="Inter"/>
              </a:rPr>
              <a:t>●</a:t>
            </a:r>
          </a:p>
        </p:txBody>
      </p:sp>
      <p:sp>
        <p:nvSpPr>
          <p:cNvPr id="43" name="TextBox 42"/>
          <p:cNvSpPr txBox="1"/>
          <p:nvPr/>
        </p:nvSpPr>
        <p:spPr>
          <a:xfrm>
            <a:off x="4521098" y="5056632"/>
            <a:ext cx="3423818" cy="365760"/>
          </a:xfrm>
          <a:prstGeom prst="rect">
            <a:avLst/>
          </a:prstGeom>
          <a:noFill/>
        </p:spPr>
        <p:txBody>
          <a:bodyPr wrap="square" lIns="0" rIns="0" tIns="0" bIns="0" anchor="t">
            <a:spAutoFit/>
          </a:bodyPr>
          <a:lstStyle/>
          <a:p>
            <a:pPr algn="l"/>
            <a:r>
              <a:rPr sz="1400" b="0">
                <a:solidFill>
                  <a:srgbClr val="F8FAFC"/>
                </a:solidFill>
                <a:latin typeface="Inter"/>
              </a:rPr>
              <a:t>Burner wallets, zero popups</a:t>
            </a:r>
          </a:p>
        </p:txBody>
      </p:sp>
      <p:sp>
        <p:nvSpPr>
          <p:cNvPr id="44" name="TextBox 43"/>
          <p:cNvSpPr txBox="1"/>
          <p:nvPr/>
        </p:nvSpPr>
        <p:spPr>
          <a:xfrm>
            <a:off x="7944916" y="5074920"/>
            <a:ext cx="274320" cy="320040"/>
          </a:xfrm>
          <a:prstGeom prst="rect">
            <a:avLst/>
          </a:prstGeom>
          <a:noFill/>
        </p:spPr>
        <p:txBody>
          <a:bodyPr wrap="square" lIns="0" rIns="0" tIns="0" bIns="0" anchor="t">
            <a:spAutoFit/>
          </a:bodyPr>
          <a:lstStyle/>
          <a:p>
            <a:pPr algn="l"/>
            <a:r>
              <a:rPr sz="1400" b="1">
                <a:solidFill>
                  <a:srgbClr val="4ADE80"/>
                </a:solidFill>
                <a:latin typeface="Inter"/>
              </a:rPr>
              <a:t>●</a:t>
            </a:r>
          </a:p>
        </p:txBody>
      </p:sp>
      <p:sp>
        <p:nvSpPr>
          <p:cNvPr id="45" name="TextBox 44"/>
          <p:cNvSpPr txBox="1"/>
          <p:nvPr/>
        </p:nvSpPr>
        <p:spPr>
          <a:xfrm>
            <a:off x="8219236" y="5056632"/>
            <a:ext cx="3423818" cy="365760"/>
          </a:xfrm>
          <a:prstGeom prst="rect">
            <a:avLst/>
          </a:prstGeom>
          <a:noFill/>
        </p:spPr>
        <p:txBody>
          <a:bodyPr wrap="square" lIns="0" rIns="0" tIns="0" bIns="0" anchor="t">
            <a:spAutoFit/>
          </a:bodyPr>
          <a:lstStyle/>
          <a:p>
            <a:pPr algn="l"/>
            <a:r>
              <a:rPr sz="1400" b="0">
                <a:solidFill>
                  <a:srgbClr val="F8FAFC"/>
                </a:solidFill>
                <a:latin typeface="Inter"/>
              </a:rPr>
              <a:t>Local Anvil for instant demo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50">
                <a:solidFill>
                  <a:srgbClr val="38BDF8"/>
                </a:solidFill>
                <a:latin typeface="Inter"/>
              </a:rPr>
              <a:t>05  ·  SWITCH TO THE BROWSER</a:t>
            </a:r>
          </a:p>
        </p:txBody>
      </p:sp>
      <p:sp>
        <p:nvSpPr>
          <p:cNvPr id="4" name="TextBox 3"/>
          <p:cNvSpPr txBox="1"/>
          <p:nvPr/>
        </p:nvSpPr>
        <p:spPr>
          <a:xfrm>
            <a:off x="0" y="2057400"/>
            <a:ext cx="12191695" cy="2103120"/>
          </a:xfrm>
          <a:prstGeom prst="rect">
            <a:avLst/>
          </a:prstGeom>
          <a:noFill/>
        </p:spPr>
        <p:txBody>
          <a:bodyPr wrap="square" lIns="0" rIns="0" tIns="0" bIns="0" anchor="t">
            <a:spAutoFit/>
          </a:bodyPr>
          <a:lstStyle/>
          <a:p>
            <a:pPr algn="ctr"/>
            <a:r>
              <a:rPr sz="9600" b="1">
                <a:solidFill>
                  <a:srgbClr val="F97316"/>
                </a:solidFill>
                <a:latin typeface="Inter"/>
              </a:rPr>
              <a:t>▶  LIVE DEMO</a:t>
            </a:r>
          </a:p>
        </p:txBody>
      </p:sp>
      <p:sp>
        <p:nvSpPr>
          <p:cNvPr id="5" name="TextBox 4"/>
          <p:cNvSpPr txBox="1"/>
          <p:nvPr/>
        </p:nvSpPr>
        <p:spPr>
          <a:xfrm>
            <a:off x="0" y="4251960"/>
            <a:ext cx="12191695" cy="502920"/>
          </a:xfrm>
          <a:prstGeom prst="rect">
            <a:avLst/>
          </a:prstGeom>
          <a:noFill/>
        </p:spPr>
        <p:txBody>
          <a:bodyPr wrap="square" lIns="0" rIns="0" tIns="0" bIns="0" anchor="t">
            <a:spAutoFit/>
          </a:bodyPr>
          <a:lstStyle/>
          <a:p>
            <a:pPr algn="ctr"/>
            <a:r>
              <a:rPr sz="2000" b="0">
                <a:solidFill>
                  <a:srgbClr val="F8FAFC"/>
                </a:solidFill>
                <a:latin typeface="JetBrains Mono"/>
              </a:rPr>
              <a:t>http://localhost:5173</a:t>
            </a:r>
          </a:p>
        </p:txBody>
      </p:sp>
      <p:sp>
        <p:nvSpPr>
          <p:cNvPr id="6" name="TextBox 5"/>
          <p:cNvSpPr txBox="1"/>
          <p:nvPr/>
        </p:nvSpPr>
        <p:spPr>
          <a:xfrm>
            <a:off x="0" y="4709160"/>
            <a:ext cx="12191695" cy="411480"/>
          </a:xfrm>
          <a:prstGeom prst="rect">
            <a:avLst/>
          </a:prstGeom>
          <a:noFill/>
        </p:spPr>
        <p:txBody>
          <a:bodyPr wrap="square" lIns="0" rIns="0" tIns="0" bIns="0" anchor="t">
            <a:spAutoFit/>
          </a:bodyPr>
          <a:lstStyle/>
          <a:p>
            <a:pPr algn="ctr"/>
            <a:r>
              <a:rPr sz="1400" b="0" spc="150">
                <a:solidFill>
                  <a:srgbClr val="94A3B8"/>
                </a:solidFill>
                <a:latin typeface="Inter"/>
              </a:rPr>
              <a:t>two burner wallets  ·  one laptop  ·  zero trust</a:t>
            </a:r>
          </a:p>
        </p:txBody>
      </p:sp>
      <p:sp>
        <p:nvSpPr>
          <p:cNvPr id="7" name="TextBox 6"/>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8" name="Rectangle 7"/>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6720840"/>
            <a:ext cx="8320811"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06 / 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06  ·  RECAP</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What was proven.</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9707613"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07 / 08</a:t>
            </a:r>
          </a:p>
        </p:txBody>
      </p:sp>
      <p:sp>
        <p:nvSpPr>
          <p:cNvPr id="10" name="Oval 9"/>
          <p:cNvSpPr/>
          <p:nvPr/>
        </p:nvSpPr>
        <p:spPr>
          <a:xfrm>
            <a:off x="548640" y="239572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450592"/>
            <a:ext cx="640080" cy="548640"/>
          </a:xfrm>
          <a:prstGeom prst="rect">
            <a:avLst/>
          </a:prstGeom>
          <a:noFill/>
        </p:spPr>
        <p:txBody>
          <a:bodyPr wrap="square" lIns="0" rIns="0" tIns="0" bIns="0" anchor="t">
            <a:spAutoFit/>
          </a:bodyPr>
          <a:lstStyle/>
          <a:p>
            <a:pPr algn="ctr"/>
            <a:r>
              <a:rPr sz="2400" b="1">
                <a:solidFill>
                  <a:srgbClr val="0A0F1A"/>
                </a:solidFill>
                <a:latin typeface="Inter"/>
              </a:rPr>
              <a:t>1</a:t>
            </a:r>
          </a:p>
        </p:txBody>
      </p:sp>
      <p:sp>
        <p:nvSpPr>
          <p:cNvPr id="12" name="TextBox 11"/>
          <p:cNvSpPr txBox="1"/>
          <p:nvPr/>
        </p:nvSpPr>
        <p:spPr>
          <a:xfrm>
            <a:off x="1463040" y="2395728"/>
            <a:ext cx="5029200" cy="457200"/>
          </a:xfrm>
          <a:prstGeom prst="rect">
            <a:avLst/>
          </a:prstGeom>
          <a:noFill/>
        </p:spPr>
        <p:txBody>
          <a:bodyPr wrap="square" lIns="0" rIns="0" tIns="0" bIns="0" anchor="t">
            <a:spAutoFit/>
          </a:bodyPr>
          <a:lstStyle/>
          <a:p>
            <a:pPr algn="l"/>
            <a:r>
              <a:rPr sz="2200" b="1">
                <a:solidFill>
                  <a:srgbClr val="F8FAFC"/>
                </a:solidFill>
                <a:latin typeface="Inter"/>
              </a:rPr>
              <a:t>Board legality</a:t>
            </a:r>
          </a:p>
        </p:txBody>
      </p:sp>
      <p:sp>
        <p:nvSpPr>
          <p:cNvPr id="13" name="TextBox 12"/>
          <p:cNvSpPr txBox="1"/>
          <p:nvPr/>
        </p:nvSpPr>
        <p:spPr>
          <a:xfrm>
            <a:off x="1463040" y="2788920"/>
            <a:ext cx="9601200" cy="365760"/>
          </a:xfrm>
          <a:prstGeom prst="rect">
            <a:avLst/>
          </a:prstGeom>
          <a:noFill/>
        </p:spPr>
        <p:txBody>
          <a:bodyPr wrap="square" lIns="0" rIns="0" tIns="0" bIns="0" anchor="t">
            <a:spAutoFit/>
          </a:bodyPr>
          <a:lstStyle/>
          <a:p>
            <a:pPr algn="l"/>
            <a:r>
              <a:rPr sz="1400" b="0">
                <a:solidFill>
                  <a:srgbClr val="94A3B8"/>
                </a:solidFill>
                <a:latin typeface="Inter"/>
              </a:rPr>
              <a:t>Before a single shot is fired.</a:t>
            </a:r>
          </a:p>
        </p:txBody>
      </p:sp>
      <p:sp>
        <p:nvSpPr>
          <p:cNvPr id="14" name="Oval 13"/>
          <p:cNvSpPr/>
          <p:nvPr/>
        </p:nvSpPr>
        <p:spPr>
          <a:xfrm>
            <a:off x="548640" y="326440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319272"/>
            <a:ext cx="640080" cy="548640"/>
          </a:xfrm>
          <a:prstGeom prst="rect">
            <a:avLst/>
          </a:prstGeom>
          <a:noFill/>
        </p:spPr>
        <p:txBody>
          <a:bodyPr wrap="square" lIns="0" rIns="0" tIns="0" bIns="0" anchor="t">
            <a:spAutoFit/>
          </a:bodyPr>
          <a:lstStyle/>
          <a:p>
            <a:pPr algn="ctr"/>
            <a:r>
              <a:rPr sz="2400" b="1">
                <a:solidFill>
                  <a:srgbClr val="0A0F1A"/>
                </a:solidFill>
                <a:latin typeface="Inter"/>
              </a:rPr>
              <a:t>2</a:t>
            </a:r>
          </a:p>
        </p:txBody>
      </p:sp>
      <p:sp>
        <p:nvSpPr>
          <p:cNvPr id="16" name="TextBox 15"/>
          <p:cNvSpPr txBox="1"/>
          <p:nvPr/>
        </p:nvSpPr>
        <p:spPr>
          <a:xfrm>
            <a:off x="1463040" y="3264408"/>
            <a:ext cx="5029200" cy="457200"/>
          </a:xfrm>
          <a:prstGeom prst="rect">
            <a:avLst/>
          </a:prstGeom>
          <a:noFill/>
        </p:spPr>
        <p:txBody>
          <a:bodyPr wrap="square" lIns="0" rIns="0" tIns="0" bIns="0" anchor="t">
            <a:spAutoFit/>
          </a:bodyPr>
          <a:lstStyle/>
          <a:p>
            <a:pPr algn="l"/>
            <a:r>
              <a:rPr sz="2200" b="1">
                <a:solidFill>
                  <a:srgbClr val="F8FAFC"/>
                </a:solidFill>
                <a:latin typeface="Inter"/>
              </a:rPr>
              <a:t>Every shot response</a:t>
            </a:r>
          </a:p>
        </p:txBody>
      </p:sp>
      <p:sp>
        <p:nvSpPr>
          <p:cNvPr id="17" name="TextBox 16"/>
          <p:cNvSpPr txBox="1"/>
          <p:nvPr/>
        </p:nvSpPr>
        <p:spPr>
          <a:xfrm>
            <a:off x="1463040" y="3657600"/>
            <a:ext cx="9601200" cy="365760"/>
          </a:xfrm>
          <a:prstGeom prst="rect">
            <a:avLst/>
          </a:prstGeom>
          <a:noFill/>
        </p:spPr>
        <p:txBody>
          <a:bodyPr wrap="square" lIns="0" rIns="0" tIns="0" bIns="0" anchor="t">
            <a:spAutoFit/>
          </a:bodyPr>
          <a:lstStyle/>
          <a:p>
            <a:pPr algn="l"/>
            <a:r>
              <a:rPr sz="1400" b="0">
                <a:solidFill>
                  <a:srgbClr val="94A3B8"/>
                </a:solidFill>
                <a:latin typeface="Inter"/>
              </a:rPr>
              <a:t>Hit or miss, without revealing the board.</a:t>
            </a:r>
          </a:p>
        </p:txBody>
      </p:sp>
      <p:sp>
        <p:nvSpPr>
          <p:cNvPr id="18" name="Oval 17"/>
          <p:cNvSpPr/>
          <p:nvPr/>
        </p:nvSpPr>
        <p:spPr>
          <a:xfrm>
            <a:off x="548640" y="413308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187952"/>
            <a:ext cx="640080" cy="548640"/>
          </a:xfrm>
          <a:prstGeom prst="rect">
            <a:avLst/>
          </a:prstGeom>
          <a:noFill/>
        </p:spPr>
        <p:txBody>
          <a:bodyPr wrap="square" lIns="0" rIns="0" tIns="0" bIns="0" anchor="t">
            <a:spAutoFit/>
          </a:bodyPr>
          <a:lstStyle/>
          <a:p>
            <a:pPr algn="ctr"/>
            <a:r>
              <a:rPr sz="2400" b="1">
                <a:solidFill>
                  <a:srgbClr val="0A0F1A"/>
                </a:solidFill>
                <a:latin typeface="Inter"/>
              </a:rPr>
              <a:t>3</a:t>
            </a:r>
          </a:p>
        </p:txBody>
      </p:sp>
      <p:sp>
        <p:nvSpPr>
          <p:cNvPr id="20" name="TextBox 19"/>
          <p:cNvSpPr txBox="1"/>
          <p:nvPr/>
        </p:nvSpPr>
        <p:spPr>
          <a:xfrm>
            <a:off x="1463040" y="4133088"/>
            <a:ext cx="5029200" cy="457200"/>
          </a:xfrm>
          <a:prstGeom prst="rect">
            <a:avLst/>
          </a:prstGeom>
          <a:noFill/>
        </p:spPr>
        <p:txBody>
          <a:bodyPr wrap="square" lIns="0" rIns="0" tIns="0" bIns="0" anchor="t">
            <a:spAutoFit/>
          </a:bodyPr>
          <a:lstStyle/>
          <a:p>
            <a:pPr algn="l"/>
            <a:r>
              <a:rPr sz="2200" b="1">
                <a:solidFill>
                  <a:srgbClr val="F8FAFC"/>
                </a:solidFill>
                <a:latin typeface="Inter"/>
              </a:rPr>
              <a:t>Zero opponent trust</a:t>
            </a:r>
          </a:p>
        </p:txBody>
      </p:sp>
      <p:sp>
        <p:nvSpPr>
          <p:cNvPr id="21" name="TextBox 20"/>
          <p:cNvSpPr txBox="1"/>
          <p:nvPr/>
        </p:nvSpPr>
        <p:spPr>
          <a:xfrm>
            <a:off x="1463040" y="4526280"/>
            <a:ext cx="9601200" cy="365760"/>
          </a:xfrm>
          <a:prstGeom prst="rect">
            <a:avLst/>
          </a:prstGeom>
          <a:noFill/>
        </p:spPr>
        <p:txBody>
          <a:bodyPr wrap="square" lIns="0" rIns="0" tIns="0" bIns="0" anchor="t">
            <a:spAutoFit/>
          </a:bodyPr>
          <a:lstStyle/>
          <a:p>
            <a:pPr algn="l"/>
            <a:r>
              <a:rPr sz="1400" b="0">
                <a:solidFill>
                  <a:srgbClr val="94A3B8"/>
                </a:solidFill>
                <a:latin typeface="Inter"/>
              </a:rPr>
              <a:t>No claim is taken at face value.</a:t>
            </a:r>
          </a:p>
        </p:txBody>
      </p:sp>
      <p:sp>
        <p:nvSpPr>
          <p:cNvPr id="22" name="Oval 21"/>
          <p:cNvSpPr/>
          <p:nvPr/>
        </p:nvSpPr>
        <p:spPr>
          <a:xfrm>
            <a:off x="548640" y="5001768"/>
            <a:ext cx="640080" cy="640080"/>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56632"/>
            <a:ext cx="640080" cy="548640"/>
          </a:xfrm>
          <a:prstGeom prst="rect">
            <a:avLst/>
          </a:prstGeom>
          <a:noFill/>
        </p:spPr>
        <p:txBody>
          <a:bodyPr wrap="square" lIns="0" rIns="0" tIns="0" bIns="0" anchor="t">
            <a:spAutoFit/>
          </a:bodyPr>
          <a:lstStyle/>
          <a:p>
            <a:pPr algn="ctr"/>
            <a:r>
              <a:rPr sz="2400" b="1">
                <a:solidFill>
                  <a:srgbClr val="0A0F1A"/>
                </a:solidFill>
                <a:latin typeface="Inter"/>
              </a:rPr>
              <a:t>4</a:t>
            </a:r>
          </a:p>
        </p:txBody>
      </p:sp>
      <p:sp>
        <p:nvSpPr>
          <p:cNvPr id="24" name="TextBox 23"/>
          <p:cNvSpPr txBox="1"/>
          <p:nvPr/>
        </p:nvSpPr>
        <p:spPr>
          <a:xfrm>
            <a:off x="1463040" y="5001768"/>
            <a:ext cx="5029200" cy="457200"/>
          </a:xfrm>
          <a:prstGeom prst="rect">
            <a:avLst/>
          </a:prstGeom>
          <a:noFill/>
        </p:spPr>
        <p:txBody>
          <a:bodyPr wrap="square" lIns="0" rIns="0" tIns="0" bIns="0" anchor="t">
            <a:spAutoFit/>
          </a:bodyPr>
          <a:lstStyle/>
          <a:p>
            <a:pPr algn="l"/>
            <a:r>
              <a:rPr sz="2200" b="1">
                <a:solidFill>
                  <a:srgbClr val="F8FAFC"/>
                </a:solidFill>
                <a:latin typeface="Inter"/>
              </a:rPr>
              <a:t>Zero trusted setup</a:t>
            </a:r>
          </a:p>
        </p:txBody>
      </p:sp>
      <p:sp>
        <p:nvSpPr>
          <p:cNvPr id="25" name="TextBox 24"/>
          <p:cNvSpPr txBox="1"/>
          <p:nvPr/>
        </p:nvSpPr>
        <p:spPr>
          <a:xfrm>
            <a:off x="1463040" y="5394960"/>
            <a:ext cx="9601200" cy="365760"/>
          </a:xfrm>
          <a:prstGeom prst="rect">
            <a:avLst/>
          </a:prstGeom>
          <a:noFill/>
        </p:spPr>
        <p:txBody>
          <a:bodyPr wrap="square" lIns="0" rIns="0" tIns="0" bIns="0" anchor="t">
            <a:spAutoFit/>
          </a:bodyPr>
          <a:lstStyle/>
          <a:p>
            <a:pPr algn="l"/>
            <a:r>
              <a:rPr sz="1400" b="0">
                <a:solidFill>
                  <a:srgbClr val="94A3B8"/>
                </a:solidFill>
                <a:latin typeface="Inter"/>
              </a:rPr>
              <a:t>No ceremony, no toxic waste.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F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822960"/>
            <a:ext cx="10972800" cy="320040"/>
          </a:xfrm>
          <a:prstGeom prst="rect">
            <a:avLst/>
          </a:prstGeom>
          <a:noFill/>
        </p:spPr>
        <p:txBody>
          <a:bodyPr wrap="square" lIns="0" rIns="0" tIns="0" bIns="0" anchor="t">
            <a:spAutoFit/>
          </a:bodyPr>
          <a:lstStyle/>
          <a:p>
            <a:pPr algn="l"/>
            <a:r>
              <a:rPr sz="1100" b="1" spc="300">
                <a:solidFill>
                  <a:srgbClr val="38BDF8"/>
                </a:solidFill>
                <a:latin typeface="Inter"/>
              </a:rPr>
              <a:t>07  ·  ROADMAP</a:t>
            </a:r>
          </a:p>
        </p:txBody>
      </p:sp>
      <p:sp>
        <p:nvSpPr>
          <p:cNvPr id="4" name="TextBox 3"/>
          <p:cNvSpPr txBox="1"/>
          <p:nvPr/>
        </p:nvSpPr>
        <p:spPr>
          <a:xfrm>
            <a:off x="548640" y="1143000"/>
            <a:ext cx="10972800" cy="822960"/>
          </a:xfrm>
          <a:prstGeom prst="rect">
            <a:avLst/>
          </a:prstGeom>
          <a:noFill/>
        </p:spPr>
        <p:txBody>
          <a:bodyPr wrap="square" lIns="0" rIns="0" tIns="0" bIns="0" anchor="t">
            <a:spAutoFit/>
          </a:bodyPr>
          <a:lstStyle/>
          <a:p>
            <a:pPr algn="l"/>
            <a:r>
              <a:rPr sz="3600" b="1">
                <a:solidFill>
                  <a:srgbClr val="F8FAFC"/>
                </a:solidFill>
                <a:latin typeface="Inter"/>
              </a:rPr>
              <a:t>What's next.</a:t>
            </a:r>
          </a:p>
        </p:txBody>
      </p:sp>
      <p:sp>
        <p:nvSpPr>
          <p:cNvPr id="5" name="Rectangle 4"/>
          <p:cNvSpPr/>
          <p:nvPr/>
        </p:nvSpPr>
        <p:spPr>
          <a:xfrm>
            <a:off x="548640" y="1920240"/>
            <a:ext cx="1005840"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2743200" cy="274320"/>
          </a:xfrm>
          <a:prstGeom prst="rect">
            <a:avLst/>
          </a:prstGeom>
          <a:noFill/>
        </p:spPr>
        <p:txBody>
          <a:bodyPr wrap="none" lIns="0" rIns="0" tIns="0" bIns="0">
            <a:spAutoFit/>
          </a:bodyPr>
          <a:lstStyle/>
          <a:p>
            <a:r>
              <a:rPr sz="1000" b="0">
                <a:solidFill>
                  <a:srgbClr val="94A3B8"/>
                </a:solidFill>
                <a:latin typeface="JetBrains Mono"/>
              </a:rPr>
              <a:t>battleship</a:t>
            </a:r>
            <a:r>
              <a:rPr sz="1000" b="1">
                <a:solidFill>
                  <a:srgbClr val="F97316"/>
                </a:solidFill>
                <a:latin typeface="JetBrains Mono"/>
              </a:rPr>
              <a:t>.zk</a:t>
            </a:r>
          </a:p>
        </p:txBody>
      </p:sp>
      <p:sp>
        <p:nvSpPr>
          <p:cNvPr id="7" name="Rectangle 6"/>
          <p:cNvSpPr/>
          <p:nvPr/>
        </p:nvSpPr>
        <p:spPr>
          <a:xfrm>
            <a:off x="548640" y="6720840"/>
            <a:ext cx="11094415" cy="3810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6720840"/>
            <a:ext cx="11094415" cy="381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5775" y="6400800"/>
            <a:ext cx="1097280" cy="274320"/>
          </a:xfrm>
          <a:prstGeom prst="rect">
            <a:avLst/>
          </a:prstGeom>
          <a:noFill/>
        </p:spPr>
        <p:txBody>
          <a:bodyPr wrap="square" lIns="0" rIns="0" tIns="0" bIns="0" anchor="t">
            <a:spAutoFit/>
          </a:bodyPr>
          <a:lstStyle/>
          <a:p>
            <a:pPr algn="r"/>
            <a:r>
              <a:rPr sz="1000" b="0">
                <a:solidFill>
                  <a:srgbClr val="94A3B8"/>
                </a:solidFill>
                <a:latin typeface="JetBrains Mono"/>
              </a:rPr>
              <a:t>08 / 08</a:t>
            </a:r>
          </a:p>
        </p:txBody>
      </p:sp>
      <p:sp>
        <p:nvSpPr>
          <p:cNvPr id="10" name="TextBox 9"/>
          <p:cNvSpPr txBox="1"/>
          <p:nvPr/>
        </p:nvSpPr>
        <p:spPr>
          <a:xfrm>
            <a:off x="548640" y="233172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01</a:t>
            </a:r>
          </a:p>
        </p:txBody>
      </p:sp>
      <p:sp>
        <p:nvSpPr>
          <p:cNvPr id="11" name="TextBox 10"/>
          <p:cNvSpPr txBox="1"/>
          <p:nvPr/>
        </p:nvSpPr>
        <p:spPr>
          <a:xfrm>
            <a:off x="1188720" y="2304288"/>
            <a:ext cx="5394960" cy="411480"/>
          </a:xfrm>
          <a:prstGeom prst="rect">
            <a:avLst/>
          </a:prstGeom>
          <a:noFill/>
        </p:spPr>
        <p:txBody>
          <a:bodyPr wrap="square" lIns="0" rIns="0" tIns="0" bIns="0" anchor="t">
            <a:spAutoFit/>
          </a:bodyPr>
          <a:lstStyle/>
          <a:p>
            <a:pPr algn="l"/>
            <a:r>
              <a:rPr sz="1800" b="1">
                <a:solidFill>
                  <a:srgbClr val="F8FAFC"/>
                </a:solidFill>
                <a:latin typeface="Inter"/>
              </a:rPr>
              <a:t>Mainnet deployment path</a:t>
            </a:r>
          </a:p>
        </p:txBody>
      </p:sp>
      <p:sp>
        <p:nvSpPr>
          <p:cNvPr id="12" name="TextBox 11"/>
          <p:cNvSpPr txBox="1"/>
          <p:nvPr/>
        </p:nvSpPr>
        <p:spPr>
          <a:xfrm>
            <a:off x="1188720" y="2679192"/>
            <a:ext cx="5394960" cy="365760"/>
          </a:xfrm>
          <a:prstGeom prst="rect">
            <a:avLst/>
          </a:prstGeom>
          <a:noFill/>
        </p:spPr>
        <p:txBody>
          <a:bodyPr wrap="square" lIns="0" rIns="0" tIns="0" bIns="0" anchor="t">
            <a:spAutoFit/>
          </a:bodyPr>
          <a:lstStyle/>
          <a:p>
            <a:pPr algn="l"/>
            <a:r>
              <a:rPr sz="1200" b="0">
                <a:solidFill>
                  <a:srgbClr val="94A3B8"/>
                </a:solidFill>
                <a:latin typeface="Inter"/>
              </a:rPr>
              <a:t>Solidity verifier is deploy-ready.</a:t>
            </a:r>
          </a:p>
        </p:txBody>
      </p:sp>
      <p:sp>
        <p:nvSpPr>
          <p:cNvPr id="13" name="TextBox 12"/>
          <p:cNvSpPr txBox="1"/>
          <p:nvPr/>
        </p:nvSpPr>
        <p:spPr>
          <a:xfrm>
            <a:off x="548640" y="320040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02</a:t>
            </a:r>
          </a:p>
        </p:txBody>
      </p:sp>
      <p:sp>
        <p:nvSpPr>
          <p:cNvPr id="14" name="TextBox 13"/>
          <p:cNvSpPr txBox="1"/>
          <p:nvPr/>
        </p:nvSpPr>
        <p:spPr>
          <a:xfrm>
            <a:off x="1188720" y="3172968"/>
            <a:ext cx="5394960" cy="411480"/>
          </a:xfrm>
          <a:prstGeom prst="rect">
            <a:avLst/>
          </a:prstGeom>
          <a:noFill/>
        </p:spPr>
        <p:txBody>
          <a:bodyPr wrap="square" lIns="0" rIns="0" tIns="0" bIns="0" anchor="t">
            <a:spAutoFit/>
          </a:bodyPr>
          <a:lstStyle/>
          <a:p>
            <a:pPr algn="l"/>
            <a:r>
              <a:rPr sz="1800" b="1">
                <a:solidFill>
                  <a:srgbClr val="F8FAFC"/>
                </a:solidFill>
                <a:latin typeface="Inter"/>
              </a:rPr>
              <a:t>Shot-response optimization</a:t>
            </a:r>
          </a:p>
        </p:txBody>
      </p:sp>
      <p:sp>
        <p:nvSpPr>
          <p:cNvPr id="15" name="TextBox 14"/>
          <p:cNvSpPr txBox="1"/>
          <p:nvPr/>
        </p:nvSpPr>
        <p:spPr>
          <a:xfrm>
            <a:off x="1188720" y="3547872"/>
            <a:ext cx="5394960" cy="365760"/>
          </a:xfrm>
          <a:prstGeom prst="rect">
            <a:avLst/>
          </a:prstGeom>
          <a:noFill/>
        </p:spPr>
        <p:txBody>
          <a:bodyPr wrap="square" lIns="0" rIns="0" tIns="0" bIns="0" anchor="t">
            <a:spAutoFit/>
          </a:bodyPr>
          <a:lstStyle/>
          <a:p>
            <a:pPr algn="l"/>
            <a:r>
              <a:rPr sz="1200" b="0">
                <a:solidFill>
                  <a:srgbClr val="94A3B8"/>
                </a:solidFill>
                <a:latin typeface="Inter"/>
              </a:rPr>
              <a:t>Target &lt;1s proving time.</a:t>
            </a:r>
          </a:p>
        </p:txBody>
      </p:sp>
      <p:sp>
        <p:nvSpPr>
          <p:cNvPr id="16" name="TextBox 15"/>
          <p:cNvSpPr txBox="1"/>
          <p:nvPr/>
        </p:nvSpPr>
        <p:spPr>
          <a:xfrm>
            <a:off x="548640" y="406908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03</a:t>
            </a:r>
          </a:p>
        </p:txBody>
      </p:sp>
      <p:sp>
        <p:nvSpPr>
          <p:cNvPr id="17" name="TextBox 16"/>
          <p:cNvSpPr txBox="1"/>
          <p:nvPr/>
        </p:nvSpPr>
        <p:spPr>
          <a:xfrm>
            <a:off x="1188720" y="4041648"/>
            <a:ext cx="5394960" cy="411480"/>
          </a:xfrm>
          <a:prstGeom prst="rect">
            <a:avLst/>
          </a:prstGeom>
          <a:noFill/>
        </p:spPr>
        <p:txBody>
          <a:bodyPr wrap="square" lIns="0" rIns="0" tIns="0" bIns="0" anchor="t">
            <a:spAutoFit/>
          </a:bodyPr>
          <a:lstStyle/>
          <a:p>
            <a:pPr algn="l"/>
            <a:r>
              <a:rPr sz="1800" b="1">
                <a:solidFill>
                  <a:srgbClr val="F8FAFC"/>
                </a:solidFill>
                <a:latin typeface="Inter"/>
              </a:rPr>
              <a:t>Multi-game lobby</a:t>
            </a:r>
          </a:p>
        </p:txBody>
      </p:sp>
      <p:sp>
        <p:nvSpPr>
          <p:cNvPr id="18" name="TextBox 17"/>
          <p:cNvSpPr txBox="1"/>
          <p:nvPr/>
        </p:nvSpPr>
        <p:spPr>
          <a:xfrm>
            <a:off x="1188720" y="4416552"/>
            <a:ext cx="5394960" cy="365760"/>
          </a:xfrm>
          <a:prstGeom prst="rect">
            <a:avLst/>
          </a:prstGeom>
          <a:noFill/>
        </p:spPr>
        <p:txBody>
          <a:bodyPr wrap="square" lIns="0" rIns="0" tIns="0" bIns="0" anchor="t">
            <a:spAutoFit/>
          </a:bodyPr>
          <a:lstStyle/>
          <a:p>
            <a:pPr algn="l"/>
            <a:r>
              <a:rPr sz="1200" b="0">
                <a:solidFill>
                  <a:srgbClr val="94A3B8"/>
                </a:solidFill>
                <a:latin typeface="Inter"/>
              </a:rPr>
              <a:t>Matchmaking + state routing.</a:t>
            </a:r>
          </a:p>
        </p:txBody>
      </p:sp>
      <p:sp>
        <p:nvSpPr>
          <p:cNvPr id="19" name="TextBox 18"/>
          <p:cNvSpPr txBox="1"/>
          <p:nvPr/>
        </p:nvSpPr>
        <p:spPr>
          <a:xfrm>
            <a:off x="548640" y="4937760"/>
            <a:ext cx="548640" cy="365760"/>
          </a:xfrm>
          <a:prstGeom prst="rect">
            <a:avLst/>
          </a:prstGeom>
          <a:noFill/>
        </p:spPr>
        <p:txBody>
          <a:bodyPr wrap="square" lIns="0" rIns="0" tIns="0" bIns="0" anchor="t">
            <a:spAutoFit/>
          </a:bodyPr>
          <a:lstStyle/>
          <a:p>
            <a:pPr algn="l"/>
            <a:r>
              <a:rPr sz="1300" b="1" spc="150">
                <a:solidFill>
                  <a:srgbClr val="F97316"/>
                </a:solidFill>
                <a:latin typeface="JetBrains Mono"/>
              </a:rPr>
              <a:t>04</a:t>
            </a:r>
          </a:p>
        </p:txBody>
      </p:sp>
      <p:sp>
        <p:nvSpPr>
          <p:cNvPr id="20" name="TextBox 19"/>
          <p:cNvSpPr txBox="1"/>
          <p:nvPr/>
        </p:nvSpPr>
        <p:spPr>
          <a:xfrm>
            <a:off x="1188720" y="4910328"/>
            <a:ext cx="5394960" cy="411480"/>
          </a:xfrm>
          <a:prstGeom prst="rect">
            <a:avLst/>
          </a:prstGeom>
          <a:noFill/>
        </p:spPr>
        <p:txBody>
          <a:bodyPr wrap="square" lIns="0" rIns="0" tIns="0" bIns="0" anchor="t">
            <a:spAutoFit/>
          </a:bodyPr>
          <a:lstStyle/>
          <a:p>
            <a:pPr algn="l"/>
            <a:r>
              <a:rPr sz="1800" b="1">
                <a:solidFill>
                  <a:srgbClr val="F8FAFC"/>
                </a:solidFill>
                <a:latin typeface="Inter"/>
              </a:rPr>
              <a:t>Tournament mode</a:t>
            </a:r>
          </a:p>
        </p:txBody>
      </p:sp>
      <p:sp>
        <p:nvSpPr>
          <p:cNvPr id="21" name="TextBox 20"/>
          <p:cNvSpPr txBox="1"/>
          <p:nvPr/>
        </p:nvSpPr>
        <p:spPr>
          <a:xfrm>
            <a:off x="1188720" y="5285232"/>
            <a:ext cx="5394960" cy="365760"/>
          </a:xfrm>
          <a:prstGeom prst="rect">
            <a:avLst/>
          </a:prstGeom>
          <a:noFill/>
        </p:spPr>
        <p:txBody>
          <a:bodyPr wrap="square" lIns="0" rIns="0" tIns="0" bIns="0" anchor="t">
            <a:spAutoFit/>
          </a:bodyPr>
          <a:lstStyle/>
          <a:p>
            <a:pPr algn="l"/>
            <a:r>
              <a:rPr sz="1200" b="0">
                <a:solidFill>
                  <a:srgbClr val="94A3B8"/>
                </a:solidFill>
                <a:latin typeface="Inter"/>
              </a:rPr>
              <a:t>Trustless brackets, auditable replays.</a:t>
            </a:r>
          </a:p>
        </p:txBody>
      </p:sp>
      <p:sp>
        <p:nvSpPr>
          <p:cNvPr id="22" name="Rectangle 21"/>
          <p:cNvSpPr/>
          <p:nvPr/>
        </p:nvSpPr>
        <p:spPr>
          <a:xfrm>
            <a:off x="6903720" y="2331720"/>
            <a:ext cx="12700" cy="3566160"/>
          </a:xfrm>
          <a:prstGeom prst="rect">
            <a:avLst/>
          </a:prstGeom>
          <a:solidFill>
            <a:srgbClr val="2734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377440"/>
            <a:ext cx="4572000" cy="365760"/>
          </a:xfrm>
          <a:prstGeom prst="rect">
            <a:avLst/>
          </a:prstGeom>
          <a:noFill/>
        </p:spPr>
        <p:txBody>
          <a:bodyPr wrap="square" lIns="0" rIns="0" tIns="0" bIns="0" anchor="t">
            <a:spAutoFit/>
          </a:bodyPr>
          <a:lstStyle/>
          <a:p>
            <a:pPr algn="l"/>
            <a:r>
              <a:rPr sz="1100" b="1" spc="350">
                <a:solidFill>
                  <a:srgbClr val="38BDF8"/>
                </a:solidFill>
                <a:latin typeface="Inter"/>
              </a:rPr>
              <a:t>Q &amp; A</a:t>
            </a:r>
          </a:p>
        </p:txBody>
      </p:sp>
      <p:sp>
        <p:nvSpPr>
          <p:cNvPr id="24" name="TextBox 23"/>
          <p:cNvSpPr txBox="1"/>
          <p:nvPr/>
        </p:nvSpPr>
        <p:spPr>
          <a:xfrm>
            <a:off x="7269480" y="2834640"/>
            <a:ext cx="4754880" cy="1828800"/>
          </a:xfrm>
          <a:prstGeom prst="rect">
            <a:avLst/>
          </a:prstGeom>
          <a:noFill/>
        </p:spPr>
        <p:txBody>
          <a:bodyPr wrap="square" lIns="0" rIns="0" tIns="0" bIns="0" anchor="t">
            <a:spAutoFit/>
          </a:bodyPr>
          <a:lstStyle/>
          <a:p>
            <a:pPr algn="l"/>
            <a:r>
              <a:rPr sz="6000" b="1">
                <a:solidFill>
                  <a:srgbClr val="F97316"/>
                </a:solidFill>
                <a:latin typeface="Inter"/>
              </a:rPr>
              <a:t>Questions?</a:t>
            </a:r>
          </a:p>
        </p:txBody>
      </p:sp>
      <p:sp>
        <p:nvSpPr>
          <p:cNvPr id="25" name="TextBox 24"/>
          <p:cNvSpPr txBox="1"/>
          <p:nvPr/>
        </p:nvSpPr>
        <p:spPr>
          <a:xfrm>
            <a:off x="7269480" y="4434840"/>
            <a:ext cx="4754880" cy="1280160"/>
          </a:xfrm>
          <a:prstGeom prst="rect">
            <a:avLst/>
          </a:prstGeom>
          <a:noFill/>
        </p:spPr>
        <p:txBody>
          <a:bodyPr wrap="square" lIns="0" rIns="0" tIns="0" bIns="0" anchor="t">
            <a:spAutoFit/>
          </a:bodyPr>
          <a:lstStyle/>
          <a:p>
            <a:pPr algn="l"/>
            <a:r>
              <a:rPr sz="1400" b="0">
                <a:solidFill>
                  <a:srgbClr val="94A3B8"/>
                </a:solidFill>
                <a:latin typeface="Inter"/>
              </a:rPr>
              <a:t>Circuits, contracts, frontend— everything is open source.</a:t>
            </a:r>
          </a:p>
        </p:txBody>
      </p:sp>
      <p:sp>
        <p:nvSpPr>
          <p:cNvPr id="26" name="TextBox 25"/>
          <p:cNvSpPr txBox="1"/>
          <p:nvPr/>
        </p:nvSpPr>
        <p:spPr>
          <a:xfrm>
            <a:off x="7269480" y="5212080"/>
            <a:ext cx="4754880" cy="365760"/>
          </a:xfrm>
          <a:prstGeom prst="rect">
            <a:avLst/>
          </a:prstGeom>
          <a:noFill/>
        </p:spPr>
        <p:txBody>
          <a:bodyPr wrap="square" lIns="0" rIns="0" tIns="0" bIns="0" anchor="t">
            <a:spAutoFit/>
          </a:bodyPr>
          <a:lstStyle/>
          <a:p>
            <a:pPr algn="l"/>
            <a:r>
              <a:rPr sz="1200" b="0">
                <a:solidFill>
                  <a:srgbClr val="F8FAFC"/>
                </a:solidFill>
                <a:latin typeface="JetBrains Mono"/>
              </a:rPr>
              <a:t>github.com/ battleship-zk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