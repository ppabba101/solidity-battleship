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B2BE748-3D16-497B-B788-E5B0ABD878D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[Pranav]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Welcome everyone. I'm Pranav Pabba and this is my teammate Vikram Akkala. Over the next eight minutes we're going to show you Battleship -- the classic two-player board game -- rebuilt on zero-knowledge proofs with real on-chain verification. I'll drive the live demo; Vikram will carry you through the cryptography. By the time we're done you'll see exactly why a simple hash commitment fails, and why a single zk-SNARK is the piece that closes the gap.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[Vikram]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Thanks Pranav. My job is the crypto -- the problem, the gap, and the fix. Concrete and tied to Battleship the whole way. Let's go.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486E8E8-BAFC-4975-A7F8-B5E51451A31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6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[Vikram]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Battleship is a game of hidden state. I place ships on my private ten-by-ten grid, you place ships on yours, and neither of us sees the other's layout. In a digital implementation nothing stops me from just lying about my board. So the standard cryptographic move is: commit to your board up front with a hash. Publish that hash on-chain, and now you can't silently change your ships mid-game. Great. But here's the catch -- and this is what the next slide is about -- a hash commitment only proves WHAT you committed to. It says absolutely nothing about whether what you committed is a legal fleet in the first place.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79939BB-5388-47D6-A37C-91760D03835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[Vikram]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Okay, feel this one. Imagine I'm the cheater. I commit to an all-empty board -- literally a grid with zero ships on it. The hash of that board is a perfectly valid hash. On-chain, my commitment looks identical to yours. The game starts. You fire at three-comma-five. I answer MISS. Completely truthfully, because there is nothing there. You fire at seven-comma-two. MISS. Again, not a lie. I never lose a single cell because I have no cells to lose. Meanwhile I'm sinking your actual ships. I win by elimination without ever making a dishonest statement. A plain hash commitment cannot stop this attack, because a hash only proves WHAT you committed to -- it is silent on whether that thing is a legal Battleship fleet. This is the validity gap, and every slide from here on is about closing 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ADD91E0-2445-4ECD-B229-BB12D2E8E73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[Vikram]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Here is the move. Instead of just committing to a board, we commit AND prove -- in zero knowledge -- that what we committed to is a legal fleet. Exactly seventeen occupied cells. One five-cell carrier. One four-cell battleship. Two three-cell cruisers. One two-cell destroyer. No overlaps. No diagonals. All in bounds. That whole statement becomes a single zk-SNARK. The proof goes on-chain at commit time, before the first shot is ever fired. The all-empty-board attack you just saw? It literally cannot produce a valid proof, because the circuit's fleet constraint rejects it. The proof IS the validity certificate -- if the contract accepts it, the board is legal, full stop. And you learn absolutely nothing about where the ships actually are.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685CCEC-4FB5-4508-93BA-7F1A4161EAB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[Vikram]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concrete stack. Noir is Aztec's Rust-flavoured DSL for writing zk circuits -- it reads like normal code and compiles down to an arithmetic constraint system. UltraHonk is the proving backend, a modern PLONK-family scheme that needs no trusted setup ceremony, which means I don't have to spend five minutes of this talk explaining powers of tau. Pedersen hash is the commitment primitive we use inside the circuit -- cheap in zk and it binds all one hundred private cells plus a salt into a single public field element. And finally, Noir auto-generates a Solidity verifier contract -- HonkVerifier dot sol, about twenty-four hundred lines, roughly two hundred and fifty thousand gas per verify call. That is the whole cryptographic toolbox. No custom circuits hand-rolled in Circom, no Groth16 ceremony, no custom verifier math.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5C6D8AB-62AA-467B-A324-F169B15B052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[Pranav]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End-to-end data flow, and this is exactly what you're about to watch live. I open the React app. I drag my fleet onto the grid. I click Ready. The frontend pipes my private board into a Pedersen hash for the commitment and into the Noir board-validity circuit, and runs bb.js -- Aztec's WASM-compiled Barretenberg prover -- right there in the browser. Out comes a proof blob. I push it as calldata to BattleshipGame dot sol on a local Anvil chain. BattleshipGame calls the Noir-generated HonkVerifier, which accepts or rejects on-chain. Every shot response goes through the same pipeline with a separate shot-response circuit. Nothing trusts the frontend -- every single claim is verified by the contract. Two burner wallets derived from Anvil's deterministic test keys mean no MetaMask popups and no wallet switching. One laptop, hot-seat, zero trust.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5E626CB-34F5-4E8B-8833-1C215020425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[Pranav]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Alright, driving. I'm opening the app -- both players' grids side by side. Clicking the carrier in the palette, rotating with R, dropping it on the top row. Placing the rest fast. Hit Ready. Watch the spinner: "proving board legality" -- that is the Noir circuit running right now in the browser. Proof verified on-chain. Player two does the same. Now we fire -- I click on the enemy grid. Pending pulse. Hit confirmed, shot-response proof verified in about a second.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[Vikram]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Keep an eye on the Crypto Log panel on the right -- every on-chain event is narrated as it happens. Pedersen commit, board-validity proof, shot-response proof, sunk animation. This is a full cryptographic game loop running live with zero trust in the opponent.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AE56657-2147-4A4E-BD8C-62B706B176D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[Vikram]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 things the cryptography actually guaranteed during that demo. One: before the first shot was fired, each player produced a zk-SNARK proving their board contained exactly the standard fleet -- seventeen cells, correct ship shapes, no overlaps, no diagonals. The all-empty-board cheat is impossible. Two: every shot response came with its own proof binding the answer back to the original Pedersen commitment, so a hit cannot be flipped to a miss. Three: zero trust -- every opponent claim is a proof the contract verifies, not a promise we take on faith. Four: zero trusted setup -- UltraHonk needs no multi-party ceremony, no powers of tau, no toxic waste to dispose of. That is the whole cryptographic contract of this demo.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7FC6FCF-9AD4-4246-A7DB-ABB28A41634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[Pranav]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Where does this go from here? Mainnet deployment is basically a deploy script away -- the Solidity verifier is already production-shaped. We want to prune the shot-response circuit to get proving time down further, and longer term stand up a multi-game lobby so this is not just a hot-seat demo. That's the pitch. Thanks for your time. We're happy to take questions on the circuits, the contract, Noir, bb.js, burner wallets -- anything you saw in the demo. The full stack is open source.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927F26D-FFFB-4754-B61E-998FF144F09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9F694AB-549C-4C92-BEB6-8A613DBEDC2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7EAC38A-F89F-497D-8707-F8920B3F57F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C22E4F8-172E-4285-A825-B3C899DB672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B816BD8-CBEA-49B4-9DA1-D97364844BD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C5F9FD9-D8BC-462B-9504-7E25EB2EBED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231D58A-B156-4940-9503-FC37D7771F3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8294790-9D89-43D8-BBF1-3A6D6C2AE93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D077BE6-AF4C-44E3-8379-1731A6A2973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B96B668-BD52-492B-87F8-652EA528BA9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B839038-6E50-48B5-A72A-CF91C93062A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48D8B1E-4875-4310-9623-80471ADC7C5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A0F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Rectangle 2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F973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822960" y="123444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pc="349" strike="noStrike">
                <a:solidFill>
                  <a:srgbClr val="38BDF8"/>
                </a:solidFill>
                <a:effectLst/>
                <a:uFillTx/>
                <a:latin typeface="Inter"/>
              </a:rPr>
              <a:t>A ZERO-KNOWLEDGE DEMO   ·   BLOCKCHAIN CLUB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777240" y="1783080"/>
            <a:ext cx="109724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200" b="1" u="none" strike="noStrike">
                <a:solidFill>
                  <a:srgbClr val="F8FAFC"/>
                </a:solidFill>
                <a:effectLst/>
                <a:uFillTx/>
                <a:latin typeface="Inter"/>
              </a:rPr>
              <a:t>Battleship,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777240" y="2971800"/>
            <a:ext cx="109724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200" b="1" u="none" strike="noStrike">
                <a:solidFill>
                  <a:srgbClr val="F97316"/>
                </a:solidFill>
                <a:effectLst/>
                <a:uFillTx/>
                <a:latin typeface="Inter"/>
              </a:rPr>
              <a:t>proven.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6"/>
          <p:cNvSpPr/>
          <p:nvPr/>
        </p:nvSpPr>
        <p:spPr>
          <a:xfrm>
            <a:off x="822960" y="443484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Inter"/>
              </a:rPr>
              <a:t>A zk-SNARK demo with real on-chain verification.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Rounded Rectangle 7"/>
          <p:cNvSpPr/>
          <p:nvPr/>
        </p:nvSpPr>
        <p:spPr>
          <a:xfrm>
            <a:off x="777240" y="5486400"/>
            <a:ext cx="5120280" cy="502560"/>
          </a:xfrm>
          <a:prstGeom prst="roundRect">
            <a:avLst>
              <a:gd name="adj" fmla="val 50000"/>
            </a:avLst>
          </a:prstGeom>
          <a:solidFill>
            <a:srgbClr val="1B2942"/>
          </a:solidFill>
          <a:ln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Oval 8"/>
          <p:cNvSpPr/>
          <p:nvPr/>
        </p:nvSpPr>
        <p:spPr>
          <a:xfrm>
            <a:off x="978480" y="5669280"/>
            <a:ext cx="136800" cy="136800"/>
          </a:xfrm>
          <a:prstGeom prst="ellipse">
            <a:avLst/>
          </a:prstGeom>
          <a:solidFill>
            <a:srgbClr val="F973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9"/>
          <p:cNvSpPr/>
          <p:nvPr/>
        </p:nvSpPr>
        <p:spPr>
          <a:xfrm>
            <a:off x="1216080" y="5596200"/>
            <a:ext cx="4571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pc="201" strike="noStrike">
                <a:solidFill>
                  <a:srgbClr val="F8FAFC"/>
                </a:solidFill>
                <a:effectLst/>
                <a:uFillTx/>
                <a:latin typeface="Inter"/>
              </a:rPr>
              <a:t>VIKRAM AKKALA    ·    PRANAV PABBA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10"/>
          <p:cNvSpPr/>
          <p:nvPr/>
        </p:nvSpPr>
        <p:spPr>
          <a:xfrm>
            <a:off x="7528320" y="559620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JetBrains Mono"/>
              </a:rPr>
              <a:t>noir → ultrahonk → solidity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ectangle 11"/>
          <p:cNvSpPr/>
          <p:nvPr/>
        </p:nvSpPr>
        <p:spPr>
          <a:xfrm>
            <a:off x="548640" y="6720840"/>
            <a:ext cx="11094120" cy="37800"/>
          </a:xfrm>
          <a:prstGeom prst="rect">
            <a:avLst/>
          </a:prstGeom>
          <a:solidFill>
            <a:srgbClr val="27344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Rectangle 12"/>
          <p:cNvSpPr/>
          <p:nvPr/>
        </p:nvSpPr>
        <p:spPr>
          <a:xfrm>
            <a:off x="548640" y="6720840"/>
            <a:ext cx="1232280" cy="37800"/>
          </a:xfrm>
          <a:prstGeom prst="rect">
            <a:avLst/>
          </a:prstGeom>
          <a:solidFill>
            <a:srgbClr val="F973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TextBox 13"/>
          <p:cNvSpPr/>
          <p:nvPr/>
        </p:nvSpPr>
        <p:spPr>
          <a:xfrm>
            <a:off x="10545840" y="64008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JetBrains Mono"/>
              </a:rPr>
              <a:t>01 / 09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A0F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2"/>
          <p:cNvSpPr/>
          <p:nvPr/>
        </p:nvSpPr>
        <p:spPr>
          <a:xfrm>
            <a:off x="548640" y="82296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pc="300" strike="noStrike">
                <a:solidFill>
                  <a:srgbClr val="38BDF8"/>
                </a:solidFill>
                <a:effectLst/>
                <a:uFillTx/>
                <a:latin typeface="Inter"/>
              </a:rPr>
              <a:t>01  ·  THE PROBLEM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3"/>
          <p:cNvSpPr/>
          <p:nvPr/>
        </p:nvSpPr>
        <p:spPr>
          <a:xfrm>
            <a:off x="548640" y="114300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F8FAFC"/>
                </a:solidFill>
                <a:effectLst/>
                <a:uFillTx/>
                <a:latin typeface="Inter"/>
              </a:rPr>
              <a:t>A game built on hidden state.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ectangle 4"/>
          <p:cNvSpPr/>
          <p:nvPr/>
        </p:nvSpPr>
        <p:spPr>
          <a:xfrm>
            <a:off x="548640" y="1920240"/>
            <a:ext cx="1005480" cy="37800"/>
          </a:xfrm>
          <a:prstGeom prst="rect">
            <a:avLst/>
          </a:prstGeom>
          <a:solidFill>
            <a:srgbClr val="F973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5"/>
          <p:cNvSpPr/>
          <p:nvPr/>
        </p:nvSpPr>
        <p:spPr>
          <a:xfrm>
            <a:off x="54864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JetBrains Mono"/>
              </a:rPr>
              <a:t>battleship</a:t>
            </a:r>
            <a:r>
              <a:rPr lang="en-US" sz="1000" b="1" u="none" strike="noStrike">
                <a:solidFill>
                  <a:srgbClr val="F97316"/>
                </a:solidFill>
                <a:effectLst/>
                <a:uFillTx/>
                <a:latin typeface="JetBrains Mono"/>
              </a:rPr>
              <a:t>.zk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Rectangle 6"/>
          <p:cNvSpPr/>
          <p:nvPr/>
        </p:nvSpPr>
        <p:spPr>
          <a:xfrm>
            <a:off x="548640" y="6720840"/>
            <a:ext cx="11094120" cy="37800"/>
          </a:xfrm>
          <a:prstGeom prst="rect">
            <a:avLst/>
          </a:prstGeom>
          <a:solidFill>
            <a:srgbClr val="27344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Rectangle 7"/>
          <p:cNvSpPr/>
          <p:nvPr/>
        </p:nvSpPr>
        <p:spPr>
          <a:xfrm>
            <a:off x="548640" y="6720840"/>
            <a:ext cx="2464920" cy="37800"/>
          </a:xfrm>
          <a:prstGeom prst="rect">
            <a:avLst/>
          </a:prstGeom>
          <a:solidFill>
            <a:srgbClr val="F973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TextBox 8"/>
          <p:cNvSpPr/>
          <p:nvPr/>
        </p:nvSpPr>
        <p:spPr>
          <a:xfrm>
            <a:off x="10545840" y="64008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JetBrains Mono"/>
              </a:rPr>
              <a:t>02 / 09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9"/>
          <p:cNvSpPr/>
          <p:nvPr/>
        </p:nvSpPr>
        <p:spPr>
          <a:xfrm>
            <a:off x="548640" y="2331720"/>
            <a:ext cx="109692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0" b="1" u="none" strike="noStrike">
                <a:solidFill>
                  <a:srgbClr val="F97316"/>
                </a:solidFill>
                <a:effectLst/>
                <a:uFillTx/>
                <a:latin typeface="Inter"/>
              </a:rPr>
              <a:t>“</a:t>
            </a:r>
            <a:endParaRPr lang="en-US" sz="1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10"/>
          <p:cNvSpPr/>
          <p:nvPr/>
        </p:nvSpPr>
        <p:spPr>
          <a:xfrm>
            <a:off x="1737360" y="2743200"/>
            <a:ext cx="996660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8FAFC"/>
                </a:solidFill>
                <a:effectLst/>
                <a:uFillTx/>
                <a:latin typeface="Inter"/>
              </a:rPr>
              <a:t>Each player knows their board.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97316"/>
                </a:solidFill>
                <a:effectLst/>
                <a:uFillTx/>
                <a:latin typeface="Inter"/>
              </a:rPr>
              <a:t>Neither player trusts the other.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11"/>
          <p:cNvSpPr/>
          <p:nvPr/>
        </p:nvSpPr>
        <p:spPr>
          <a:xfrm>
            <a:off x="1737360" y="5074920"/>
            <a:ext cx="9966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Inter"/>
              </a:rPr>
              <a:t>— standard trick: commit to your board with a hash so you can't change your mind later.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12"/>
          <p:cNvSpPr/>
          <p:nvPr/>
        </p:nvSpPr>
        <p:spPr>
          <a:xfrm>
            <a:off x="1737360" y="5440680"/>
            <a:ext cx="9966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Inter"/>
              </a:rPr>
              <a:t>But a hash commitment only proves WHAT you committed to -- not whether what you committed is legal.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A0F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TextBox 2"/>
          <p:cNvSpPr/>
          <p:nvPr/>
        </p:nvSpPr>
        <p:spPr>
          <a:xfrm>
            <a:off x="548640" y="82296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pc="300" strike="noStrike">
                <a:solidFill>
                  <a:srgbClr val="38BDF8"/>
                </a:solidFill>
                <a:effectLst/>
                <a:uFillTx/>
                <a:latin typeface="Inter"/>
              </a:rPr>
              <a:t>02  ·  THE VALIDITY GAP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3"/>
          <p:cNvSpPr/>
          <p:nvPr/>
        </p:nvSpPr>
        <p:spPr>
          <a:xfrm>
            <a:off x="548640" y="114300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F8FAFC"/>
                </a:solidFill>
                <a:effectLst/>
                <a:uFillTx/>
                <a:latin typeface="Inter"/>
              </a:rPr>
              <a:t>Commit to nothing. Win anyway.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Rectangle 4"/>
          <p:cNvSpPr/>
          <p:nvPr/>
        </p:nvSpPr>
        <p:spPr>
          <a:xfrm>
            <a:off x="548640" y="1920240"/>
            <a:ext cx="1005480" cy="37800"/>
          </a:xfrm>
          <a:prstGeom prst="rect">
            <a:avLst/>
          </a:prstGeom>
          <a:solidFill>
            <a:srgbClr val="F973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TextBox 5"/>
          <p:cNvSpPr/>
          <p:nvPr/>
        </p:nvSpPr>
        <p:spPr>
          <a:xfrm>
            <a:off x="54864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JetBrains Mono"/>
              </a:rPr>
              <a:t>battleship</a:t>
            </a:r>
            <a:r>
              <a:rPr lang="en-US" sz="1000" b="1" u="none" strike="noStrike">
                <a:solidFill>
                  <a:srgbClr val="F97316"/>
                </a:solidFill>
                <a:effectLst/>
                <a:uFillTx/>
                <a:latin typeface="JetBrains Mono"/>
              </a:rPr>
              <a:t>.zk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Rectangle 6"/>
          <p:cNvSpPr/>
          <p:nvPr/>
        </p:nvSpPr>
        <p:spPr>
          <a:xfrm>
            <a:off x="548640" y="6720840"/>
            <a:ext cx="11094120" cy="37800"/>
          </a:xfrm>
          <a:prstGeom prst="rect">
            <a:avLst/>
          </a:prstGeom>
          <a:solidFill>
            <a:srgbClr val="27344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Rectangle 7"/>
          <p:cNvSpPr/>
          <p:nvPr/>
        </p:nvSpPr>
        <p:spPr>
          <a:xfrm>
            <a:off x="548640" y="6720840"/>
            <a:ext cx="3697920" cy="37800"/>
          </a:xfrm>
          <a:prstGeom prst="rect">
            <a:avLst/>
          </a:prstGeom>
          <a:solidFill>
            <a:srgbClr val="F973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Box 8"/>
          <p:cNvSpPr/>
          <p:nvPr/>
        </p:nvSpPr>
        <p:spPr>
          <a:xfrm>
            <a:off x="10545840" y="64008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JetBrains Mono"/>
              </a:rPr>
              <a:t>03 / 09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ounded Rectangle 9"/>
          <p:cNvSpPr/>
          <p:nvPr/>
        </p:nvSpPr>
        <p:spPr>
          <a:xfrm>
            <a:off x="411480" y="2240280"/>
            <a:ext cx="3657240" cy="3657240"/>
          </a:xfrm>
          <a:prstGeom prst="roundRect">
            <a:avLst>
              <a:gd name="adj" fmla="val 5000"/>
            </a:avLst>
          </a:prstGeom>
          <a:solidFill>
            <a:srgbClr val="1B2942"/>
          </a:solidFill>
          <a:ln w="1270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Rectangle 10"/>
          <p:cNvSpPr/>
          <p:nvPr/>
        </p:nvSpPr>
        <p:spPr>
          <a:xfrm>
            <a:off x="548640" y="237744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Rectangle 11"/>
          <p:cNvSpPr/>
          <p:nvPr/>
        </p:nvSpPr>
        <p:spPr>
          <a:xfrm>
            <a:off x="887040" y="237744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Rectangle 12"/>
          <p:cNvSpPr/>
          <p:nvPr/>
        </p:nvSpPr>
        <p:spPr>
          <a:xfrm>
            <a:off x="1225440" y="237744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Rectangle 13"/>
          <p:cNvSpPr/>
          <p:nvPr/>
        </p:nvSpPr>
        <p:spPr>
          <a:xfrm>
            <a:off x="1563480" y="237744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Rectangle 14"/>
          <p:cNvSpPr/>
          <p:nvPr/>
        </p:nvSpPr>
        <p:spPr>
          <a:xfrm>
            <a:off x="1901880" y="237744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Rectangle 15"/>
          <p:cNvSpPr/>
          <p:nvPr/>
        </p:nvSpPr>
        <p:spPr>
          <a:xfrm>
            <a:off x="2240280" y="237744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Rectangle 16"/>
          <p:cNvSpPr/>
          <p:nvPr/>
        </p:nvSpPr>
        <p:spPr>
          <a:xfrm>
            <a:off x="2578680" y="237744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Rectangle 17"/>
          <p:cNvSpPr/>
          <p:nvPr/>
        </p:nvSpPr>
        <p:spPr>
          <a:xfrm>
            <a:off x="2917080" y="237744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Rectangle 18"/>
          <p:cNvSpPr/>
          <p:nvPr/>
        </p:nvSpPr>
        <p:spPr>
          <a:xfrm>
            <a:off x="3255120" y="237744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Rectangle 19"/>
          <p:cNvSpPr/>
          <p:nvPr/>
        </p:nvSpPr>
        <p:spPr>
          <a:xfrm>
            <a:off x="3593520" y="237744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Rectangle 20"/>
          <p:cNvSpPr/>
          <p:nvPr/>
        </p:nvSpPr>
        <p:spPr>
          <a:xfrm>
            <a:off x="548640" y="271584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Rectangle 21"/>
          <p:cNvSpPr/>
          <p:nvPr/>
        </p:nvSpPr>
        <p:spPr>
          <a:xfrm>
            <a:off x="887040" y="271584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Rectangle 22"/>
          <p:cNvSpPr/>
          <p:nvPr/>
        </p:nvSpPr>
        <p:spPr>
          <a:xfrm>
            <a:off x="1225440" y="271584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Rectangle 23"/>
          <p:cNvSpPr/>
          <p:nvPr/>
        </p:nvSpPr>
        <p:spPr>
          <a:xfrm>
            <a:off x="1563480" y="271584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Rectangle 24"/>
          <p:cNvSpPr/>
          <p:nvPr/>
        </p:nvSpPr>
        <p:spPr>
          <a:xfrm>
            <a:off x="1901880" y="271584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Rectangle 25"/>
          <p:cNvSpPr/>
          <p:nvPr/>
        </p:nvSpPr>
        <p:spPr>
          <a:xfrm>
            <a:off x="2240280" y="271584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Rectangle 26"/>
          <p:cNvSpPr/>
          <p:nvPr/>
        </p:nvSpPr>
        <p:spPr>
          <a:xfrm>
            <a:off x="2578680" y="271584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Rectangle 27"/>
          <p:cNvSpPr/>
          <p:nvPr/>
        </p:nvSpPr>
        <p:spPr>
          <a:xfrm>
            <a:off x="2917080" y="271584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Rectangle 28"/>
          <p:cNvSpPr/>
          <p:nvPr/>
        </p:nvSpPr>
        <p:spPr>
          <a:xfrm>
            <a:off x="3255120" y="271584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Rectangle 29"/>
          <p:cNvSpPr/>
          <p:nvPr/>
        </p:nvSpPr>
        <p:spPr>
          <a:xfrm>
            <a:off x="3593520" y="271584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Rectangle 30"/>
          <p:cNvSpPr/>
          <p:nvPr/>
        </p:nvSpPr>
        <p:spPr>
          <a:xfrm>
            <a:off x="548640" y="305424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Rectangle 31"/>
          <p:cNvSpPr/>
          <p:nvPr/>
        </p:nvSpPr>
        <p:spPr>
          <a:xfrm>
            <a:off x="887040" y="305424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Rectangle 32"/>
          <p:cNvSpPr/>
          <p:nvPr/>
        </p:nvSpPr>
        <p:spPr>
          <a:xfrm>
            <a:off x="1225440" y="305424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Rectangle 33"/>
          <p:cNvSpPr/>
          <p:nvPr/>
        </p:nvSpPr>
        <p:spPr>
          <a:xfrm>
            <a:off x="1563480" y="305424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Rectangle 34"/>
          <p:cNvSpPr/>
          <p:nvPr/>
        </p:nvSpPr>
        <p:spPr>
          <a:xfrm>
            <a:off x="1901880" y="305424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Rectangle 35"/>
          <p:cNvSpPr/>
          <p:nvPr/>
        </p:nvSpPr>
        <p:spPr>
          <a:xfrm>
            <a:off x="2240280" y="305424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Rectangle 36"/>
          <p:cNvSpPr/>
          <p:nvPr/>
        </p:nvSpPr>
        <p:spPr>
          <a:xfrm>
            <a:off x="2578680" y="305424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Rectangle 37"/>
          <p:cNvSpPr/>
          <p:nvPr/>
        </p:nvSpPr>
        <p:spPr>
          <a:xfrm>
            <a:off x="2917080" y="305424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Rectangle 38"/>
          <p:cNvSpPr/>
          <p:nvPr/>
        </p:nvSpPr>
        <p:spPr>
          <a:xfrm>
            <a:off x="3255120" y="305424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Rectangle 39"/>
          <p:cNvSpPr/>
          <p:nvPr/>
        </p:nvSpPr>
        <p:spPr>
          <a:xfrm>
            <a:off x="3593520" y="305424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Rectangle 40"/>
          <p:cNvSpPr/>
          <p:nvPr/>
        </p:nvSpPr>
        <p:spPr>
          <a:xfrm>
            <a:off x="548640" y="339228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Rectangle 41"/>
          <p:cNvSpPr/>
          <p:nvPr/>
        </p:nvSpPr>
        <p:spPr>
          <a:xfrm>
            <a:off x="887040" y="339228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Rectangle 42"/>
          <p:cNvSpPr/>
          <p:nvPr/>
        </p:nvSpPr>
        <p:spPr>
          <a:xfrm>
            <a:off x="1225440" y="339228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Rectangle 43"/>
          <p:cNvSpPr/>
          <p:nvPr/>
        </p:nvSpPr>
        <p:spPr>
          <a:xfrm>
            <a:off x="1563480" y="339228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Rectangle 44"/>
          <p:cNvSpPr/>
          <p:nvPr/>
        </p:nvSpPr>
        <p:spPr>
          <a:xfrm>
            <a:off x="1901880" y="339228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Rectangle 45"/>
          <p:cNvSpPr/>
          <p:nvPr/>
        </p:nvSpPr>
        <p:spPr>
          <a:xfrm>
            <a:off x="2240280" y="339228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Rectangle 46"/>
          <p:cNvSpPr/>
          <p:nvPr/>
        </p:nvSpPr>
        <p:spPr>
          <a:xfrm>
            <a:off x="2578680" y="339228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Rectangle 47"/>
          <p:cNvSpPr/>
          <p:nvPr/>
        </p:nvSpPr>
        <p:spPr>
          <a:xfrm>
            <a:off x="2917080" y="339228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Rectangle 48"/>
          <p:cNvSpPr/>
          <p:nvPr/>
        </p:nvSpPr>
        <p:spPr>
          <a:xfrm>
            <a:off x="3255120" y="339228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Rectangle 49"/>
          <p:cNvSpPr/>
          <p:nvPr/>
        </p:nvSpPr>
        <p:spPr>
          <a:xfrm>
            <a:off x="3593520" y="339228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Rectangle 50"/>
          <p:cNvSpPr/>
          <p:nvPr/>
        </p:nvSpPr>
        <p:spPr>
          <a:xfrm>
            <a:off x="548640" y="373068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Rectangle 51"/>
          <p:cNvSpPr/>
          <p:nvPr/>
        </p:nvSpPr>
        <p:spPr>
          <a:xfrm>
            <a:off x="887040" y="373068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Rectangle 52"/>
          <p:cNvSpPr/>
          <p:nvPr/>
        </p:nvSpPr>
        <p:spPr>
          <a:xfrm>
            <a:off x="1225440" y="373068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Rectangle 53"/>
          <p:cNvSpPr/>
          <p:nvPr/>
        </p:nvSpPr>
        <p:spPr>
          <a:xfrm>
            <a:off x="1563480" y="373068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" name="Rectangle 54"/>
          <p:cNvSpPr/>
          <p:nvPr/>
        </p:nvSpPr>
        <p:spPr>
          <a:xfrm>
            <a:off x="1901880" y="373068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Rectangle 55"/>
          <p:cNvSpPr/>
          <p:nvPr/>
        </p:nvSpPr>
        <p:spPr>
          <a:xfrm>
            <a:off x="2240280" y="373068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Rectangle 56"/>
          <p:cNvSpPr/>
          <p:nvPr/>
        </p:nvSpPr>
        <p:spPr>
          <a:xfrm>
            <a:off x="2578680" y="373068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Rectangle 57"/>
          <p:cNvSpPr/>
          <p:nvPr/>
        </p:nvSpPr>
        <p:spPr>
          <a:xfrm>
            <a:off x="2917080" y="373068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Rectangle 58"/>
          <p:cNvSpPr/>
          <p:nvPr/>
        </p:nvSpPr>
        <p:spPr>
          <a:xfrm>
            <a:off x="3255120" y="373068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Rectangle 59"/>
          <p:cNvSpPr/>
          <p:nvPr/>
        </p:nvSpPr>
        <p:spPr>
          <a:xfrm>
            <a:off x="3593520" y="373068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Rectangle 60"/>
          <p:cNvSpPr/>
          <p:nvPr/>
        </p:nvSpPr>
        <p:spPr>
          <a:xfrm>
            <a:off x="548640" y="406908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Rectangle 61"/>
          <p:cNvSpPr/>
          <p:nvPr/>
        </p:nvSpPr>
        <p:spPr>
          <a:xfrm>
            <a:off x="887040" y="406908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Rectangle 62"/>
          <p:cNvSpPr/>
          <p:nvPr/>
        </p:nvSpPr>
        <p:spPr>
          <a:xfrm>
            <a:off x="1225440" y="406908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Rectangle 63"/>
          <p:cNvSpPr/>
          <p:nvPr/>
        </p:nvSpPr>
        <p:spPr>
          <a:xfrm>
            <a:off x="1563480" y="406908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" name="Rectangle 64"/>
          <p:cNvSpPr/>
          <p:nvPr/>
        </p:nvSpPr>
        <p:spPr>
          <a:xfrm>
            <a:off x="1901880" y="406908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Rectangle 65"/>
          <p:cNvSpPr/>
          <p:nvPr/>
        </p:nvSpPr>
        <p:spPr>
          <a:xfrm>
            <a:off x="2240280" y="406908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" name="Rectangle 66"/>
          <p:cNvSpPr/>
          <p:nvPr/>
        </p:nvSpPr>
        <p:spPr>
          <a:xfrm>
            <a:off x="2578680" y="406908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" name="Rectangle 67"/>
          <p:cNvSpPr/>
          <p:nvPr/>
        </p:nvSpPr>
        <p:spPr>
          <a:xfrm>
            <a:off x="2917080" y="406908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Rectangle 68"/>
          <p:cNvSpPr/>
          <p:nvPr/>
        </p:nvSpPr>
        <p:spPr>
          <a:xfrm>
            <a:off x="3255120" y="406908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" name="Rectangle 69"/>
          <p:cNvSpPr/>
          <p:nvPr/>
        </p:nvSpPr>
        <p:spPr>
          <a:xfrm>
            <a:off x="3593520" y="406908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Rectangle 70"/>
          <p:cNvSpPr/>
          <p:nvPr/>
        </p:nvSpPr>
        <p:spPr>
          <a:xfrm>
            <a:off x="548640" y="440748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Rectangle 71"/>
          <p:cNvSpPr/>
          <p:nvPr/>
        </p:nvSpPr>
        <p:spPr>
          <a:xfrm>
            <a:off x="887040" y="440748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Rectangle 72"/>
          <p:cNvSpPr/>
          <p:nvPr/>
        </p:nvSpPr>
        <p:spPr>
          <a:xfrm>
            <a:off x="1225440" y="440748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Rectangle 73"/>
          <p:cNvSpPr/>
          <p:nvPr/>
        </p:nvSpPr>
        <p:spPr>
          <a:xfrm>
            <a:off x="1563480" y="440748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Rectangle 74"/>
          <p:cNvSpPr/>
          <p:nvPr/>
        </p:nvSpPr>
        <p:spPr>
          <a:xfrm>
            <a:off x="1901880" y="440748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Rectangle 75"/>
          <p:cNvSpPr/>
          <p:nvPr/>
        </p:nvSpPr>
        <p:spPr>
          <a:xfrm>
            <a:off x="2240280" y="440748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Rectangle 76"/>
          <p:cNvSpPr/>
          <p:nvPr/>
        </p:nvSpPr>
        <p:spPr>
          <a:xfrm>
            <a:off x="2578680" y="440748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" name="Rectangle 77"/>
          <p:cNvSpPr/>
          <p:nvPr/>
        </p:nvSpPr>
        <p:spPr>
          <a:xfrm>
            <a:off x="2917080" y="440748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Rectangle 78"/>
          <p:cNvSpPr/>
          <p:nvPr/>
        </p:nvSpPr>
        <p:spPr>
          <a:xfrm>
            <a:off x="3255120" y="440748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0" name="Rectangle 79"/>
          <p:cNvSpPr/>
          <p:nvPr/>
        </p:nvSpPr>
        <p:spPr>
          <a:xfrm>
            <a:off x="3593520" y="440748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" name="Rectangle 80"/>
          <p:cNvSpPr/>
          <p:nvPr/>
        </p:nvSpPr>
        <p:spPr>
          <a:xfrm>
            <a:off x="548640" y="474588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Rectangle 81"/>
          <p:cNvSpPr/>
          <p:nvPr/>
        </p:nvSpPr>
        <p:spPr>
          <a:xfrm>
            <a:off x="887040" y="474588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3" name="Rectangle 82"/>
          <p:cNvSpPr/>
          <p:nvPr/>
        </p:nvSpPr>
        <p:spPr>
          <a:xfrm>
            <a:off x="1225440" y="474588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Rectangle 83"/>
          <p:cNvSpPr/>
          <p:nvPr/>
        </p:nvSpPr>
        <p:spPr>
          <a:xfrm>
            <a:off x="1563480" y="474588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Rectangle 84"/>
          <p:cNvSpPr/>
          <p:nvPr/>
        </p:nvSpPr>
        <p:spPr>
          <a:xfrm>
            <a:off x="1901880" y="474588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Rectangle 85"/>
          <p:cNvSpPr/>
          <p:nvPr/>
        </p:nvSpPr>
        <p:spPr>
          <a:xfrm>
            <a:off x="2240280" y="474588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Rectangle 86"/>
          <p:cNvSpPr/>
          <p:nvPr/>
        </p:nvSpPr>
        <p:spPr>
          <a:xfrm>
            <a:off x="2578680" y="474588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Rectangle 87"/>
          <p:cNvSpPr/>
          <p:nvPr/>
        </p:nvSpPr>
        <p:spPr>
          <a:xfrm>
            <a:off x="2917080" y="474588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" name="Rectangle 88"/>
          <p:cNvSpPr/>
          <p:nvPr/>
        </p:nvSpPr>
        <p:spPr>
          <a:xfrm>
            <a:off x="3255120" y="474588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Rectangle 89"/>
          <p:cNvSpPr/>
          <p:nvPr/>
        </p:nvSpPr>
        <p:spPr>
          <a:xfrm>
            <a:off x="3593520" y="474588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Rectangle 90"/>
          <p:cNvSpPr/>
          <p:nvPr/>
        </p:nvSpPr>
        <p:spPr>
          <a:xfrm>
            <a:off x="548640" y="508392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2" name="Rectangle 91"/>
          <p:cNvSpPr/>
          <p:nvPr/>
        </p:nvSpPr>
        <p:spPr>
          <a:xfrm>
            <a:off x="887040" y="508392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3" name="Rectangle 92"/>
          <p:cNvSpPr/>
          <p:nvPr/>
        </p:nvSpPr>
        <p:spPr>
          <a:xfrm>
            <a:off x="1225440" y="508392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Rectangle 93"/>
          <p:cNvSpPr/>
          <p:nvPr/>
        </p:nvSpPr>
        <p:spPr>
          <a:xfrm>
            <a:off x="1563480" y="508392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5" name="Rectangle 94"/>
          <p:cNvSpPr/>
          <p:nvPr/>
        </p:nvSpPr>
        <p:spPr>
          <a:xfrm>
            <a:off x="1901880" y="508392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Rectangle 95"/>
          <p:cNvSpPr/>
          <p:nvPr/>
        </p:nvSpPr>
        <p:spPr>
          <a:xfrm>
            <a:off x="2240280" y="508392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Rectangle 96"/>
          <p:cNvSpPr/>
          <p:nvPr/>
        </p:nvSpPr>
        <p:spPr>
          <a:xfrm>
            <a:off x="2578680" y="508392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8" name="Rectangle 97"/>
          <p:cNvSpPr/>
          <p:nvPr/>
        </p:nvSpPr>
        <p:spPr>
          <a:xfrm>
            <a:off x="2917080" y="508392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" name="Rectangle 98"/>
          <p:cNvSpPr/>
          <p:nvPr/>
        </p:nvSpPr>
        <p:spPr>
          <a:xfrm>
            <a:off x="3255120" y="508392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Rectangle 99"/>
          <p:cNvSpPr/>
          <p:nvPr/>
        </p:nvSpPr>
        <p:spPr>
          <a:xfrm>
            <a:off x="3593520" y="508392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Rectangle 100"/>
          <p:cNvSpPr/>
          <p:nvPr/>
        </p:nvSpPr>
        <p:spPr>
          <a:xfrm>
            <a:off x="548640" y="542232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Rectangle 101"/>
          <p:cNvSpPr/>
          <p:nvPr/>
        </p:nvSpPr>
        <p:spPr>
          <a:xfrm>
            <a:off x="887040" y="542232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3" name="Rectangle 102"/>
          <p:cNvSpPr/>
          <p:nvPr/>
        </p:nvSpPr>
        <p:spPr>
          <a:xfrm>
            <a:off x="1225440" y="542232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Rectangle 103"/>
          <p:cNvSpPr/>
          <p:nvPr/>
        </p:nvSpPr>
        <p:spPr>
          <a:xfrm>
            <a:off x="1563480" y="542232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5" name="Rectangle 104"/>
          <p:cNvSpPr/>
          <p:nvPr/>
        </p:nvSpPr>
        <p:spPr>
          <a:xfrm>
            <a:off x="1901880" y="542232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6" name="Rectangle 105"/>
          <p:cNvSpPr/>
          <p:nvPr/>
        </p:nvSpPr>
        <p:spPr>
          <a:xfrm>
            <a:off x="2240280" y="542232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7" name="Rectangle 106"/>
          <p:cNvSpPr/>
          <p:nvPr/>
        </p:nvSpPr>
        <p:spPr>
          <a:xfrm>
            <a:off x="2578680" y="542232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Rectangle 107"/>
          <p:cNvSpPr/>
          <p:nvPr/>
        </p:nvSpPr>
        <p:spPr>
          <a:xfrm>
            <a:off x="2917080" y="542232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Rectangle 108"/>
          <p:cNvSpPr/>
          <p:nvPr/>
        </p:nvSpPr>
        <p:spPr>
          <a:xfrm>
            <a:off x="3255120" y="542232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0" name="Rectangle 109"/>
          <p:cNvSpPr/>
          <p:nvPr/>
        </p:nvSpPr>
        <p:spPr>
          <a:xfrm>
            <a:off x="3593520" y="5422320"/>
            <a:ext cx="338040" cy="338040"/>
          </a:xfrm>
          <a:prstGeom prst="rect">
            <a:avLst/>
          </a:prstGeom>
          <a:solidFill>
            <a:srgbClr val="0A0F1A"/>
          </a:solidFill>
          <a:ln w="635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" name="TextBox 110"/>
          <p:cNvSpPr/>
          <p:nvPr/>
        </p:nvSpPr>
        <p:spPr>
          <a:xfrm>
            <a:off x="548640" y="5943600"/>
            <a:ext cx="3382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pc="249" strike="noStrike">
                <a:solidFill>
                  <a:srgbClr val="F87171"/>
                </a:solidFill>
                <a:effectLst/>
                <a:uFillTx/>
                <a:latin typeface="Inter"/>
              </a:rPr>
              <a:t>ALL-EMPTY BOARD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111"/>
          <p:cNvSpPr/>
          <p:nvPr/>
        </p:nvSpPr>
        <p:spPr>
          <a:xfrm>
            <a:off x="548640" y="6263640"/>
            <a:ext cx="3382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JetBrains Mono"/>
              </a:rPr>
              <a:t>hash(empty, salt) is still valid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112"/>
          <p:cNvSpPr/>
          <p:nvPr/>
        </p:nvSpPr>
        <p:spPr>
          <a:xfrm>
            <a:off x="4572000" y="2331720"/>
            <a:ext cx="7070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pc="249" strike="noStrike">
                <a:solidFill>
                  <a:srgbClr val="F87171"/>
                </a:solidFill>
                <a:effectLst/>
                <a:uFillTx/>
                <a:latin typeface="Inter"/>
              </a:rPr>
              <a:t>THE CHEAT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Oval 113"/>
          <p:cNvSpPr/>
          <p:nvPr/>
        </p:nvSpPr>
        <p:spPr>
          <a:xfrm>
            <a:off x="4572000" y="2853000"/>
            <a:ext cx="411120" cy="411120"/>
          </a:xfrm>
          <a:prstGeom prst="ellipse">
            <a:avLst/>
          </a:prstGeom>
          <a:solidFill>
            <a:srgbClr val="F871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" name="TextBox 114"/>
          <p:cNvSpPr/>
          <p:nvPr/>
        </p:nvSpPr>
        <p:spPr>
          <a:xfrm>
            <a:off x="4572000" y="286200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A0F1A"/>
                </a:solidFill>
                <a:effectLst/>
                <a:uFillTx/>
                <a:latin typeface="Inter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115"/>
          <p:cNvSpPr/>
          <p:nvPr/>
        </p:nvSpPr>
        <p:spPr>
          <a:xfrm>
            <a:off x="5212080" y="2825640"/>
            <a:ext cx="6430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8FAFC"/>
                </a:solidFill>
                <a:effectLst/>
                <a:uFillTx/>
                <a:latin typeface="Inter"/>
              </a:rPr>
              <a:t>Commit to an all-empty board.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116"/>
          <p:cNvSpPr/>
          <p:nvPr/>
        </p:nvSpPr>
        <p:spPr>
          <a:xfrm>
            <a:off x="5212080" y="3200400"/>
            <a:ext cx="6430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Inter"/>
              </a:rPr>
              <a:t>hash is valid. nothing in the scheme says you need ships.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Oval 117"/>
          <p:cNvSpPr/>
          <p:nvPr/>
        </p:nvSpPr>
        <p:spPr>
          <a:xfrm>
            <a:off x="4572000" y="3630240"/>
            <a:ext cx="411120" cy="411120"/>
          </a:xfrm>
          <a:prstGeom prst="ellipse">
            <a:avLst/>
          </a:prstGeom>
          <a:solidFill>
            <a:srgbClr val="F871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9" name="TextBox 118"/>
          <p:cNvSpPr/>
          <p:nvPr/>
        </p:nvSpPr>
        <p:spPr>
          <a:xfrm>
            <a:off x="4572000" y="363924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A0F1A"/>
                </a:solidFill>
                <a:effectLst/>
                <a:uFillTx/>
                <a:latin typeface="Inter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119"/>
          <p:cNvSpPr/>
          <p:nvPr/>
        </p:nvSpPr>
        <p:spPr>
          <a:xfrm>
            <a:off x="5212080" y="3602880"/>
            <a:ext cx="6430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8FAFC"/>
                </a:solidFill>
                <a:effectLst/>
                <a:uFillTx/>
                <a:latin typeface="Inter"/>
              </a:rPr>
              <a:t>Opponent fires at (3, 5).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Box 120"/>
          <p:cNvSpPr/>
          <p:nvPr/>
        </p:nvSpPr>
        <p:spPr>
          <a:xfrm>
            <a:off x="5212080" y="3977640"/>
            <a:ext cx="6430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Inter"/>
              </a:rPr>
              <a:t>you answer MISS. truthfully. there is nothing there.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Oval 121"/>
          <p:cNvSpPr/>
          <p:nvPr/>
        </p:nvSpPr>
        <p:spPr>
          <a:xfrm>
            <a:off x="4572000" y="4407480"/>
            <a:ext cx="411120" cy="411120"/>
          </a:xfrm>
          <a:prstGeom prst="ellipse">
            <a:avLst/>
          </a:prstGeom>
          <a:solidFill>
            <a:srgbClr val="F871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3" name="TextBox 122"/>
          <p:cNvSpPr/>
          <p:nvPr/>
        </p:nvSpPr>
        <p:spPr>
          <a:xfrm>
            <a:off x="4572000" y="441648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A0F1A"/>
                </a:solidFill>
                <a:effectLst/>
                <a:uFillTx/>
                <a:latin typeface="Inter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Box 123"/>
          <p:cNvSpPr/>
          <p:nvPr/>
        </p:nvSpPr>
        <p:spPr>
          <a:xfrm>
            <a:off x="5212080" y="4380120"/>
            <a:ext cx="6430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8FAFC"/>
                </a:solidFill>
                <a:effectLst/>
                <a:uFillTx/>
                <a:latin typeface="Inter"/>
              </a:rPr>
              <a:t>Every shot is a miss.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Box 124"/>
          <p:cNvSpPr/>
          <p:nvPr/>
        </p:nvSpPr>
        <p:spPr>
          <a:xfrm>
            <a:off x="5212080" y="4754880"/>
            <a:ext cx="6430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Inter"/>
              </a:rPr>
              <a:t>you never lose a cell. you never take damage.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Oval 125"/>
          <p:cNvSpPr/>
          <p:nvPr/>
        </p:nvSpPr>
        <p:spPr>
          <a:xfrm>
            <a:off x="4572000" y="5184720"/>
            <a:ext cx="411120" cy="411120"/>
          </a:xfrm>
          <a:prstGeom prst="ellipse">
            <a:avLst/>
          </a:prstGeom>
          <a:solidFill>
            <a:srgbClr val="F871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7" name="TextBox 126"/>
          <p:cNvSpPr/>
          <p:nvPr/>
        </p:nvSpPr>
        <p:spPr>
          <a:xfrm>
            <a:off x="4572000" y="519372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A0F1A"/>
                </a:solidFill>
                <a:effectLst/>
                <a:uFillTx/>
                <a:latin typeface="Inter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Box 127"/>
          <p:cNvSpPr/>
          <p:nvPr/>
        </p:nvSpPr>
        <p:spPr>
          <a:xfrm>
            <a:off x="5212080" y="5157360"/>
            <a:ext cx="6430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8FAFC"/>
                </a:solidFill>
                <a:effectLst/>
                <a:uFillTx/>
                <a:latin typeface="Inter"/>
              </a:rPr>
              <a:t>You win by elimination.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128"/>
          <p:cNvSpPr/>
          <p:nvPr/>
        </p:nvSpPr>
        <p:spPr>
          <a:xfrm>
            <a:off x="5212080" y="5532120"/>
            <a:ext cx="6430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Inter"/>
              </a:rPr>
              <a:t>hash commitments alone cannot stop this.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A0F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TextBox 2"/>
          <p:cNvSpPr/>
          <p:nvPr/>
        </p:nvSpPr>
        <p:spPr>
          <a:xfrm>
            <a:off x="548640" y="82296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pc="300" strike="noStrike">
                <a:solidFill>
                  <a:srgbClr val="38BDF8"/>
                </a:solidFill>
                <a:effectLst/>
                <a:uFillTx/>
                <a:latin typeface="Inter"/>
              </a:rPr>
              <a:t>03  ·  THE FIX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Box 3"/>
          <p:cNvSpPr/>
          <p:nvPr/>
        </p:nvSpPr>
        <p:spPr>
          <a:xfrm>
            <a:off x="548640" y="114300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F8FAFC"/>
                </a:solidFill>
                <a:effectLst/>
                <a:uFillTx/>
                <a:latin typeface="Inter"/>
              </a:rPr>
              <a:t>Prove legality, in zero knowledge.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Rectangle 4"/>
          <p:cNvSpPr/>
          <p:nvPr/>
        </p:nvSpPr>
        <p:spPr>
          <a:xfrm>
            <a:off x="548640" y="1920240"/>
            <a:ext cx="1005480" cy="37800"/>
          </a:xfrm>
          <a:prstGeom prst="rect">
            <a:avLst/>
          </a:prstGeom>
          <a:solidFill>
            <a:srgbClr val="F973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4" name="TextBox 5"/>
          <p:cNvSpPr/>
          <p:nvPr/>
        </p:nvSpPr>
        <p:spPr>
          <a:xfrm>
            <a:off x="54864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JetBrains Mono"/>
              </a:rPr>
              <a:t>battleship</a:t>
            </a:r>
            <a:r>
              <a:rPr lang="en-US" sz="1000" b="1" u="none" strike="noStrike">
                <a:solidFill>
                  <a:srgbClr val="F97316"/>
                </a:solidFill>
                <a:effectLst/>
                <a:uFillTx/>
                <a:latin typeface="JetBrains Mono"/>
              </a:rPr>
              <a:t>.zk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Rectangle 6"/>
          <p:cNvSpPr/>
          <p:nvPr/>
        </p:nvSpPr>
        <p:spPr>
          <a:xfrm>
            <a:off x="548640" y="6720840"/>
            <a:ext cx="11094120" cy="37800"/>
          </a:xfrm>
          <a:prstGeom prst="rect">
            <a:avLst/>
          </a:prstGeom>
          <a:solidFill>
            <a:srgbClr val="27344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6" name="Rectangle 7"/>
          <p:cNvSpPr/>
          <p:nvPr/>
        </p:nvSpPr>
        <p:spPr>
          <a:xfrm>
            <a:off x="548640" y="6720840"/>
            <a:ext cx="4930560" cy="37800"/>
          </a:xfrm>
          <a:prstGeom prst="rect">
            <a:avLst/>
          </a:prstGeom>
          <a:solidFill>
            <a:srgbClr val="F973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7" name="TextBox 8"/>
          <p:cNvSpPr/>
          <p:nvPr/>
        </p:nvSpPr>
        <p:spPr>
          <a:xfrm>
            <a:off x="10545840" y="64008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JetBrains Mono"/>
              </a:rPr>
              <a:t>04 / 09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9"/>
          <p:cNvSpPr/>
          <p:nvPr/>
        </p:nvSpPr>
        <p:spPr>
          <a:xfrm>
            <a:off x="548640" y="2651760"/>
            <a:ext cx="110941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97316"/>
                </a:solidFill>
                <a:effectLst/>
                <a:uFillTx/>
                <a:latin typeface="Inter"/>
              </a:rPr>
              <a:t>The proof IS the validity certificate.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10"/>
          <p:cNvSpPr/>
          <p:nvPr/>
        </p:nvSpPr>
        <p:spPr>
          <a:xfrm>
            <a:off x="548640" y="3886200"/>
            <a:ext cx="1109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8FAFC"/>
                </a:solidFill>
                <a:effectLst/>
                <a:uFillTx/>
                <a:latin typeface="Inter"/>
              </a:rPr>
              <a:t>One zk-SNARK, generated in the browser before the first shot.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Box 11"/>
          <p:cNvSpPr/>
          <p:nvPr/>
        </p:nvSpPr>
        <p:spPr>
          <a:xfrm>
            <a:off x="548640" y="4297680"/>
            <a:ext cx="1109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Inter"/>
              </a:rPr>
              <a:t>Verified once on-chain. No ship-count lies survive.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Rounded Rectangle 12"/>
          <p:cNvSpPr/>
          <p:nvPr/>
        </p:nvSpPr>
        <p:spPr>
          <a:xfrm>
            <a:off x="548640" y="5074920"/>
            <a:ext cx="11094120" cy="1005480"/>
          </a:xfrm>
          <a:prstGeom prst="roundRect">
            <a:avLst>
              <a:gd name="adj" fmla="val 18000"/>
            </a:avLst>
          </a:prstGeom>
          <a:solidFill>
            <a:srgbClr val="1B2942"/>
          </a:solidFill>
          <a:ln w="1270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2" name="TextBox 13"/>
          <p:cNvSpPr/>
          <p:nvPr/>
        </p:nvSpPr>
        <p:spPr>
          <a:xfrm>
            <a:off x="868680" y="5239440"/>
            <a:ext cx="1045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pc="249" strike="noStrike">
                <a:solidFill>
                  <a:srgbClr val="38BDF8"/>
                </a:solidFill>
                <a:effectLst/>
                <a:uFillTx/>
                <a:latin typeface="Inter"/>
              </a:rPr>
              <a:t>THE FLEET CONSTRAINT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14"/>
          <p:cNvSpPr/>
          <p:nvPr/>
        </p:nvSpPr>
        <p:spPr>
          <a:xfrm>
            <a:off x="868680" y="5532120"/>
            <a:ext cx="10454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JetBrains Mono"/>
              </a:rPr>
              <a:t>17 cells  -  1x5  -  1x4  -  2x3  -  1x2  -  no overlaps  -  no diagonals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A0F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5" name="TextBox 2"/>
          <p:cNvSpPr/>
          <p:nvPr/>
        </p:nvSpPr>
        <p:spPr>
          <a:xfrm>
            <a:off x="548640" y="82296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pc="300" strike="noStrike">
                <a:solidFill>
                  <a:srgbClr val="38BDF8"/>
                </a:solidFill>
                <a:effectLst/>
                <a:uFillTx/>
                <a:latin typeface="Inter"/>
              </a:rPr>
              <a:t>04  ·  THE STACK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Box 3"/>
          <p:cNvSpPr/>
          <p:nvPr/>
        </p:nvSpPr>
        <p:spPr>
          <a:xfrm>
            <a:off x="548640" y="114300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F8FAFC"/>
                </a:solidFill>
                <a:effectLst/>
                <a:uFillTx/>
                <a:latin typeface="Inter"/>
              </a:rPr>
              <a:t>Noir + UltraHonk.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Rectangle 4"/>
          <p:cNvSpPr/>
          <p:nvPr/>
        </p:nvSpPr>
        <p:spPr>
          <a:xfrm>
            <a:off x="548640" y="1920240"/>
            <a:ext cx="1005480" cy="37800"/>
          </a:xfrm>
          <a:prstGeom prst="rect">
            <a:avLst/>
          </a:prstGeom>
          <a:solidFill>
            <a:srgbClr val="F973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8" name="TextBox 5"/>
          <p:cNvSpPr/>
          <p:nvPr/>
        </p:nvSpPr>
        <p:spPr>
          <a:xfrm>
            <a:off x="54864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JetBrains Mono"/>
              </a:rPr>
              <a:t>battleship</a:t>
            </a:r>
            <a:r>
              <a:rPr lang="en-US" sz="1000" b="1" u="none" strike="noStrike">
                <a:solidFill>
                  <a:srgbClr val="F97316"/>
                </a:solidFill>
                <a:effectLst/>
                <a:uFillTx/>
                <a:latin typeface="JetBrains Mono"/>
              </a:rPr>
              <a:t>.zk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Rectangle 6"/>
          <p:cNvSpPr/>
          <p:nvPr/>
        </p:nvSpPr>
        <p:spPr>
          <a:xfrm>
            <a:off x="548640" y="6720840"/>
            <a:ext cx="11094120" cy="37800"/>
          </a:xfrm>
          <a:prstGeom prst="rect">
            <a:avLst/>
          </a:prstGeom>
          <a:solidFill>
            <a:srgbClr val="27344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0" name="Rectangle 7"/>
          <p:cNvSpPr/>
          <p:nvPr/>
        </p:nvSpPr>
        <p:spPr>
          <a:xfrm>
            <a:off x="548640" y="6720840"/>
            <a:ext cx="6163200" cy="37800"/>
          </a:xfrm>
          <a:prstGeom prst="rect">
            <a:avLst/>
          </a:prstGeom>
          <a:solidFill>
            <a:srgbClr val="F973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1" name="TextBox 8"/>
          <p:cNvSpPr/>
          <p:nvPr/>
        </p:nvSpPr>
        <p:spPr>
          <a:xfrm>
            <a:off x="10545840" y="64008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JetBrains Mono"/>
              </a:rPr>
              <a:t>05 / 09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Rounded Rectangle 9"/>
          <p:cNvSpPr/>
          <p:nvPr/>
        </p:nvSpPr>
        <p:spPr>
          <a:xfrm>
            <a:off x="548640" y="2331720"/>
            <a:ext cx="5409720" cy="1737000"/>
          </a:xfrm>
          <a:prstGeom prst="roundRect">
            <a:avLst>
              <a:gd name="adj" fmla="val 10000"/>
            </a:avLst>
          </a:prstGeom>
          <a:solidFill>
            <a:srgbClr val="1B2942"/>
          </a:solidFill>
          <a:ln w="1270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3" name="TextBox 10"/>
          <p:cNvSpPr/>
          <p:nvPr/>
        </p:nvSpPr>
        <p:spPr>
          <a:xfrm>
            <a:off x="822960" y="2560320"/>
            <a:ext cx="4861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pc="201" strike="noStrike">
                <a:solidFill>
                  <a:srgbClr val="F97316"/>
                </a:solidFill>
                <a:effectLst/>
                <a:uFillTx/>
                <a:latin typeface="JetBrains Mono"/>
              </a:rPr>
              <a:t>NOIR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Box 11"/>
          <p:cNvSpPr/>
          <p:nvPr/>
        </p:nvSpPr>
        <p:spPr>
          <a:xfrm>
            <a:off x="822960" y="2880360"/>
            <a:ext cx="4861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8FAFC"/>
                </a:solidFill>
                <a:effectLst/>
                <a:uFillTx/>
                <a:latin typeface="Inter"/>
              </a:rPr>
              <a:t>Rust-like zk DSL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Box 12"/>
          <p:cNvSpPr/>
          <p:nvPr/>
        </p:nvSpPr>
        <p:spPr>
          <a:xfrm>
            <a:off x="822960" y="3291840"/>
            <a:ext cx="48610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Inter"/>
              </a:rPr>
              <a:t>Readable circuits.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Inter"/>
              </a:rPr>
              <a:t>Compiles to arithmetic constraints.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Inter"/>
              </a:rPr>
              <a:t>WASM prover runs in the browser.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Rounded Rectangle 13"/>
          <p:cNvSpPr/>
          <p:nvPr/>
        </p:nvSpPr>
        <p:spPr>
          <a:xfrm>
            <a:off x="6233040" y="2331720"/>
            <a:ext cx="5409720" cy="1737000"/>
          </a:xfrm>
          <a:prstGeom prst="roundRect">
            <a:avLst>
              <a:gd name="adj" fmla="val 10000"/>
            </a:avLst>
          </a:prstGeom>
          <a:solidFill>
            <a:srgbClr val="1B2942"/>
          </a:solidFill>
          <a:ln w="1270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7" name="TextBox 14"/>
          <p:cNvSpPr/>
          <p:nvPr/>
        </p:nvSpPr>
        <p:spPr>
          <a:xfrm>
            <a:off x="6507360" y="2560320"/>
            <a:ext cx="4861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pc="201" strike="noStrike">
                <a:solidFill>
                  <a:srgbClr val="F97316"/>
                </a:solidFill>
                <a:effectLst/>
                <a:uFillTx/>
                <a:latin typeface="JetBrains Mono"/>
              </a:rPr>
              <a:t>ULTRAHONK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Box 15"/>
          <p:cNvSpPr/>
          <p:nvPr/>
        </p:nvSpPr>
        <p:spPr>
          <a:xfrm>
            <a:off x="6507360" y="2880360"/>
            <a:ext cx="4861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8FAFC"/>
                </a:solidFill>
                <a:effectLst/>
                <a:uFillTx/>
                <a:latin typeface="Inter"/>
              </a:rPr>
              <a:t>PLONK-family backend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Box 16"/>
          <p:cNvSpPr/>
          <p:nvPr/>
        </p:nvSpPr>
        <p:spPr>
          <a:xfrm>
            <a:off x="6507360" y="3291840"/>
            <a:ext cx="48610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Inter"/>
              </a:rPr>
              <a:t>Aztec's modern proof system.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Inter"/>
              </a:rPr>
              <a:t>No trusted setup ceremony.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Inter"/>
              </a:rPr>
              <a:t>No powers-of-tau, no toxic waste.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Rounded Rectangle 17"/>
          <p:cNvSpPr/>
          <p:nvPr/>
        </p:nvSpPr>
        <p:spPr>
          <a:xfrm>
            <a:off x="548640" y="4343400"/>
            <a:ext cx="5409720" cy="1737000"/>
          </a:xfrm>
          <a:prstGeom prst="roundRect">
            <a:avLst>
              <a:gd name="adj" fmla="val 10000"/>
            </a:avLst>
          </a:prstGeom>
          <a:solidFill>
            <a:srgbClr val="1B2942"/>
          </a:solidFill>
          <a:ln w="1270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1" name="TextBox 18"/>
          <p:cNvSpPr/>
          <p:nvPr/>
        </p:nvSpPr>
        <p:spPr>
          <a:xfrm>
            <a:off x="822960" y="4572000"/>
            <a:ext cx="4861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pc="201" strike="noStrike">
                <a:solidFill>
                  <a:srgbClr val="F97316"/>
                </a:solidFill>
                <a:effectLst/>
                <a:uFillTx/>
                <a:latin typeface="JetBrains Mono"/>
              </a:rPr>
              <a:t>PEDERSEN HASH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Box 19"/>
          <p:cNvSpPr/>
          <p:nvPr/>
        </p:nvSpPr>
        <p:spPr>
          <a:xfrm>
            <a:off x="822960" y="4892040"/>
            <a:ext cx="4861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8FAFC"/>
                </a:solidFill>
                <a:effectLst/>
                <a:uFillTx/>
                <a:latin typeface="Inter"/>
              </a:rPr>
              <a:t>In-circuit commitment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Box 20"/>
          <p:cNvSpPr/>
          <p:nvPr/>
        </p:nvSpPr>
        <p:spPr>
          <a:xfrm>
            <a:off x="822960" y="5303520"/>
            <a:ext cx="48610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Inter"/>
              </a:rPr>
              <a:t>Cheap to compute inside zk.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Inter"/>
              </a:rPr>
              <a:t>Binds 100 cells + salt.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Inter"/>
              </a:rPr>
              <a:t>One field element, used as the board commit.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Rounded Rectangle 21"/>
          <p:cNvSpPr/>
          <p:nvPr/>
        </p:nvSpPr>
        <p:spPr>
          <a:xfrm>
            <a:off x="6233040" y="4343400"/>
            <a:ext cx="5409720" cy="1737000"/>
          </a:xfrm>
          <a:prstGeom prst="roundRect">
            <a:avLst>
              <a:gd name="adj" fmla="val 10000"/>
            </a:avLst>
          </a:prstGeom>
          <a:solidFill>
            <a:srgbClr val="1B2942"/>
          </a:solidFill>
          <a:ln w="1270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5" name="TextBox 22"/>
          <p:cNvSpPr/>
          <p:nvPr/>
        </p:nvSpPr>
        <p:spPr>
          <a:xfrm>
            <a:off x="6507360" y="4572000"/>
            <a:ext cx="4861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pc="201" strike="noStrike">
                <a:solidFill>
                  <a:srgbClr val="F97316"/>
                </a:solidFill>
                <a:effectLst/>
                <a:uFillTx/>
                <a:latin typeface="JetBrains Mono"/>
              </a:rPr>
              <a:t>HONKVERIFIER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Box 23"/>
          <p:cNvSpPr/>
          <p:nvPr/>
        </p:nvSpPr>
        <p:spPr>
          <a:xfrm>
            <a:off x="6507360" y="4892040"/>
            <a:ext cx="4861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8FAFC"/>
                </a:solidFill>
                <a:effectLst/>
                <a:uFillTx/>
                <a:latin typeface="Inter"/>
              </a:rPr>
              <a:t>Auto-generated Solidity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Box 24"/>
          <p:cNvSpPr/>
          <p:nvPr/>
        </p:nvSpPr>
        <p:spPr>
          <a:xfrm>
            <a:off x="6507360" y="5303520"/>
            <a:ext cx="48610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Inter"/>
              </a:rPr>
              <a:t>~2,460 lines of verifier.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Inter"/>
              </a:rPr>
              <a:t>~250k gas per verify call.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Inter"/>
              </a:rPr>
              <a:t>Dropped straight into the repo.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A0F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9" name="TextBox 2"/>
          <p:cNvSpPr/>
          <p:nvPr/>
        </p:nvSpPr>
        <p:spPr>
          <a:xfrm>
            <a:off x="548640" y="82296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pc="300" strike="noStrike">
                <a:solidFill>
                  <a:srgbClr val="38BDF8"/>
                </a:solidFill>
                <a:effectLst/>
                <a:uFillTx/>
                <a:latin typeface="Inter"/>
              </a:rPr>
              <a:t>05  ·  ARCHITECTURE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Box 3"/>
          <p:cNvSpPr/>
          <p:nvPr/>
        </p:nvSpPr>
        <p:spPr>
          <a:xfrm>
            <a:off x="548640" y="114300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F8FAFC"/>
                </a:solidFill>
                <a:effectLst/>
                <a:uFillTx/>
                <a:latin typeface="Inter"/>
              </a:rPr>
              <a:t>Browser proves. Chain verifies.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Rectangle 4"/>
          <p:cNvSpPr/>
          <p:nvPr/>
        </p:nvSpPr>
        <p:spPr>
          <a:xfrm>
            <a:off x="548640" y="1920240"/>
            <a:ext cx="1005480" cy="37800"/>
          </a:xfrm>
          <a:prstGeom prst="rect">
            <a:avLst/>
          </a:prstGeom>
          <a:solidFill>
            <a:srgbClr val="F973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2" name="TextBox 5"/>
          <p:cNvSpPr/>
          <p:nvPr/>
        </p:nvSpPr>
        <p:spPr>
          <a:xfrm>
            <a:off x="54864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JetBrains Mono"/>
              </a:rPr>
              <a:t>battleship</a:t>
            </a:r>
            <a:r>
              <a:rPr lang="en-US" sz="1000" b="1" u="none" strike="noStrike">
                <a:solidFill>
                  <a:srgbClr val="F97316"/>
                </a:solidFill>
                <a:effectLst/>
                <a:uFillTx/>
                <a:latin typeface="JetBrains Mono"/>
              </a:rPr>
              <a:t>.zk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Rectangle 6"/>
          <p:cNvSpPr/>
          <p:nvPr/>
        </p:nvSpPr>
        <p:spPr>
          <a:xfrm>
            <a:off x="548640" y="6720840"/>
            <a:ext cx="11094120" cy="37800"/>
          </a:xfrm>
          <a:prstGeom prst="rect">
            <a:avLst/>
          </a:prstGeom>
          <a:solidFill>
            <a:srgbClr val="27344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4" name="Rectangle 7"/>
          <p:cNvSpPr/>
          <p:nvPr/>
        </p:nvSpPr>
        <p:spPr>
          <a:xfrm>
            <a:off x="548640" y="6720840"/>
            <a:ext cx="7395840" cy="37800"/>
          </a:xfrm>
          <a:prstGeom prst="rect">
            <a:avLst/>
          </a:prstGeom>
          <a:solidFill>
            <a:srgbClr val="F973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5" name="TextBox 8"/>
          <p:cNvSpPr/>
          <p:nvPr/>
        </p:nvSpPr>
        <p:spPr>
          <a:xfrm>
            <a:off x="10545840" y="64008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JetBrains Mono"/>
              </a:rPr>
              <a:t>06 / 09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Rounded Rectangle 9"/>
          <p:cNvSpPr/>
          <p:nvPr/>
        </p:nvSpPr>
        <p:spPr>
          <a:xfrm>
            <a:off x="548640" y="2514600"/>
            <a:ext cx="1691280" cy="1279800"/>
          </a:xfrm>
          <a:prstGeom prst="roundRect">
            <a:avLst>
              <a:gd name="adj" fmla="val 22000"/>
            </a:avLst>
          </a:prstGeom>
          <a:solidFill>
            <a:srgbClr val="1B2942"/>
          </a:solidFill>
          <a:ln w="1270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7" name="TextBox 10"/>
          <p:cNvSpPr/>
          <p:nvPr/>
        </p:nvSpPr>
        <p:spPr>
          <a:xfrm>
            <a:off x="685800" y="260604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pc="150" strike="noStrike">
                <a:solidFill>
                  <a:srgbClr val="F97316"/>
                </a:solidFill>
                <a:effectLst/>
                <a:uFillTx/>
                <a:latin typeface="JetBrains Mono"/>
              </a:rPr>
              <a:t>FLEET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Box 11"/>
          <p:cNvSpPr/>
          <p:nvPr/>
        </p:nvSpPr>
        <p:spPr>
          <a:xfrm>
            <a:off x="685800" y="2926080"/>
            <a:ext cx="1416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8FAFC"/>
                </a:solidFill>
                <a:effectLst/>
                <a:uFillTx/>
                <a:latin typeface="Inter"/>
              </a:rPr>
              <a:t>Fleet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12"/>
          <p:cNvSpPr/>
          <p:nvPr/>
        </p:nvSpPr>
        <p:spPr>
          <a:xfrm>
            <a:off x="685800" y="3355920"/>
            <a:ext cx="1416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JetBrains Mono"/>
              </a:rPr>
              <a:t>private[100]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Rounded Rectangle 13"/>
          <p:cNvSpPr/>
          <p:nvPr/>
        </p:nvSpPr>
        <p:spPr>
          <a:xfrm>
            <a:off x="2429280" y="2514600"/>
            <a:ext cx="1691280" cy="1279800"/>
          </a:xfrm>
          <a:prstGeom prst="roundRect">
            <a:avLst>
              <a:gd name="adj" fmla="val 22000"/>
            </a:avLst>
          </a:prstGeom>
          <a:solidFill>
            <a:srgbClr val="1B2942"/>
          </a:solidFill>
          <a:ln w="1270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1" name="TextBox 14"/>
          <p:cNvSpPr/>
          <p:nvPr/>
        </p:nvSpPr>
        <p:spPr>
          <a:xfrm>
            <a:off x="2566440" y="260604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pc="150" strike="noStrike">
                <a:solidFill>
                  <a:srgbClr val="F97316"/>
                </a:solidFill>
                <a:effectLst/>
                <a:uFillTx/>
                <a:latin typeface="JetBrains Mono"/>
              </a:rPr>
              <a:t>PED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Box 15"/>
          <p:cNvSpPr/>
          <p:nvPr/>
        </p:nvSpPr>
        <p:spPr>
          <a:xfrm>
            <a:off x="2566440" y="2926080"/>
            <a:ext cx="1416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8FAFC"/>
                </a:solidFill>
                <a:effectLst/>
                <a:uFillTx/>
                <a:latin typeface="Inter"/>
              </a:rPr>
              <a:t>Pedersen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Box 16"/>
          <p:cNvSpPr/>
          <p:nvPr/>
        </p:nvSpPr>
        <p:spPr>
          <a:xfrm>
            <a:off x="2566440" y="3355920"/>
            <a:ext cx="1416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JetBrains Mono"/>
              </a:rPr>
              <a:t>hash → commit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Rounded Rectangle 17"/>
          <p:cNvSpPr/>
          <p:nvPr/>
        </p:nvSpPr>
        <p:spPr>
          <a:xfrm>
            <a:off x="4309920" y="2514600"/>
            <a:ext cx="1691280" cy="1279800"/>
          </a:xfrm>
          <a:prstGeom prst="roundRect">
            <a:avLst>
              <a:gd name="adj" fmla="val 22000"/>
            </a:avLst>
          </a:prstGeom>
          <a:solidFill>
            <a:srgbClr val="1B2942"/>
          </a:solidFill>
          <a:ln w="1270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5" name="TextBox 18"/>
          <p:cNvSpPr/>
          <p:nvPr/>
        </p:nvSpPr>
        <p:spPr>
          <a:xfrm>
            <a:off x="4447080" y="260604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pc="150" strike="noStrike">
                <a:solidFill>
                  <a:srgbClr val="F97316"/>
                </a:solidFill>
                <a:effectLst/>
                <a:uFillTx/>
                <a:latin typeface="JetBrains Mono"/>
              </a:rPr>
              <a:t>NOIR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Box 19"/>
          <p:cNvSpPr/>
          <p:nvPr/>
        </p:nvSpPr>
        <p:spPr>
          <a:xfrm>
            <a:off x="4447080" y="2926080"/>
            <a:ext cx="1416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8FAFC"/>
                </a:solidFill>
                <a:effectLst/>
                <a:uFillTx/>
                <a:latin typeface="Inter"/>
              </a:rPr>
              <a:t>Noir circuit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Box 20"/>
          <p:cNvSpPr/>
          <p:nvPr/>
        </p:nvSpPr>
        <p:spPr>
          <a:xfrm>
            <a:off x="4447080" y="3355920"/>
            <a:ext cx="1416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JetBrains Mono"/>
              </a:rPr>
              <a:t>board_validity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Rounded Rectangle 21"/>
          <p:cNvSpPr/>
          <p:nvPr/>
        </p:nvSpPr>
        <p:spPr>
          <a:xfrm>
            <a:off x="6190200" y="2514600"/>
            <a:ext cx="1691280" cy="1279800"/>
          </a:xfrm>
          <a:prstGeom prst="roundRect">
            <a:avLst>
              <a:gd name="adj" fmla="val 22000"/>
            </a:avLst>
          </a:prstGeom>
          <a:solidFill>
            <a:srgbClr val="1B2942"/>
          </a:solidFill>
          <a:ln w="1270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9" name="TextBox 22"/>
          <p:cNvSpPr/>
          <p:nvPr/>
        </p:nvSpPr>
        <p:spPr>
          <a:xfrm>
            <a:off x="6327360" y="260604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pc="150" strike="noStrike">
                <a:solidFill>
                  <a:srgbClr val="F97316"/>
                </a:solidFill>
                <a:effectLst/>
                <a:uFillTx/>
                <a:latin typeface="JetBrains Mono"/>
              </a:rPr>
              <a:t>HONK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23"/>
          <p:cNvSpPr/>
          <p:nvPr/>
        </p:nvSpPr>
        <p:spPr>
          <a:xfrm>
            <a:off x="6327360" y="2926080"/>
            <a:ext cx="1416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8FAFC"/>
                </a:solidFill>
                <a:effectLst/>
                <a:uFillTx/>
                <a:latin typeface="Inter"/>
              </a:rPr>
              <a:t>UltraHonk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Box 24"/>
          <p:cNvSpPr/>
          <p:nvPr/>
        </p:nvSpPr>
        <p:spPr>
          <a:xfrm>
            <a:off x="6327360" y="3355920"/>
            <a:ext cx="1416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JetBrains Mono"/>
              </a:rPr>
              <a:t>proof blob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Rounded Rectangle 25"/>
          <p:cNvSpPr/>
          <p:nvPr/>
        </p:nvSpPr>
        <p:spPr>
          <a:xfrm>
            <a:off x="8070840" y="2514600"/>
            <a:ext cx="1691280" cy="1279800"/>
          </a:xfrm>
          <a:prstGeom prst="roundRect">
            <a:avLst>
              <a:gd name="adj" fmla="val 22000"/>
            </a:avLst>
          </a:prstGeom>
          <a:solidFill>
            <a:srgbClr val="1B2942"/>
          </a:solidFill>
          <a:ln w="1270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3" name="TextBox 26"/>
          <p:cNvSpPr/>
          <p:nvPr/>
        </p:nvSpPr>
        <p:spPr>
          <a:xfrm>
            <a:off x="8208000" y="260604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pc="150" strike="noStrike">
                <a:solidFill>
                  <a:srgbClr val="F97316"/>
                </a:solidFill>
                <a:effectLst/>
                <a:uFillTx/>
                <a:latin typeface="JetBrains Mono"/>
              </a:rPr>
              <a:t>SOL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Box 27"/>
          <p:cNvSpPr/>
          <p:nvPr/>
        </p:nvSpPr>
        <p:spPr>
          <a:xfrm>
            <a:off x="8208000" y="2926080"/>
            <a:ext cx="1416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8FAFC"/>
                </a:solidFill>
                <a:effectLst/>
                <a:uFillTx/>
                <a:latin typeface="Inter"/>
              </a:rPr>
              <a:t>HonkVerifier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Box 28"/>
          <p:cNvSpPr/>
          <p:nvPr/>
        </p:nvSpPr>
        <p:spPr>
          <a:xfrm>
            <a:off x="8208000" y="3355920"/>
            <a:ext cx="1416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JetBrains Mono"/>
              </a:rPr>
              <a:t>Solidity verify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Rounded Rectangle 29"/>
          <p:cNvSpPr/>
          <p:nvPr/>
        </p:nvSpPr>
        <p:spPr>
          <a:xfrm>
            <a:off x="9951480" y="2514600"/>
            <a:ext cx="1691280" cy="1279800"/>
          </a:xfrm>
          <a:prstGeom prst="roundRect">
            <a:avLst>
              <a:gd name="adj" fmla="val 22000"/>
            </a:avLst>
          </a:prstGeom>
          <a:solidFill>
            <a:srgbClr val="1B2942"/>
          </a:solidFill>
          <a:ln w="12700">
            <a:solidFill>
              <a:srgbClr val="27344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7" name="TextBox 30"/>
          <p:cNvSpPr/>
          <p:nvPr/>
        </p:nvSpPr>
        <p:spPr>
          <a:xfrm>
            <a:off x="10088640" y="260604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pc="150" strike="noStrike">
                <a:solidFill>
                  <a:srgbClr val="F97316"/>
                </a:solidFill>
                <a:effectLst/>
                <a:uFillTx/>
                <a:latin typeface="JetBrains Mono"/>
              </a:rPr>
              <a:t>GAME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Box 31"/>
          <p:cNvSpPr/>
          <p:nvPr/>
        </p:nvSpPr>
        <p:spPr>
          <a:xfrm>
            <a:off x="10088640" y="2926080"/>
            <a:ext cx="1416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8FAFC"/>
                </a:solidFill>
                <a:effectLst/>
                <a:uFillTx/>
                <a:latin typeface="Inter"/>
              </a:rPr>
              <a:t>BattleshipGame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Box 32"/>
          <p:cNvSpPr/>
          <p:nvPr/>
        </p:nvSpPr>
        <p:spPr>
          <a:xfrm>
            <a:off x="10088640" y="3355920"/>
            <a:ext cx="1416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JetBrains Mono"/>
              </a:rPr>
              <a:t>settle on-chain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0" name="Connector 33"/>
          <p:cNvCxnSpPr/>
          <p:nvPr/>
        </p:nvCxnSpPr>
        <p:spPr>
          <a:xfrm>
            <a:off x="2260080" y="3154680"/>
            <a:ext cx="149400" cy="360"/>
          </a:xfrm>
          <a:prstGeom prst="straightConnector1">
            <a:avLst/>
          </a:prstGeom>
          <a:ln w="22225">
            <a:solidFill>
              <a:srgbClr val="F97316"/>
            </a:solidFill>
            <a:round/>
            <a:tailEnd len="med" type="triangle" w="med"/>
          </a:ln>
        </p:spPr>
      </p:cxnSp>
      <p:cxnSp>
        <p:nvCxnSpPr>
          <p:cNvPr id="291" name="Connector 34"/>
          <p:cNvCxnSpPr/>
          <p:nvPr/>
        </p:nvCxnSpPr>
        <p:spPr>
          <a:xfrm>
            <a:off x="4140720" y="3154680"/>
            <a:ext cx="149040" cy="360"/>
          </a:xfrm>
          <a:prstGeom prst="straightConnector1">
            <a:avLst/>
          </a:prstGeom>
          <a:ln w="22225">
            <a:solidFill>
              <a:srgbClr val="F97316"/>
            </a:solidFill>
            <a:round/>
            <a:tailEnd len="med" type="triangle" w="med"/>
          </a:ln>
        </p:spPr>
      </p:cxnSp>
      <p:cxnSp>
        <p:nvCxnSpPr>
          <p:cNvPr id="292" name="Connector 35"/>
          <p:cNvCxnSpPr/>
          <p:nvPr/>
        </p:nvCxnSpPr>
        <p:spPr>
          <a:xfrm>
            <a:off x="6021360" y="3154680"/>
            <a:ext cx="149040" cy="360"/>
          </a:xfrm>
          <a:prstGeom prst="straightConnector1">
            <a:avLst/>
          </a:prstGeom>
          <a:ln w="22225">
            <a:solidFill>
              <a:srgbClr val="F97316"/>
            </a:solidFill>
            <a:round/>
            <a:tailEnd len="med" type="triangle" w="med"/>
          </a:ln>
        </p:spPr>
      </p:cxnSp>
      <p:cxnSp>
        <p:nvCxnSpPr>
          <p:cNvPr id="293" name="Connector 36"/>
          <p:cNvCxnSpPr/>
          <p:nvPr/>
        </p:nvCxnSpPr>
        <p:spPr>
          <a:xfrm>
            <a:off x="7901640" y="3154680"/>
            <a:ext cx="149400" cy="360"/>
          </a:xfrm>
          <a:prstGeom prst="straightConnector1">
            <a:avLst/>
          </a:prstGeom>
          <a:ln w="22225">
            <a:solidFill>
              <a:srgbClr val="F97316"/>
            </a:solidFill>
            <a:round/>
            <a:tailEnd len="med" type="triangle" w="med"/>
          </a:ln>
        </p:spPr>
      </p:cxnSp>
      <p:cxnSp>
        <p:nvCxnSpPr>
          <p:cNvPr id="294" name="Connector 37"/>
          <p:cNvCxnSpPr/>
          <p:nvPr/>
        </p:nvCxnSpPr>
        <p:spPr>
          <a:xfrm>
            <a:off x="9782280" y="3154680"/>
            <a:ext cx="149400" cy="360"/>
          </a:xfrm>
          <a:prstGeom prst="straightConnector1">
            <a:avLst/>
          </a:prstGeom>
          <a:ln w="22225">
            <a:solidFill>
              <a:srgbClr val="F97316"/>
            </a:solidFill>
            <a:round/>
            <a:tailEnd len="med" type="triangle" w="med"/>
          </a:ln>
        </p:spPr>
      </p:cxnSp>
      <p:sp>
        <p:nvSpPr>
          <p:cNvPr id="295" name="TextBox 38"/>
          <p:cNvSpPr/>
          <p:nvPr/>
        </p:nvSpPr>
        <p:spPr>
          <a:xfrm>
            <a:off x="548640" y="4206240"/>
            <a:ext cx="11094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pc="249" strike="noStrike">
                <a:solidFill>
                  <a:srgbClr val="94A3B8"/>
                </a:solidFill>
                <a:effectLst/>
                <a:uFillTx/>
                <a:latin typeface="Inter"/>
              </a:rPr>
              <a:t>BROWSER  →  WASM PROVER  →  NOIR  →  SOLIDITY VERIFIER  →  CHAIN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Box 39"/>
          <p:cNvSpPr/>
          <p:nvPr/>
        </p:nvSpPr>
        <p:spPr>
          <a:xfrm>
            <a:off x="548640" y="5074920"/>
            <a:ext cx="273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38BDF8"/>
                </a:solidFill>
                <a:effectLst/>
                <a:uFillTx/>
                <a:latin typeface="Inter"/>
              </a:rPr>
              <a:t>·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Box 40"/>
          <p:cNvSpPr/>
          <p:nvPr/>
        </p:nvSpPr>
        <p:spPr>
          <a:xfrm>
            <a:off x="822960" y="5056560"/>
            <a:ext cx="3423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Inter"/>
              </a:rPr>
              <a:t>Browser proves, chain verifies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Box 41"/>
          <p:cNvSpPr/>
          <p:nvPr/>
        </p:nvSpPr>
        <p:spPr>
          <a:xfrm>
            <a:off x="4246920" y="5074920"/>
            <a:ext cx="273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97316"/>
                </a:solidFill>
                <a:effectLst/>
                <a:uFillTx/>
                <a:latin typeface="Inter"/>
              </a:rPr>
              <a:t>·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Box 42"/>
          <p:cNvSpPr/>
          <p:nvPr/>
        </p:nvSpPr>
        <p:spPr>
          <a:xfrm>
            <a:off x="4521240" y="5056560"/>
            <a:ext cx="3423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Inter"/>
              </a:rPr>
              <a:t>Burner wallets sign, zero popups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Box 43"/>
          <p:cNvSpPr/>
          <p:nvPr/>
        </p:nvSpPr>
        <p:spPr>
          <a:xfrm>
            <a:off x="7944840" y="5074920"/>
            <a:ext cx="273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4ADE80"/>
                </a:solidFill>
                <a:effectLst/>
                <a:uFillTx/>
                <a:latin typeface="Inter"/>
              </a:rPr>
              <a:t>·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Box 44"/>
          <p:cNvSpPr/>
          <p:nvPr/>
        </p:nvSpPr>
        <p:spPr>
          <a:xfrm>
            <a:off x="8219160" y="5056560"/>
            <a:ext cx="3423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Inter"/>
              </a:rPr>
              <a:t>Local Anvil for instant demo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A0F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3" name="TextBox 2"/>
          <p:cNvSpPr/>
          <p:nvPr/>
        </p:nvSpPr>
        <p:spPr>
          <a:xfrm>
            <a:off x="548640" y="82296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pc="349" strike="noStrike">
                <a:solidFill>
                  <a:srgbClr val="38BDF8"/>
                </a:solidFill>
                <a:effectLst/>
                <a:uFillTx/>
                <a:latin typeface="Inter"/>
              </a:rPr>
              <a:t>06  ·  SWITCH TO THE BROWSER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Box 3"/>
          <p:cNvSpPr/>
          <p:nvPr/>
        </p:nvSpPr>
        <p:spPr>
          <a:xfrm>
            <a:off x="0" y="2148840"/>
            <a:ext cx="1219140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600" b="1" u="none" strike="noStrike">
                <a:solidFill>
                  <a:srgbClr val="F97316"/>
                </a:solidFill>
                <a:effectLst/>
                <a:uFillTx/>
                <a:latin typeface="Inter"/>
              </a:rPr>
              <a:t>LIVE DEMO  →</a:t>
            </a:r>
            <a:endParaRPr lang="en-US" sz="9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Box 4"/>
          <p:cNvSpPr/>
          <p:nvPr/>
        </p:nvSpPr>
        <p:spPr>
          <a:xfrm>
            <a:off x="0" y="4343400"/>
            <a:ext cx="12191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F8FAFC"/>
                </a:solidFill>
                <a:effectLst/>
                <a:uFillTx/>
                <a:latin typeface="JetBrains Mono"/>
              </a:rPr>
              <a:t>http://localhost:5173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Box 5"/>
          <p:cNvSpPr/>
          <p:nvPr/>
        </p:nvSpPr>
        <p:spPr>
          <a:xfrm>
            <a:off x="0" y="4800600"/>
            <a:ext cx="12191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pc="150" strike="noStrike">
                <a:solidFill>
                  <a:srgbClr val="94A3B8"/>
                </a:solidFill>
                <a:effectLst/>
                <a:uFillTx/>
                <a:latin typeface="Inter"/>
              </a:rPr>
              <a:t>two burner wallets  ·  one laptop  ·  zero trust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Box 6"/>
          <p:cNvSpPr/>
          <p:nvPr/>
        </p:nvSpPr>
        <p:spPr>
          <a:xfrm>
            <a:off x="54864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JetBrains Mono"/>
              </a:rPr>
              <a:t>battleship</a:t>
            </a:r>
            <a:r>
              <a:rPr lang="en-US" sz="1000" b="1" u="none" strike="noStrike">
                <a:solidFill>
                  <a:srgbClr val="F97316"/>
                </a:solidFill>
                <a:effectLst/>
                <a:uFillTx/>
                <a:latin typeface="JetBrains Mono"/>
              </a:rPr>
              <a:t>.zk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Rectangle 7"/>
          <p:cNvSpPr/>
          <p:nvPr/>
        </p:nvSpPr>
        <p:spPr>
          <a:xfrm>
            <a:off x="548640" y="6720840"/>
            <a:ext cx="11094120" cy="37800"/>
          </a:xfrm>
          <a:prstGeom prst="rect">
            <a:avLst/>
          </a:prstGeom>
          <a:solidFill>
            <a:srgbClr val="27344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9" name="Rectangle 8"/>
          <p:cNvSpPr/>
          <p:nvPr/>
        </p:nvSpPr>
        <p:spPr>
          <a:xfrm>
            <a:off x="548640" y="6720840"/>
            <a:ext cx="8628480" cy="37800"/>
          </a:xfrm>
          <a:prstGeom prst="rect">
            <a:avLst/>
          </a:prstGeom>
          <a:solidFill>
            <a:srgbClr val="F973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0" name="TextBox 9"/>
          <p:cNvSpPr/>
          <p:nvPr/>
        </p:nvSpPr>
        <p:spPr>
          <a:xfrm>
            <a:off x="10545840" y="64008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JetBrains Mono"/>
              </a:rPr>
              <a:t>07 / 09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A0F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2" name="TextBox 2"/>
          <p:cNvSpPr/>
          <p:nvPr/>
        </p:nvSpPr>
        <p:spPr>
          <a:xfrm>
            <a:off x="548640" y="82296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pc="300" strike="noStrike">
                <a:solidFill>
                  <a:srgbClr val="38BDF8"/>
                </a:solidFill>
                <a:effectLst/>
                <a:uFillTx/>
                <a:latin typeface="Inter"/>
              </a:rPr>
              <a:t>07  ·  RECAP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Box 3"/>
          <p:cNvSpPr/>
          <p:nvPr/>
        </p:nvSpPr>
        <p:spPr>
          <a:xfrm>
            <a:off x="548640" y="114300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F8FAFC"/>
                </a:solidFill>
                <a:effectLst/>
                <a:uFillTx/>
                <a:latin typeface="Inter"/>
              </a:rPr>
              <a:t>What was proven on-chain.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Rectangle 4"/>
          <p:cNvSpPr/>
          <p:nvPr/>
        </p:nvSpPr>
        <p:spPr>
          <a:xfrm>
            <a:off x="548640" y="1920240"/>
            <a:ext cx="1005480" cy="37800"/>
          </a:xfrm>
          <a:prstGeom prst="rect">
            <a:avLst/>
          </a:prstGeom>
          <a:solidFill>
            <a:srgbClr val="F973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5" name="TextBox 5"/>
          <p:cNvSpPr/>
          <p:nvPr/>
        </p:nvSpPr>
        <p:spPr>
          <a:xfrm>
            <a:off x="54864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JetBrains Mono"/>
              </a:rPr>
              <a:t>battleship</a:t>
            </a:r>
            <a:r>
              <a:rPr lang="en-US" sz="1000" b="1" u="none" strike="noStrike">
                <a:solidFill>
                  <a:srgbClr val="F97316"/>
                </a:solidFill>
                <a:effectLst/>
                <a:uFillTx/>
                <a:latin typeface="JetBrains Mono"/>
              </a:rPr>
              <a:t>.zk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Rectangle 6"/>
          <p:cNvSpPr/>
          <p:nvPr/>
        </p:nvSpPr>
        <p:spPr>
          <a:xfrm>
            <a:off x="548640" y="6720840"/>
            <a:ext cx="11094120" cy="37800"/>
          </a:xfrm>
          <a:prstGeom prst="rect">
            <a:avLst/>
          </a:prstGeom>
          <a:solidFill>
            <a:srgbClr val="27344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7" name="Rectangle 7"/>
          <p:cNvSpPr/>
          <p:nvPr/>
        </p:nvSpPr>
        <p:spPr>
          <a:xfrm>
            <a:off x="548640" y="6720840"/>
            <a:ext cx="9861480" cy="37800"/>
          </a:xfrm>
          <a:prstGeom prst="rect">
            <a:avLst/>
          </a:prstGeom>
          <a:solidFill>
            <a:srgbClr val="F973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8" name="TextBox 8"/>
          <p:cNvSpPr/>
          <p:nvPr/>
        </p:nvSpPr>
        <p:spPr>
          <a:xfrm>
            <a:off x="10545840" y="64008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JetBrains Mono"/>
              </a:rPr>
              <a:t>08 / 09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Oval 9"/>
          <p:cNvSpPr/>
          <p:nvPr/>
        </p:nvSpPr>
        <p:spPr>
          <a:xfrm>
            <a:off x="548640" y="2350080"/>
            <a:ext cx="639720" cy="639720"/>
          </a:xfrm>
          <a:prstGeom prst="ellipse">
            <a:avLst/>
          </a:prstGeom>
          <a:solidFill>
            <a:srgbClr val="F973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0" name="TextBox 10"/>
          <p:cNvSpPr/>
          <p:nvPr/>
        </p:nvSpPr>
        <p:spPr>
          <a:xfrm>
            <a:off x="548640" y="2404800"/>
            <a:ext cx="639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A0F1A"/>
                </a:solidFill>
                <a:effectLst/>
                <a:uFillTx/>
                <a:latin typeface="Inter"/>
              </a:rPr>
              <a:t>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Box 11"/>
          <p:cNvSpPr/>
          <p:nvPr/>
        </p:nvSpPr>
        <p:spPr>
          <a:xfrm>
            <a:off x="1463040" y="235008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8FAFC"/>
                </a:solidFill>
                <a:effectLst/>
                <a:uFillTx/>
                <a:latin typeface="Inter"/>
              </a:rPr>
              <a:t>Board legality before the first shot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Box 12"/>
          <p:cNvSpPr/>
          <p:nvPr/>
        </p:nvSpPr>
        <p:spPr>
          <a:xfrm>
            <a:off x="1463040" y="27889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Inter"/>
              </a:rPr>
              <a:t>Can't commit an all-empty board. The circuit rejects it.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Oval 13"/>
          <p:cNvSpPr/>
          <p:nvPr/>
        </p:nvSpPr>
        <p:spPr>
          <a:xfrm>
            <a:off x="548640" y="3310200"/>
            <a:ext cx="639720" cy="639720"/>
          </a:xfrm>
          <a:prstGeom prst="ellipse">
            <a:avLst/>
          </a:prstGeom>
          <a:solidFill>
            <a:srgbClr val="F973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4" name="TextBox 14"/>
          <p:cNvSpPr/>
          <p:nvPr/>
        </p:nvSpPr>
        <p:spPr>
          <a:xfrm>
            <a:off x="548640" y="3364920"/>
            <a:ext cx="639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A0F1A"/>
                </a:solidFill>
                <a:effectLst/>
                <a:uFillTx/>
                <a:latin typeface="Inter"/>
              </a:rPr>
              <a:t>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Box 15"/>
          <p:cNvSpPr/>
          <p:nvPr/>
        </p:nvSpPr>
        <p:spPr>
          <a:xfrm>
            <a:off x="1463040" y="331020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8FAFC"/>
                </a:solidFill>
                <a:effectLst/>
                <a:uFillTx/>
                <a:latin typeface="Inter"/>
              </a:rPr>
              <a:t>Every shot response consistent with the committed board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Box 16"/>
          <p:cNvSpPr/>
          <p:nvPr/>
        </p:nvSpPr>
        <p:spPr>
          <a:xfrm>
            <a:off x="1463040" y="374904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Inter"/>
              </a:rPr>
              <a:t>Hit or miss, bound back to the original Pedersen commitment.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Oval 17"/>
          <p:cNvSpPr/>
          <p:nvPr/>
        </p:nvSpPr>
        <p:spPr>
          <a:xfrm>
            <a:off x="548640" y="4270320"/>
            <a:ext cx="639720" cy="639720"/>
          </a:xfrm>
          <a:prstGeom prst="ellipse">
            <a:avLst/>
          </a:prstGeom>
          <a:solidFill>
            <a:srgbClr val="F973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8" name="TextBox 18"/>
          <p:cNvSpPr/>
          <p:nvPr/>
        </p:nvSpPr>
        <p:spPr>
          <a:xfrm>
            <a:off x="548640" y="4325040"/>
            <a:ext cx="639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A0F1A"/>
                </a:solidFill>
                <a:effectLst/>
                <a:uFillTx/>
                <a:latin typeface="Inter"/>
              </a:rPr>
              <a:t>3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Box 19"/>
          <p:cNvSpPr/>
          <p:nvPr/>
        </p:nvSpPr>
        <p:spPr>
          <a:xfrm>
            <a:off x="1463040" y="427032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8FAFC"/>
                </a:solidFill>
                <a:effectLst/>
                <a:uFillTx/>
                <a:latin typeface="Inter"/>
              </a:rPr>
              <a:t>Zero trust in the opponent's claims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Box 20"/>
          <p:cNvSpPr/>
          <p:nvPr/>
        </p:nvSpPr>
        <p:spPr>
          <a:xfrm>
            <a:off x="1463040" y="470916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Inter"/>
              </a:rPr>
              <a:t>Every answer is a proof the contract verifies, not a promise.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Oval 21"/>
          <p:cNvSpPr/>
          <p:nvPr/>
        </p:nvSpPr>
        <p:spPr>
          <a:xfrm>
            <a:off x="548640" y="5230440"/>
            <a:ext cx="639720" cy="639720"/>
          </a:xfrm>
          <a:prstGeom prst="ellipse">
            <a:avLst/>
          </a:prstGeom>
          <a:solidFill>
            <a:srgbClr val="F973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2" name="TextBox 22"/>
          <p:cNvSpPr/>
          <p:nvPr/>
        </p:nvSpPr>
        <p:spPr>
          <a:xfrm>
            <a:off x="548640" y="5285160"/>
            <a:ext cx="639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A0F1A"/>
                </a:solidFill>
                <a:effectLst/>
                <a:uFillTx/>
                <a:latin typeface="Inter"/>
              </a:rPr>
              <a:t>4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Box 23"/>
          <p:cNvSpPr/>
          <p:nvPr/>
        </p:nvSpPr>
        <p:spPr>
          <a:xfrm>
            <a:off x="1463040" y="523044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8FAFC"/>
                </a:solidFill>
                <a:effectLst/>
                <a:uFillTx/>
                <a:latin typeface="Inter"/>
              </a:rPr>
              <a:t>Zero trusted-setup ceremony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Box 24"/>
          <p:cNvSpPr/>
          <p:nvPr/>
        </p:nvSpPr>
        <p:spPr>
          <a:xfrm>
            <a:off x="1463040" y="566928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Inter"/>
              </a:rPr>
              <a:t>UltraHonk means no multi-party ritual, no toxic waste.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A0F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6" name="TextBox 2"/>
          <p:cNvSpPr/>
          <p:nvPr/>
        </p:nvSpPr>
        <p:spPr>
          <a:xfrm>
            <a:off x="548640" y="82296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pc="300" strike="noStrike">
                <a:solidFill>
                  <a:srgbClr val="38BDF8"/>
                </a:solidFill>
                <a:effectLst/>
                <a:uFillTx/>
                <a:latin typeface="Inter"/>
              </a:rPr>
              <a:t>08  ·  NEXT + Q&amp;A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Box 3"/>
          <p:cNvSpPr/>
          <p:nvPr/>
        </p:nvSpPr>
        <p:spPr>
          <a:xfrm>
            <a:off x="548640" y="114300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F8FAFC"/>
                </a:solidFill>
                <a:effectLst/>
                <a:uFillTx/>
                <a:latin typeface="Inter"/>
              </a:rPr>
              <a:t>What's next.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Rectangle 4"/>
          <p:cNvSpPr/>
          <p:nvPr/>
        </p:nvSpPr>
        <p:spPr>
          <a:xfrm>
            <a:off x="548640" y="1920240"/>
            <a:ext cx="1005480" cy="37800"/>
          </a:xfrm>
          <a:prstGeom prst="rect">
            <a:avLst/>
          </a:prstGeom>
          <a:solidFill>
            <a:srgbClr val="F973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9" name="TextBox 5"/>
          <p:cNvSpPr/>
          <p:nvPr/>
        </p:nvSpPr>
        <p:spPr>
          <a:xfrm>
            <a:off x="54864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JetBrains Mono"/>
              </a:rPr>
              <a:t>battleship</a:t>
            </a:r>
            <a:r>
              <a:rPr lang="en-US" sz="1000" b="1" u="none" strike="noStrike">
                <a:solidFill>
                  <a:srgbClr val="F97316"/>
                </a:solidFill>
                <a:effectLst/>
                <a:uFillTx/>
                <a:latin typeface="JetBrains Mono"/>
              </a:rPr>
              <a:t>.zk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Rectangle 6"/>
          <p:cNvSpPr/>
          <p:nvPr/>
        </p:nvSpPr>
        <p:spPr>
          <a:xfrm>
            <a:off x="548640" y="6720840"/>
            <a:ext cx="11094120" cy="37800"/>
          </a:xfrm>
          <a:prstGeom prst="rect">
            <a:avLst/>
          </a:prstGeom>
          <a:solidFill>
            <a:srgbClr val="27344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1" name="Rectangle 7"/>
          <p:cNvSpPr/>
          <p:nvPr/>
        </p:nvSpPr>
        <p:spPr>
          <a:xfrm>
            <a:off x="548640" y="6720840"/>
            <a:ext cx="11094120" cy="37800"/>
          </a:xfrm>
          <a:prstGeom prst="rect">
            <a:avLst/>
          </a:prstGeom>
          <a:solidFill>
            <a:srgbClr val="F973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2" name="TextBox 8"/>
          <p:cNvSpPr/>
          <p:nvPr/>
        </p:nvSpPr>
        <p:spPr>
          <a:xfrm>
            <a:off x="10545840" y="64008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JetBrains Mono"/>
              </a:rPr>
              <a:t>09 / 09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Box 9"/>
          <p:cNvSpPr/>
          <p:nvPr/>
        </p:nvSpPr>
        <p:spPr>
          <a:xfrm>
            <a:off x="548640" y="233172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pc="150" strike="noStrike">
                <a:solidFill>
                  <a:srgbClr val="F97316"/>
                </a:solidFill>
                <a:effectLst/>
                <a:uFillTx/>
                <a:latin typeface="JetBrains Mono"/>
              </a:rPr>
              <a:t>01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Box 10"/>
          <p:cNvSpPr/>
          <p:nvPr/>
        </p:nvSpPr>
        <p:spPr>
          <a:xfrm>
            <a:off x="1188720" y="2304360"/>
            <a:ext cx="5394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8FAFC"/>
                </a:solidFill>
                <a:effectLst/>
                <a:uFillTx/>
                <a:latin typeface="Inter"/>
              </a:rPr>
              <a:t>Mainnet deployment path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Box 11"/>
          <p:cNvSpPr/>
          <p:nvPr/>
        </p:nvSpPr>
        <p:spPr>
          <a:xfrm>
            <a:off x="1188720" y="2679120"/>
            <a:ext cx="5394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Inter"/>
              </a:rPr>
              <a:t>Solidity verifier is deploy-ready.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Box 12"/>
          <p:cNvSpPr/>
          <p:nvPr/>
        </p:nvSpPr>
        <p:spPr>
          <a:xfrm>
            <a:off x="548640" y="324612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pc="150" strike="noStrike">
                <a:solidFill>
                  <a:srgbClr val="F97316"/>
                </a:solidFill>
                <a:effectLst/>
                <a:uFillTx/>
                <a:latin typeface="JetBrains Mono"/>
              </a:rPr>
              <a:t>02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Box 13"/>
          <p:cNvSpPr/>
          <p:nvPr/>
        </p:nvSpPr>
        <p:spPr>
          <a:xfrm>
            <a:off x="1188720" y="3218760"/>
            <a:ext cx="5394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8FAFC"/>
                </a:solidFill>
                <a:effectLst/>
                <a:uFillTx/>
                <a:latin typeface="Inter"/>
              </a:rPr>
              <a:t>Circuit optimization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Box 14"/>
          <p:cNvSpPr/>
          <p:nvPr/>
        </p:nvSpPr>
        <p:spPr>
          <a:xfrm>
            <a:off x="1188720" y="3593520"/>
            <a:ext cx="5394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Inter"/>
              </a:rPr>
              <a:t>Shrink shot-response constraints.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Box 15"/>
          <p:cNvSpPr/>
          <p:nvPr/>
        </p:nvSpPr>
        <p:spPr>
          <a:xfrm>
            <a:off x="548640" y="416052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pc="150" strike="noStrike">
                <a:solidFill>
                  <a:srgbClr val="F97316"/>
                </a:solidFill>
                <a:effectLst/>
                <a:uFillTx/>
                <a:latin typeface="JetBrains Mono"/>
              </a:rPr>
              <a:t>03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Box 16"/>
          <p:cNvSpPr/>
          <p:nvPr/>
        </p:nvSpPr>
        <p:spPr>
          <a:xfrm>
            <a:off x="1188720" y="4133160"/>
            <a:ext cx="5394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8FAFC"/>
                </a:solidFill>
                <a:effectLst/>
                <a:uFillTx/>
                <a:latin typeface="Inter"/>
              </a:rPr>
              <a:t>Multi-game lobby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Box 17"/>
          <p:cNvSpPr/>
          <p:nvPr/>
        </p:nvSpPr>
        <p:spPr>
          <a:xfrm>
            <a:off x="1188720" y="4507920"/>
            <a:ext cx="5394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Inter"/>
              </a:rPr>
              <a:t>Matchmaking plus state routing.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Rectangle 18"/>
          <p:cNvSpPr/>
          <p:nvPr/>
        </p:nvSpPr>
        <p:spPr>
          <a:xfrm>
            <a:off x="6903720" y="2331720"/>
            <a:ext cx="12240" cy="3565800"/>
          </a:xfrm>
          <a:prstGeom prst="rect">
            <a:avLst/>
          </a:prstGeom>
          <a:solidFill>
            <a:srgbClr val="27344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3" name="TextBox 19"/>
          <p:cNvSpPr/>
          <p:nvPr/>
        </p:nvSpPr>
        <p:spPr>
          <a:xfrm>
            <a:off x="7269480" y="237744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pc="349" strike="noStrike">
                <a:solidFill>
                  <a:srgbClr val="38BDF8"/>
                </a:solidFill>
                <a:effectLst/>
                <a:uFillTx/>
                <a:latin typeface="Inter"/>
              </a:rPr>
              <a:t>Q &amp; 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Box 20"/>
          <p:cNvSpPr/>
          <p:nvPr/>
        </p:nvSpPr>
        <p:spPr>
          <a:xfrm>
            <a:off x="7269480" y="2834640"/>
            <a:ext cx="475452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0" b="1" u="none" strike="noStrike">
                <a:solidFill>
                  <a:srgbClr val="F97316"/>
                </a:solidFill>
                <a:effectLst/>
                <a:uFillTx/>
                <a:latin typeface="Inter"/>
              </a:rPr>
              <a:t>Questions?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Box 21"/>
          <p:cNvSpPr/>
          <p:nvPr/>
        </p:nvSpPr>
        <p:spPr>
          <a:xfrm>
            <a:off x="7269480" y="4434840"/>
            <a:ext cx="475452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Inter"/>
              </a:rPr>
              <a:t>Circuits, contracts, frontend -- everything is open source.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Box 22"/>
          <p:cNvSpPr/>
          <p:nvPr/>
        </p:nvSpPr>
        <p:spPr>
          <a:xfrm>
            <a:off x="7269480" y="5212080"/>
            <a:ext cx="4754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8FAFC"/>
                </a:solidFill>
                <a:effectLst/>
                <a:uFillTx/>
                <a:latin typeface="JetBrains Mono"/>
              </a:rPr>
              <a:t>github.com/ battleship-zk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LibreOffice/26.2.2.2$MacOSX_AARCH64 LibreOffice_project/1f77d10d6938fd34972958f64b2bcfa54f8b1ba5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