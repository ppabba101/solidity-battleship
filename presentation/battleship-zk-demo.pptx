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Welcome everyone. I'm Pranav Pabba and this is my teammate Vikram Akkala. Over the next eight minutes we're going to show you Battleship -- the classic two-player board game -- rebuilt on zero-knowledge proofs with real on-chain verification. I'll drive the live demo; Vikram will carry you through the cryptography. By the time we're done you'll see exactly why a simple hash commitment fails, and why a single zk-SNARK is the piece that closes the gap.</a:t>
            </a:r>
          </a:p>
          <a:p/>
          <a:p>
            <a:r>
              <a:t>[Vikram]</a:t>
            </a:r>
          </a:p>
          <a:p>
            <a:r>
              <a:t>Thanks Pranav. My job is the crypto -- the problem, the gap, and the fix. Concrete and tied to Battleship the whole way. Let's go.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Battleship is a game of hidden state. I place ships on my private ten-by-ten grid, you place ships on yours, and neither of us sees the other's layout. In a digital implementation nothing stops me from just lying about my board. So the standard cryptographic move is: commit to your board up front with a hash. Publish that hash on-chain, and now you can't silently change your ships mid-game. Great. But here's the catch -- and this is what the next slide is about -- a hash commitment only proves WHAT you committed to. It says absolutely nothing about whether what you committed is a legal fleet in the first place.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Okay, feel this one. Imagine I'm the cheater. I commit to an all-empty board -- literally a grid with zero ships on it. The hash of that board is a perfectly valid hash. On-chain, my commitment looks identical to yours. The game starts. You fire at three-comma-five. I answer MISS. Completely truthfully, because there is nothing there. You fire at seven-comma-two. MISS. Again, not a lie. I never lose a single cell because I have no cells to lose. Meanwhile I'm sinking your actual ships. I win by elimination without ever making a dishonest statement. A plain hash commitment cannot stop this attack, because a hash only proves WHAT you committed to -- it is silent on whether that thing is a legal Battleship fleet. This is the validity gap, and every slide from here on is about closing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Here is the move. Instead of just committing to a board, we commit AND prove -- in zero knowledge -- that what we committed to is a legal fleet. Exactly seventeen occupied cells. One five-cell carrier. One four-cell battleship. Two three-cell cruisers. One two-cell destroyer. No overlaps. No diagonals. All in bounds. That whole statement becomes a single zk-SNARK. The proof goes on-chain at commit time, before the first shot is ever fired. The all-empty-board attack you just saw? It literally cannot produce a valid proof, because the circuit's fleet constraint rejects it. The proof IS the validity certificate -- if the contract accepts it, the board is legal, full stop. And you learn absolutely nothing about where the ships actually are.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The concrete stack. Noir is Aztec's Rust-flavoured DSL for writing zk circuits -- it reads like normal code and compiles down to an arithmetic constraint system. UltraHonk is the proving backend, a modern PLONK-family scheme that needs no trusted setup ceremony, which means I don't have to spend five minutes of this talk explaining powers of tau. Pedersen hash is the commitment primitive we use inside the circuit -- cheap in zk and it binds all one hundred private cells plus a salt into a single public field element. And finally, Noir auto-generates a Solidity verifier contract -- HonkVerifier dot sol, about twenty-four hundred lines, roughly two hundred and fifty thousand gas per verify call. That is the whole cryptographic toolbox. No custom circuits hand-rolled in Circom, no Groth16 ceremony, no custom verifier math.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End-to-end data flow, and this is exactly what you're about to watch live. I open the React app. I drag my fleet onto the grid. I click Ready. The frontend pipes my private board into a Pedersen hash for the commitment and into the Noir board-validity circuit, and runs bb.js -- Aztec's WASM-compiled Barretenberg prover -- right there in the browser. Out comes a proof blob. I push it as calldata to BattleshipGame dot sol on a local Anvil chain. BattleshipGame calls the Noir-generated HonkVerifier, which accepts or rejects on-chain. Every shot response goes through the same pipeline with a separate shot-response circuit. Nothing trusts the frontend -- every single claim is verified by the contract. Two burner wallets derived from Anvil's deterministic test keys mean no MetaMask popups and no wallet switching. One laptop, hot-seat, zero trust.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Alright, driving. I'm opening the app -- both players' grids side by side. Clicking the carrier in the palette, rotating with R, dropping it on the top row. Placing the rest fast. Hit Ready. Watch the spinner: "proving board legality" -- that is the Noir circuit running right now in the browser. Proof verified on-chain. Player two does the same. Now we fire -- I click on the enemy grid. Pending pulse. Hit confirmed, shot-response proof verified in about a second.</a:t>
            </a:r>
          </a:p>
          <a:p/>
          <a:p>
            <a:r>
              <a:t>[Vikram]</a:t>
            </a:r>
          </a:p>
          <a:p>
            <a:r>
              <a:t>Keep an eye on the Crypto Log panel on the right -- every on-chain event is narrated as it happens. Pedersen commit, board-validity proof, shot-response proof, sunk animation. This is a full cryptographic game loop running live with zero trust in the opponent.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[Vikram]</a:t>
            </a:r>
          </a:p>
          <a:p>
            <a:r>
              <a:t>Four things the cryptography actually guaranteed during that demo. One: before the first shot was fired, each player produced a zk-SNARK proving their board contained exactly the standard fleet -- seventeen cells, correct ship shapes, no overlaps, no diagonals. The all-empty-board cheat is impossible. Two: every shot response came with its own proof binding the answer back to the original Pedersen commitment, so a hit cannot be flipped to a miss. Three: zero trust -- every opponent claim is a proof the contract verifies, not a promise we take on faith. Four: zero trusted setup -- UltraHonk needs no multi-party ceremony, no powers of tau, no toxic waste to dispose of. That is the whole cryptographic contract of this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[Pranav]</a:t>
            </a:r>
          </a:p>
          <a:p>
            <a:r>
              <a:t>Where does this go from here? Mainnet deployment is basically a deploy script away -- the Solidity verifier is already production-shaped. We want to prune the shot-response circuit to get proving time down further, and longer term stand up a multi-game lobby so this is not just a hot-seat demo. That's the pitch. Thanks for your time. We're happy to take questions on the circuits, the contract, Noir, bb.js, burner wallets -- anything you saw in the demo. The full stack is open source.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35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A ZERO-KNOWLEDGE DEMO   ·   BLOCKCHAIN CLUB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Battleship,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97316"/>
                </a:solidFill>
                <a:latin typeface="Inter" panose="020B0604020202020204" pitchFamily="34" charset="0"/>
                <a:ea typeface="+mn-ea"/>
                <a:cs typeface="+mn-cs"/>
              </a:rPr>
              <a:t>proven.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A zk-SNARK demo with real on-chain verification.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486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1B2942"/>
          </a:solidFill>
          <a:ln w="952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" y="5669280"/>
            <a:ext cx="137160" cy="1371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6152" y="559612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VIKRAM AKKALA    ·    PRANAV PABBA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8255" y="55961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noir → ultrahonk → solidity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6720840"/>
            <a:ext cx="1232712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01  ·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A game built on hidden state.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2465425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02 /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097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0" b="1">
                <a:solidFill>
                  <a:srgbClr val="F97316"/>
                </a:solidFill>
                <a:latin typeface="Inter" panose="020B0604020202020204" pitchFamily="34" charset="0"/>
                <a:ea typeface="+mn-ea"/>
                <a:cs typeface="+mn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43200"/>
            <a:ext cx="9966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Each player knows their board.</a:t>
            </a:r>
          </a:p>
          <a:p>
            <a:pPr algn="l">
              <a:spcBef>
                <a:spcPts val="0"/>
              </a:spcBef>
            </a:pPr>
            <a:r>
              <a:rPr sz="3800" b="1">
                <a:solidFill>
                  <a:srgbClr val="F97316"/>
                </a:solidFill>
                <a:latin typeface="Inter" panose="020B0604020202020204" pitchFamily="34" charset="0"/>
                <a:ea typeface="+mn-ea"/>
                <a:cs typeface="+mn-cs"/>
              </a:rPr>
              <a:t>Neither player trusts the other.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0749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— standard trick: commit to your board with a hash so you can't change your mind later.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544068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But a hash commitment only proves WHAT you committed to -- not whether what you committed is legal.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02  ·  THE VALIDITY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Commit to nothing. Win anyway.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3698138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03 / 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4028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6968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25296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63624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1952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40280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78608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16936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55264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93592" y="237744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968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25296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63624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1952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40280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78608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16936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55264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93592" y="271576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6968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5296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63624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1952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40280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78608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16936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55264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93592" y="305409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6968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25296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63624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1952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40280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8608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6936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55264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593592" y="339242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86968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25296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63624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01952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280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78608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16936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55264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93592" y="373075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6968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25296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563624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901952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240280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578608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916936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55264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593592" y="4069080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86968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25296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63624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01952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40280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78608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916936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55264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593592" y="4407408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48640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86968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25296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63624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901952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240280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578608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16936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255264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593592" y="4745736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8640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86968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225296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63624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901952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240280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578608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916936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255264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593592" y="5084064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48640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86968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25296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63624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01952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240280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78608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916936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255264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593592" y="5422392"/>
            <a:ext cx="338328" cy="338328"/>
          </a:xfrm>
          <a:prstGeom prst="rect">
            <a:avLst/>
          </a:prstGeom>
          <a:solidFill>
            <a:srgbClr val="0A0F1A"/>
          </a:solidFill>
          <a:ln w="635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5943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250">
                <a:solidFill>
                  <a:srgbClr val="F87171"/>
                </a:solidFill>
                <a:latin typeface="Inter" panose="020B0604020202020204" pitchFamily="34" charset="0"/>
                <a:ea typeface="+mn-ea"/>
                <a:cs typeface="+mn-cs"/>
              </a:rPr>
              <a:t>ALL-EMPTY BOARD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640" y="62636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hash(empty, salt) is still valid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00" y="2331720"/>
            <a:ext cx="70710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50">
                <a:solidFill>
                  <a:srgbClr val="F87171"/>
                </a:solidFill>
                <a:latin typeface="Inter" panose="020B0604020202020204" pitchFamily="34" charset="0"/>
                <a:ea typeface="+mn-ea"/>
                <a:cs typeface="+mn-cs"/>
              </a:rPr>
              <a:t>THE CHEAT</a:t>
            </a:r>
          </a:p>
        </p:txBody>
      </p:sp>
      <p:sp>
        <p:nvSpPr>
          <p:cNvPr id="114" name="Oval 113"/>
          <p:cNvSpPr/>
          <p:nvPr/>
        </p:nvSpPr>
        <p:spPr>
          <a:xfrm>
            <a:off x="4572000" y="285292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572000" y="286207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212080" y="282549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Commit to an all-empty board.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212080" y="320040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hash is valid. nothing in the scheme says you need ships.</a:t>
            </a:r>
          </a:p>
        </p:txBody>
      </p:sp>
      <p:sp>
        <p:nvSpPr>
          <p:cNvPr id="118" name="Oval 117"/>
          <p:cNvSpPr/>
          <p:nvPr/>
        </p:nvSpPr>
        <p:spPr>
          <a:xfrm>
            <a:off x="4572000" y="363016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0" y="3639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12080" y="360273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Opponent fires at (3, 5).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397764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you answer MISS. truthfully. there is nothing there.</a:t>
            </a:r>
          </a:p>
        </p:txBody>
      </p:sp>
      <p:sp>
        <p:nvSpPr>
          <p:cNvPr id="122" name="Oval 121"/>
          <p:cNvSpPr/>
          <p:nvPr/>
        </p:nvSpPr>
        <p:spPr>
          <a:xfrm>
            <a:off x="4572000" y="440740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572000" y="44165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212080" y="437997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Every shot is a miss.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212080" y="475488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you never lose a cell. you never take damage.</a:t>
            </a:r>
          </a:p>
        </p:txBody>
      </p:sp>
      <p:sp>
        <p:nvSpPr>
          <p:cNvPr id="126" name="Oval 125"/>
          <p:cNvSpPr/>
          <p:nvPr/>
        </p:nvSpPr>
        <p:spPr>
          <a:xfrm>
            <a:off x="4572000" y="5184648"/>
            <a:ext cx="411480" cy="4114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572000" y="519379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12080" y="5157216"/>
            <a:ext cx="6430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You win by elimination.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12080" y="553212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hash commitments alone cannot stop this.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03  ·  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Prove legality, in zero knowledge.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4930851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04 /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97316"/>
                </a:solidFill>
                <a:latin typeface="Inter" panose="020B0604020202020204" pitchFamily="34" charset="0"/>
                <a:ea typeface="+mn-ea"/>
                <a:cs typeface="+mn-cs"/>
              </a:rPr>
              <a:t>The proof IS the validity certificate.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One zk-SNARK, generated in the browser before the first shot.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Verified once on-chain. No ship-count lies survive.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20"/>
            <a:ext cx="11094415" cy="1005840"/>
          </a:xfrm>
          <a:prstGeom prst="roundRect">
            <a:avLst>
              <a:gd name="adj" fmla="val 18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39512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5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THE FLEET CONSTRAINT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3212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JetBrains Mono" panose="02070609020202020204" pitchFamily="49" charset="0"/>
                <a:ea typeface="+mn-ea"/>
                <a:cs typeface="+mn-cs"/>
              </a:rPr>
              <a:t>17 cells  -  1x5  -  1x4  -  2x3  -  1x2  -  no overlaps  -  no diagonals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04  ·  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Noir + UltraHonk.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6163563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05 / 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NOIR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Rust-like zk DSL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91840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Readable circuits.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Compiles to arithmetic constraints.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WASM prover runs in the browser.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31720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60320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ULTRAHONK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880360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PLONK-family 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291840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Aztec's modern proof system.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No trusted setup ceremony.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No powers-of-tau, no toxic waste.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43399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71999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PEDERSEN HASH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92039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In-circuit commitment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303519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Cheap to compute inside zk.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Binds 100 cells + salt.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One field element, used as the board commit.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4343399"/>
            <a:ext cx="5410047" cy="1737359"/>
          </a:xfrm>
          <a:prstGeom prst="roundRect">
            <a:avLst>
              <a:gd name="adj" fmla="val 10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571999"/>
            <a:ext cx="486140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20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HONKVERIFIER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4892039"/>
            <a:ext cx="48614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Auto-generated Solidity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5303519"/>
            <a:ext cx="4861407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~2,460 lines of verifier.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~250k gas per verify call.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Dropped straight into the repo.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05  ·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Browser proves. Chain verifies.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7396276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06 / 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FLEET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Fleet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private[100]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9195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6355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6355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Pedersen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6355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hash → commit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9750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6910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NOIR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6910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Noir circuit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6910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board_validity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305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465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HONK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465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UltraHonk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465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proof blob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0860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8020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SOL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8020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HonkVerifier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8020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Solidity verify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1415" y="2514600"/>
            <a:ext cx="1691640" cy="1280160"/>
          </a:xfrm>
          <a:prstGeom prst="roundRect">
            <a:avLst>
              <a:gd name="adj" fmla="val 22000"/>
            </a:avLst>
          </a:prstGeom>
          <a:solidFill>
            <a:srgbClr val="1B2942"/>
          </a:solidFill>
          <a:ln w="12700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88575" y="2606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88575" y="29260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BattleshipGame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335584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settle on-chain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260280.0" y="3154680"/>
            <a:ext cx="148915.0" cy="0"/>
          </a:xfrm>
          <a:prstGeom prst="line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140835.0" y="3154680"/>
            <a:ext cx="148915.0" cy="0"/>
          </a:xfrm>
          <a:prstGeom prst="line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21390.0" y="3154680"/>
            <a:ext cx="148915.0" cy="0"/>
          </a:xfrm>
          <a:prstGeom prst="line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901945.0" y="3154680"/>
            <a:ext cx="148915.0" cy="0"/>
          </a:xfrm>
          <a:prstGeom prst="line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782500.0" y="3154680"/>
            <a:ext cx="148915.0" cy="0"/>
          </a:xfrm>
          <a:prstGeom prst="line">
            <a:avLst/>
          </a:prstGeom>
          <a:ln w="22225">
            <a:solidFill>
              <a:srgbClr val="F973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640" y="42062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25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BROWSER  →  WASM PROVER  →  NOIR  →  SOLIDITY VERIFIER  →  CHAIN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749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056632"/>
            <a:ext cx="34238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Browser proves, chain verifies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46778" y="50749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97316"/>
                </a:solidFill>
                <a:latin typeface="Inter" panose="020B0604020202020204" pitchFamily="34" charset="0"/>
                <a:ea typeface="+mn-ea"/>
                <a:cs typeface="+mn-cs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098" y="5056632"/>
            <a:ext cx="34238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Burner wallets sign, zero popups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4916" y="50749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4ADE80"/>
                </a:solidFill>
                <a:latin typeface="Inter" panose="020B0604020202020204" pitchFamily="34" charset="0"/>
                <a:ea typeface="+mn-ea"/>
                <a:cs typeface="+mn-cs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9236" y="5056632"/>
            <a:ext cx="34238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Local Anvil for instant 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5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06  ·  SWITCH TO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48840"/>
            <a:ext cx="1219169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0" b="1">
                <a:solidFill>
                  <a:srgbClr val="F97316"/>
                </a:solidFill>
                <a:latin typeface="Inter" panose="020B0604020202020204" pitchFamily="34" charset="0"/>
                <a:ea typeface="+mn-ea"/>
                <a:cs typeface="+mn-cs"/>
              </a:rPr>
              <a:t>LIVE DEMO 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43400"/>
            <a:ext cx="121916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F8FAFC"/>
                </a:solidFill>
                <a:latin typeface="JetBrains Mono" panose="02070609020202020204" pitchFamily="49" charset="0"/>
                <a:ea typeface="+mn-ea"/>
                <a:cs typeface="+mn-cs"/>
              </a:rPr>
              <a:t>http://localhost:5173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spc="15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two burner wallets  ·  one laptop  ·  zero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720840"/>
            <a:ext cx="8628989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07  · 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What was proven on-chain.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9861702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08 / 09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5000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0487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50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Board legality before the first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88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Can't commit an all-empty board. The circuit rejects it.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1012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6499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3101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Every shot response consistent with the committed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49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Hit or miss, bound back to the original Pedersen commitment.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27024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2511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7024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Zero trust in the opponent's claims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709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Every answer is a proof the contract verifies, not a promise.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5230368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28523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0A0F1A"/>
                </a:solidFill>
                <a:latin typeface="Inter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23036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Zero trusted-setup ceremony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UltraHonk means no multi-party ritual, no toxic waste.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08  ·  NEXT +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What's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battleship</a:t>
            </a:r>
            <a:r>
              <a:rPr sz="1000" b="1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.zk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720840"/>
            <a:ext cx="11094415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45775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 panose="02070609020202020204" pitchFamily="49" charset="0"/>
                <a:ea typeface="+mn-ea"/>
                <a:cs typeface="+mn-cs"/>
              </a:rPr>
              <a:t>09 /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30428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Mainnet deployment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6791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Solidity verifier is deploy-ready.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1868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Circuit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93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Shrink shot-response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150">
                <a:solidFill>
                  <a:srgbClr val="F97316"/>
                </a:solidFill>
                <a:latin typeface="JetBrains Mono" panose="02070609020202020204" pitchFamily="49" charset="0"/>
                <a:ea typeface="+mn-ea"/>
                <a:cs typeface="+mn-c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3308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Inter" panose="020B0604020202020204" pitchFamily="34" charset="0"/>
                <a:ea typeface="+mn-ea"/>
                <a:cs typeface="+mn-cs"/>
              </a:rPr>
              <a:t>Multi-game lobby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5079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Matchmaking plus state routing.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331720"/>
            <a:ext cx="12700" cy="3566160"/>
          </a:xfrm>
          <a:prstGeom prst="rect">
            <a:avLst/>
          </a:prstGeom>
          <a:solidFill>
            <a:srgbClr val="27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50">
                <a:solidFill>
                  <a:srgbClr val="38BDF8"/>
                </a:solidFill>
                <a:latin typeface="Inter" panose="020B0604020202020204" pitchFamily="34" charset="0"/>
                <a:ea typeface="+mn-ea"/>
                <a:cs typeface="+mn-cs"/>
              </a:rPr>
              <a:t>Q &amp;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97316"/>
                </a:solidFill>
                <a:latin typeface="Inter" panose="020B0604020202020204" pitchFamily="34" charset="0"/>
                <a:ea typeface="+mn-ea"/>
                <a:cs typeface="+mn-cs"/>
              </a:rPr>
              <a:t>Questions?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3484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 panose="020B0604020202020204" pitchFamily="34" charset="0"/>
                <a:ea typeface="+mn-ea"/>
                <a:cs typeface="+mn-cs"/>
              </a:rPr>
              <a:t>Circuits, contracts, frontend -- everything is open source.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8FAFC"/>
                </a:solidFill>
                <a:latin typeface="JetBrains Mono" panose="02070609020202020204" pitchFamily="49" charset="0"/>
                <a:ea typeface="+mn-ea"/>
                <a:cs typeface="+mn-cs"/>
              </a:rPr>
              <a:t>github.com/ battleship-zk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