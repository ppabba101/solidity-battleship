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[Pranav]</a:t>
            </a:r>
          </a:p>
          <a:p>
            <a:r>
              <a:t>Welcome everyone. I'm Pranav Pabba and this is my teammate Vikram Akkala. Over the next eight minutes we're going to show you Battleship -- the classic two-player board game -- reimagined with zero-knowledge proofs. I'll drive the demo at the end; Vikram is going to carry you through the cryptography in the middle. By the time we're done you'll understand exactly why a naive commitment scheme fails, how Merkle trees get you most of the way, and why a single zk-SNARK is the piece that actually closes the gap.</a:t>
            </a:r>
          </a:p>
          <a:p/>
          <a:p>
            <a:r>
              <a:t>[Vikram]</a:t>
            </a:r>
          </a:p>
          <a:p>
            <a:r>
              <a:t>Thanks Pranav. My job is the crypto -- the problem framing, the Merkle deep-dive, and the zk-SNARK reveal. I promise to keep it concrete and tied to Battleship the whole way. Let's go.</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Battleship is a game of hidden information. I place ships on my private board, you place ships on yours, and neither of us sees the other's grid. That's fine when we're sitting across a table with cardboard pegs -- but in a digital implementation, nothing stops me from just lying. I can claim every one of your shots is a miss and coast to victory. The rules don't enforce themselves. So we need a way for me to commit to a board up front, prove that board is a legal fleet, and then answer each of your shots honestly -- all without ever showing you where my ships actually are. That is the central cryptographic puzzle of this talk.</a:t>
            </a:r>
          </a:p>
          <a:p/>
          <a:p>
            <a:r>
              <a:t>[Pranav]</a:t>
            </a:r>
          </a:p>
          <a:p>
            <a:r>
              <a:t>Keep this puzzle in your head -- every slide from here on is chipping away at it.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Before we get to the zk-SNARK I want to make sure everyone has Merkle trees in their head, because this is the piece of the talk that actually ties the cryptography to Battleship. A Merkle tree is what you get when you take a list of values, hash them in pairs, then hash those hashes in pairs, and keep going until you collapse the whole thing into a single hash at the top. That top hash is the root. The magic property is this: the root is a fingerprint of every single leaf at once. If I change any leaf, even one bit, the root changes. So if I publish just the root, I have committed to the entire list without revealing any of it. Later, I can prove "leaf number 37 was X" by handing you X plus about log-base-two-of-a-hundred -- so seven -- sibling hashes along the path. You hash your way back up to the root and check it matches. That is it. Every blockchain you have ever heard of uses this trick.</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Now let us plug this into Battleship. Each of my 100 cells becomes a leaf. The leaf is a hash of three things: the cell's index zero through ninety-nine, a bit saying whether it's occupied, and a random salt so you can't brute-force guess it. I build the Merkle tree over those 100 leaves, and I send you the root. That is my commitment. Now you fire a shot at coordinate three-comma-five. I look up leaf number thirty-five, tell you the occupied bit, and hand you the seven sibling hashes that form the Merkle path. You hash it back up to my root and check. If the root matches, you know I'm not making up the answer -- that cell really was whatever I said it was when I committed. And crucially, I never had to show you the other 99 cells. This is the exact scheme the original Battleship contract in this repo used. It works. It's pretty. It feels like we're done. But we are not done.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Here is the hole, and this is the pivot of the whole talk. A Merkle proof proves that I did not change my mind about a cell after I committed. It proves consistency. What it absolutely does not prove is that the thing I committed to in the first place was a legal Battleship fleet. Nothing in a Merkle tree says "this has exactly one carrier, one battleship, two cruisers, one destroyer, no overlaps, no diagonals." And now the exploit writes itself. I commit to an all-empty ten-by-ten grid. That is a perfectly valid Merkle tree with a perfectly valid root. You start firing at me and I honestly, Merkle-verifiably, answer MISS to every single one of your shots -- because every cell really is empty. You never sink a ship, I never take damage, and on the last turn I claim the win. The deferred "reveal at the end" check that's supposed to catch this is theatre -- by the time we'd run it the game is already lost, and in the original contract in this repo both branches of that check actually assign the same winner. So Merkle alone is not enough. We need legality proven up front, before a single shot is fired. That is where zk-SNARKs come in.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Here is the move. Instead of proving a single cell's consistency at shot time, we prove an entire CONSTRAINT at commit time: "the 100 private cells I am about to commit to really do form a legal Battleship fleet -- one five-cell carrier, one four-cell battleship, two three-cell cruisers, one two-cell destroyer, no overlaps, no diagonals, all in bounds -- AND their Pedersen hash equals this public commitment." That whole statement becomes one zk-SNARK. The proof is a few hundred bytes. I generate it in the browser before I ever send a transaction. The contract verifies it once and now the committed board is not just consistent -- it is provably LEGAL. The all-empty-board attack you just saw? It literally cannot produce a valid proof, because the circuit's fleet-histogram constraint rejects it. The proof IS the validity certificate.</a:t>
            </a:r>
          </a:p>
          <a:p/>
          <a:p>
            <a:r>
              <a:t>[Pranav]</a:t>
            </a:r>
          </a:p>
          <a:p>
            <a:r>
              <a:t>And from there shot responses are cheap -- we could keep using Merkle for them, or a tiny per-shot circuit. The expensive legality check only happens once.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Quick tool choice. Noir is Aztec's Rust-flavoured DSL for writing zk circuits. We picked it over Circom for three reasons. One, the developer experience is a lot nicer -- it reads like normal code. Two, its UltraPlonk backend does not need a trusted setup ceremony, which means I do not have to spend five minutes of this talk explaining powers of tau. Three, it ships a browser prover as a WASM module so the whole proof lifecycle -- placement, prove, verify -- stays on one laptop. The circuit is called board_validity.nr, 3,482 constraints, and it's the exact thing I described on the previous slide: shapes, counts, no-diagonal run checks, and a Pedersen commitment binding the private board to the public hash.</a:t>
            </a:r>
          </a:p>
          <a:p/>
          <a:p>
            <a:r>
              <a:t>[Pranav]</a:t>
            </a:r>
          </a:p>
          <a:p>
            <a:r>
              <a:t>And Noir spits out a Solidity verifier contract we drop straight into the repo.</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[Pranav]</a:t>
            </a:r>
          </a:p>
          <a:p>
            <a:r>
              <a:t>Data flow end to end. I open the React app. I drag my fleet onto the grid. I click Ready. The frontend runs bb.js, which is Aztec's WASM-compiled Barretenberg prover, against the Noir board-validity circuit right there in the browser. That spits out a proof blob. I send it as calldata to BattleshipGame.sol on a local Anvil chain. The contract calls the Noir-generated HonkVerifier, which accepts or rejects the proof on-chain. Every shot response goes through the same pipeline with the shot-response circuit. Nothing trusts the frontend -- every claim is verified by the contract. Two burner wallets derived from Anvil's deterministic test keys mean no MetaMask popups, no wallet switching, no friction. It is genuinely a one-laptop hot-seat demo and that is what you're about to see.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[Pranav]</a:t>
            </a:r>
          </a:p>
          <a:p>
            <a:r>
              <a:t>Alright, I'm driving. I'm opening the app -- you see both players' grids side by side. I'm clicking the carrier in the palette, rotating with R, dropping it on the top row. I'll place the rest fast. Hit Ready. Watch the spinner: "proving board legality" -- that is the Noir circuit running right now, 3,482 constraints in the browser. Proof verified on-chain. Player two does the same. Now we fire -- I click (3, 5) on the enemy grid. Pending pulse. Boom, hit confirmed on-chain, shot-response proof verified in about a second. Keep an eye on the Crypto Log panel on the right -- every on-chain event is narrated as it happens.</a:t>
            </a:r>
          </a:p>
          <a:p/>
          <a:p>
            <a:r>
              <a:t>[Vikram]</a:t>
            </a:r>
          </a:p>
          <a:p>
            <a:r>
              <a:t>Watch the sunk animation when the last cell of a ship goes down. This is a full cryptographic game loop running live with zero trust in the opponent.</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[Vikram]</a:t>
            </a:r>
          </a:p>
          <a:p>
            <a:r>
              <a:t>Four things the cryptography actually guaranteed during that demo. One: before the first shot, each player produced a zk-SNARK proving their board contained exactly the standard fleet -- seventeen cells, correct ship shapes, no overlaps, no diagonals. The contract either accepted that proof or the game did not start. Two: for every shot, the responding player produced a second proof binding the answer back to the original committed board, so they could never flip a hit to a miss. Three: none of this needed a trusted setup ceremony, because we used UltraPlonk. Four: on-chain verification cost about 250,000 gas per proof -- cheap enough to live inside a real game loop. No trust, no reveal, no ceremony.</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[Pranav]</a:t>
            </a:r>
          </a:p>
          <a:p>
            <a:r>
              <a:t>Where does this go from here? Mainnet deployment is basically a deploy script away -- the verifier is already Solidity. Shot-response proving time can come down with some circuit pruning. Longer term we want a multi-game lobby and a tournament mode where every move in every bracket is cryptographically auditable. That's the pitch. Thanks for your time.</a:t>
            </a:r>
          </a:p>
          <a:p/>
          <a:p>
            <a:r>
              <a:t>[Vikram]</a:t>
            </a:r>
          </a:p>
          <a:p>
            <a:r>
              <a:t>We're happy to take questions on the circuits, the contract, Noir, bb.js, the frontend -- anything you saw in the demo. The full stack is open source.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972800" cy="320040"/>
          </a:xfrm>
          <a:prstGeom prst="rect">
            <a:avLst/>
          </a:prstGeom>
          <a:noFill/>
        </p:spPr>
        <p:txBody>
          <a:bodyPr wrap="square" lIns="0" rIns="0" tIns="0" bIns="0" anchor="t">
            <a:spAutoFit/>
          </a:bodyPr>
          <a:lstStyle/>
          <a:p>
            <a:pPr algn="l"/>
            <a:r>
              <a:rPr sz="1200" b="1" spc="350">
                <a:solidFill>
                  <a:srgbClr val="38BDF8"/>
                </a:solidFill>
                <a:latin typeface="Inter"/>
              </a:rPr>
              <a:t>A ZERO-KNOWLEDGE DEMO   ·   BLOCKCHAIN CLUB</a:t>
            </a:r>
          </a:p>
        </p:txBody>
      </p:sp>
      <p:sp>
        <p:nvSpPr>
          <p:cNvPr id="5" name="TextBox 4"/>
          <p:cNvSpPr txBox="1"/>
          <p:nvPr/>
        </p:nvSpPr>
        <p:spPr>
          <a:xfrm>
            <a:off x="777240" y="1783080"/>
            <a:ext cx="10972800" cy="1645920"/>
          </a:xfrm>
          <a:prstGeom prst="rect">
            <a:avLst/>
          </a:prstGeom>
          <a:noFill/>
        </p:spPr>
        <p:txBody>
          <a:bodyPr wrap="square" lIns="0" rIns="0" tIns="0" bIns="0" anchor="t">
            <a:spAutoFit/>
          </a:bodyPr>
          <a:lstStyle/>
          <a:p>
            <a:pPr algn="l"/>
            <a:r>
              <a:rPr sz="7200" b="1">
                <a:solidFill>
                  <a:srgbClr val="F8FAFC"/>
                </a:solidFill>
                <a:latin typeface="Inter"/>
              </a:rPr>
              <a:t>Battleship,</a:t>
            </a:r>
          </a:p>
        </p:txBody>
      </p:sp>
      <p:sp>
        <p:nvSpPr>
          <p:cNvPr id="6" name="TextBox 5"/>
          <p:cNvSpPr txBox="1"/>
          <p:nvPr/>
        </p:nvSpPr>
        <p:spPr>
          <a:xfrm>
            <a:off x="777240" y="2971800"/>
            <a:ext cx="10972800" cy="1645920"/>
          </a:xfrm>
          <a:prstGeom prst="rect">
            <a:avLst/>
          </a:prstGeom>
          <a:noFill/>
        </p:spPr>
        <p:txBody>
          <a:bodyPr wrap="square" lIns="0" rIns="0" tIns="0" bIns="0" anchor="t">
            <a:spAutoFit/>
          </a:bodyPr>
          <a:lstStyle/>
          <a:p>
            <a:pPr algn="l"/>
            <a:r>
              <a:rPr sz="7200" b="1">
                <a:solidFill>
                  <a:srgbClr val="F97316"/>
                </a:solidFill>
                <a:latin typeface="Inter"/>
              </a:rPr>
              <a:t>proven.</a:t>
            </a:r>
          </a:p>
        </p:txBody>
      </p:sp>
      <p:sp>
        <p:nvSpPr>
          <p:cNvPr id="7" name="TextBox 6"/>
          <p:cNvSpPr txBox="1"/>
          <p:nvPr/>
        </p:nvSpPr>
        <p:spPr>
          <a:xfrm>
            <a:off x="822960" y="4434840"/>
            <a:ext cx="10972800" cy="457200"/>
          </a:xfrm>
          <a:prstGeom prst="rect">
            <a:avLst/>
          </a:prstGeom>
          <a:noFill/>
        </p:spPr>
        <p:txBody>
          <a:bodyPr wrap="square" lIns="0" rIns="0" tIns="0" bIns="0" anchor="t">
            <a:spAutoFit/>
          </a:bodyPr>
          <a:lstStyle/>
          <a:p>
            <a:pPr algn="l"/>
            <a:r>
              <a:rPr sz="1800" b="0">
                <a:solidFill>
                  <a:srgbClr val="94A3B8"/>
                </a:solidFill>
                <a:latin typeface="Inter"/>
              </a:rPr>
              <a:t>Eight minutes on how a single zk-SNARK turns a game of hidden state into a trustless one.</a:t>
            </a:r>
          </a:p>
        </p:txBody>
      </p:sp>
      <p:sp>
        <p:nvSpPr>
          <p:cNvPr id="8" name="Rounded Rectangle 7"/>
          <p:cNvSpPr/>
          <p:nvPr/>
        </p:nvSpPr>
        <p:spPr>
          <a:xfrm>
            <a:off x="777240" y="5486400"/>
            <a:ext cx="5120640" cy="502920"/>
          </a:xfrm>
          <a:prstGeom prst="roundRect">
            <a:avLst>
              <a:gd name="adj" fmla="val 50000"/>
            </a:avLst>
          </a:prstGeom>
          <a:solidFill>
            <a:srgbClr val="1B2942"/>
          </a:solidFill>
          <a:ln w="9525">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5669280"/>
            <a:ext cx="137160" cy="13716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6152" y="5596128"/>
            <a:ext cx="4572000" cy="502920"/>
          </a:xfrm>
          <a:prstGeom prst="rect">
            <a:avLst/>
          </a:prstGeom>
          <a:noFill/>
        </p:spPr>
        <p:txBody>
          <a:bodyPr wrap="square" lIns="0" rIns="0" tIns="0" bIns="0" anchor="t">
            <a:spAutoFit/>
          </a:bodyPr>
          <a:lstStyle/>
          <a:p>
            <a:pPr algn="l"/>
            <a:r>
              <a:rPr sz="1100" b="1" spc="200">
                <a:solidFill>
                  <a:srgbClr val="F8FAFC"/>
                </a:solidFill>
                <a:latin typeface="Inter"/>
              </a:rPr>
              <a:t>VIKRAM AKKALA    ·    PRANAV PABBA</a:t>
            </a:r>
          </a:p>
        </p:txBody>
      </p:sp>
      <p:sp>
        <p:nvSpPr>
          <p:cNvPr id="11" name="TextBox 10"/>
          <p:cNvSpPr txBox="1"/>
          <p:nvPr/>
        </p:nvSpPr>
        <p:spPr>
          <a:xfrm>
            <a:off x="7528255" y="5596128"/>
            <a:ext cx="4114800" cy="274320"/>
          </a:xfrm>
          <a:prstGeom prst="rect">
            <a:avLst/>
          </a:prstGeom>
          <a:noFill/>
        </p:spPr>
        <p:txBody>
          <a:bodyPr wrap="square" lIns="0" rIns="0" tIns="0" bIns="0" anchor="t">
            <a:spAutoFit/>
          </a:bodyPr>
          <a:lstStyle/>
          <a:p>
            <a:pPr algn="r"/>
            <a:r>
              <a:rPr sz="1100" b="0">
                <a:solidFill>
                  <a:srgbClr val="94A3B8"/>
                </a:solidFill>
                <a:latin typeface="JetBrains Mono"/>
              </a:rPr>
              <a:t>noir → ultraplonk → solidity</a:t>
            </a:r>
          </a:p>
        </p:txBody>
      </p:sp>
      <p:sp>
        <p:nvSpPr>
          <p:cNvPr id="12" name="Rectangle 11"/>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720840"/>
            <a:ext cx="1008583"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01  ·  THE PROBLEM</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A game built on hidden state.</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2017166"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02 / 11</a:t>
            </a:r>
          </a:p>
        </p:txBody>
      </p:sp>
      <p:sp>
        <p:nvSpPr>
          <p:cNvPr id="10" name="TextBox 9"/>
          <p:cNvSpPr txBox="1"/>
          <p:nvPr/>
        </p:nvSpPr>
        <p:spPr>
          <a:xfrm>
            <a:off x="548640" y="2377440"/>
            <a:ext cx="1097280" cy="1828800"/>
          </a:xfrm>
          <a:prstGeom prst="rect">
            <a:avLst/>
          </a:prstGeom>
          <a:noFill/>
        </p:spPr>
        <p:txBody>
          <a:bodyPr wrap="square" lIns="0" rIns="0" tIns="0" bIns="0" anchor="t">
            <a:spAutoFit/>
          </a:bodyPr>
          <a:lstStyle/>
          <a:p>
            <a:pPr algn="l"/>
            <a:r>
              <a:rPr sz="18000" b="1">
                <a:solidFill>
                  <a:srgbClr val="F97316"/>
                </a:solidFill>
                <a:latin typeface="Inter"/>
              </a:rPr>
              <a:t>“</a:t>
            </a:r>
          </a:p>
        </p:txBody>
      </p:sp>
      <p:sp>
        <p:nvSpPr>
          <p:cNvPr id="11" name="TextBox 10"/>
          <p:cNvSpPr txBox="1"/>
          <p:nvPr/>
        </p:nvSpPr>
        <p:spPr>
          <a:xfrm>
            <a:off x="1737360" y="2788920"/>
            <a:ext cx="9966960" cy="2377440"/>
          </a:xfrm>
          <a:prstGeom prst="rect">
            <a:avLst/>
          </a:prstGeom>
          <a:noFill/>
        </p:spPr>
        <p:txBody>
          <a:bodyPr wrap="square" lIns="0" rIns="0" tIns="0" bIns="0">
            <a:spAutoFit/>
          </a:bodyPr>
          <a:lstStyle/>
          <a:p>
            <a:pPr algn="l">
              <a:spcBef>
                <a:spcPts val="0"/>
              </a:spcBef>
            </a:pPr>
            <a:r>
              <a:rPr sz="4200" b="1">
                <a:solidFill>
                  <a:srgbClr val="F8FAFC"/>
                </a:solidFill>
                <a:latin typeface="Inter"/>
              </a:rPr>
              <a:t>How do you prove your board</a:t>
            </a:r>
          </a:p>
          <a:p>
            <a:pPr algn="l">
              <a:spcBef>
                <a:spcPts val="0"/>
              </a:spcBef>
            </a:pPr>
            <a:r>
              <a:rPr sz="4200" b="1">
                <a:solidFill>
                  <a:srgbClr val="F97316"/>
                </a:solidFill>
                <a:latin typeface="Inter"/>
              </a:rPr>
              <a:t>is legal—without revealing it?</a:t>
            </a:r>
          </a:p>
        </p:txBody>
      </p:sp>
      <p:sp>
        <p:nvSpPr>
          <p:cNvPr id="12" name="TextBox 11"/>
          <p:cNvSpPr txBox="1"/>
          <p:nvPr/>
        </p:nvSpPr>
        <p:spPr>
          <a:xfrm>
            <a:off x="1737360" y="5074920"/>
            <a:ext cx="9966960" cy="365760"/>
          </a:xfrm>
          <a:prstGeom prst="rect">
            <a:avLst/>
          </a:prstGeom>
          <a:noFill/>
        </p:spPr>
        <p:txBody>
          <a:bodyPr wrap="square" lIns="0" rIns="0" tIns="0" bIns="0" anchor="t">
            <a:spAutoFit/>
          </a:bodyPr>
          <a:lstStyle/>
          <a:p>
            <a:pPr algn="l"/>
            <a:r>
              <a:rPr sz="1400" b="0">
                <a:solidFill>
                  <a:srgbClr val="94A3B8"/>
                </a:solidFill>
                <a:latin typeface="Inter"/>
              </a:rPr>
              <a:t>— the central cryptographic puzzle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02  ·  MERKLE 101</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A Merkle tree, in one picture.</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3025749"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03 / 11</a:t>
            </a:r>
          </a:p>
        </p:txBody>
      </p:sp>
      <p:sp>
        <p:nvSpPr>
          <p:cNvPr id="10" name="Rounded Rectangle 9"/>
          <p:cNvSpPr/>
          <p:nvPr/>
        </p:nvSpPr>
        <p:spPr>
          <a:xfrm>
            <a:off x="548640" y="2377440"/>
            <a:ext cx="6217920" cy="3566160"/>
          </a:xfrm>
          <a:prstGeom prst="roundRect">
            <a:avLst>
              <a:gd name="adj" fmla="val 6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26080" y="2880360"/>
            <a:ext cx="1463040" cy="411480"/>
          </a:xfrm>
          <a:prstGeom prst="roundRect">
            <a:avLst>
              <a:gd name="adj" fmla="val 40000"/>
            </a:avLst>
          </a:prstGeom>
          <a:solidFill>
            <a:srgbClr val="F97316"/>
          </a:solidFill>
          <a:ln>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2926080"/>
            <a:ext cx="1463040" cy="411480"/>
          </a:xfrm>
          <a:prstGeom prst="rect">
            <a:avLst/>
          </a:prstGeom>
          <a:noFill/>
        </p:spPr>
        <p:txBody>
          <a:bodyPr wrap="square" lIns="0" rIns="0" tIns="0" bIns="0" anchor="t">
            <a:spAutoFit/>
          </a:bodyPr>
          <a:lstStyle/>
          <a:p>
            <a:pPr algn="ctr"/>
            <a:r>
              <a:rPr sz="1300" b="1">
                <a:solidFill>
                  <a:srgbClr val="0A0F1A"/>
                </a:solidFill>
                <a:latin typeface="Inter"/>
              </a:rPr>
              <a:t>ROOT</a:t>
            </a:r>
          </a:p>
        </p:txBody>
      </p:sp>
      <p:sp>
        <p:nvSpPr>
          <p:cNvPr id="13" name="Rounded Rectangle 12"/>
          <p:cNvSpPr/>
          <p:nvPr/>
        </p:nvSpPr>
        <p:spPr>
          <a:xfrm>
            <a:off x="1682496" y="3657600"/>
            <a:ext cx="1463040" cy="411480"/>
          </a:xfrm>
          <a:prstGeom prst="roundRect">
            <a:avLst>
              <a:gd name="adj" fmla="val 40000"/>
            </a:avLst>
          </a:prstGeom>
          <a:solidFill>
            <a:srgbClr val="22335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82496" y="3703320"/>
            <a:ext cx="1463040" cy="411480"/>
          </a:xfrm>
          <a:prstGeom prst="rect">
            <a:avLst/>
          </a:prstGeom>
          <a:noFill/>
        </p:spPr>
        <p:txBody>
          <a:bodyPr wrap="square" lIns="0" rIns="0" tIns="0" bIns="0" anchor="t">
            <a:spAutoFit/>
          </a:bodyPr>
          <a:lstStyle/>
          <a:p>
            <a:pPr algn="ctr"/>
            <a:r>
              <a:rPr sz="1200" b="1">
                <a:solidFill>
                  <a:srgbClr val="F8FAFC"/>
                </a:solidFill>
                <a:latin typeface="JetBrains Mono"/>
              </a:rPr>
              <a:t>H(AB)</a:t>
            </a:r>
          </a:p>
        </p:txBody>
      </p:sp>
      <p:sp>
        <p:nvSpPr>
          <p:cNvPr id="15" name="Rounded Rectangle 14"/>
          <p:cNvSpPr/>
          <p:nvPr/>
        </p:nvSpPr>
        <p:spPr>
          <a:xfrm>
            <a:off x="4169664" y="3657600"/>
            <a:ext cx="1463040" cy="411480"/>
          </a:xfrm>
          <a:prstGeom prst="roundRect">
            <a:avLst>
              <a:gd name="adj" fmla="val 40000"/>
            </a:avLst>
          </a:prstGeom>
          <a:solidFill>
            <a:srgbClr val="22335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9664" y="3703320"/>
            <a:ext cx="1463040" cy="411480"/>
          </a:xfrm>
          <a:prstGeom prst="rect">
            <a:avLst/>
          </a:prstGeom>
          <a:noFill/>
        </p:spPr>
        <p:txBody>
          <a:bodyPr wrap="square" lIns="0" rIns="0" tIns="0" bIns="0" anchor="t">
            <a:spAutoFit/>
          </a:bodyPr>
          <a:lstStyle/>
          <a:p>
            <a:pPr algn="ctr"/>
            <a:r>
              <a:rPr sz="1200" b="1">
                <a:solidFill>
                  <a:srgbClr val="F8FAFC"/>
                </a:solidFill>
                <a:latin typeface="JetBrains Mono"/>
              </a:rPr>
              <a:t>H(CD)</a:t>
            </a:r>
          </a:p>
        </p:txBody>
      </p:sp>
      <p:sp>
        <p:nvSpPr>
          <p:cNvPr id="17" name="Rounded Rectangle 16"/>
          <p:cNvSpPr/>
          <p:nvPr/>
        </p:nvSpPr>
        <p:spPr>
          <a:xfrm>
            <a:off x="886968" y="4526280"/>
            <a:ext cx="1188720" cy="411480"/>
          </a:xfrm>
          <a:prstGeom prst="roundRect">
            <a:avLst>
              <a:gd name="adj" fmla="val 40000"/>
            </a:avLst>
          </a:prstGeom>
          <a:solidFill>
            <a:srgbClr val="0A0F1A"/>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4572000"/>
            <a:ext cx="1188720" cy="411480"/>
          </a:xfrm>
          <a:prstGeom prst="rect">
            <a:avLst/>
          </a:prstGeom>
          <a:noFill/>
        </p:spPr>
        <p:txBody>
          <a:bodyPr wrap="square" lIns="0" rIns="0" tIns="0" bIns="0" anchor="t">
            <a:spAutoFit/>
          </a:bodyPr>
          <a:lstStyle/>
          <a:p>
            <a:pPr algn="ctr"/>
            <a:r>
              <a:rPr sz="1100" b="1">
                <a:solidFill>
                  <a:srgbClr val="38BDF8"/>
                </a:solidFill>
                <a:latin typeface="JetBrains Mono"/>
              </a:rPr>
              <a:t>cell A</a:t>
            </a:r>
          </a:p>
        </p:txBody>
      </p:sp>
      <p:sp>
        <p:nvSpPr>
          <p:cNvPr id="19" name="Rounded Rectangle 18"/>
          <p:cNvSpPr/>
          <p:nvPr/>
        </p:nvSpPr>
        <p:spPr>
          <a:xfrm>
            <a:off x="2317089" y="4526280"/>
            <a:ext cx="1188720" cy="411480"/>
          </a:xfrm>
          <a:prstGeom prst="roundRect">
            <a:avLst>
              <a:gd name="adj" fmla="val 40000"/>
            </a:avLst>
          </a:prstGeom>
          <a:solidFill>
            <a:srgbClr val="0A0F1A"/>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17089" y="4572000"/>
            <a:ext cx="1188720" cy="411480"/>
          </a:xfrm>
          <a:prstGeom prst="rect">
            <a:avLst/>
          </a:prstGeom>
          <a:noFill/>
        </p:spPr>
        <p:txBody>
          <a:bodyPr wrap="square" lIns="0" rIns="0" tIns="0" bIns="0" anchor="t">
            <a:spAutoFit/>
          </a:bodyPr>
          <a:lstStyle/>
          <a:p>
            <a:pPr algn="ctr"/>
            <a:r>
              <a:rPr sz="1100" b="1">
                <a:solidFill>
                  <a:srgbClr val="38BDF8"/>
                </a:solidFill>
                <a:latin typeface="JetBrains Mono"/>
              </a:rPr>
              <a:t>cell B</a:t>
            </a:r>
          </a:p>
        </p:txBody>
      </p:sp>
      <p:sp>
        <p:nvSpPr>
          <p:cNvPr id="21" name="Rounded Rectangle 20"/>
          <p:cNvSpPr/>
          <p:nvPr/>
        </p:nvSpPr>
        <p:spPr>
          <a:xfrm>
            <a:off x="3809390" y="4526280"/>
            <a:ext cx="1188720" cy="411480"/>
          </a:xfrm>
          <a:prstGeom prst="roundRect">
            <a:avLst>
              <a:gd name="adj" fmla="val 40000"/>
            </a:avLst>
          </a:prstGeom>
          <a:solidFill>
            <a:srgbClr val="0A0F1A"/>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09390" y="4572000"/>
            <a:ext cx="1188720" cy="411480"/>
          </a:xfrm>
          <a:prstGeom prst="rect">
            <a:avLst/>
          </a:prstGeom>
          <a:noFill/>
        </p:spPr>
        <p:txBody>
          <a:bodyPr wrap="square" lIns="0" rIns="0" tIns="0" bIns="0" anchor="t">
            <a:spAutoFit/>
          </a:bodyPr>
          <a:lstStyle/>
          <a:p>
            <a:pPr algn="ctr"/>
            <a:r>
              <a:rPr sz="1100" b="1">
                <a:solidFill>
                  <a:srgbClr val="38BDF8"/>
                </a:solidFill>
                <a:latin typeface="JetBrains Mono"/>
              </a:rPr>
              <a:t>cell C</a:t>
            </a:r>
          </a:p>
        </p:txBody>
      </p:sp>
      <p:sp>
        <p:nvSpPr>
          <p:cNvPr id="23" name="Rounded Rectangle 22"/>
          <p:cNvSpPr/>
          <p:nvPr/>
        </p:nvSpPr>
        <p:spPr>
          <a:xfrm>
            <a:off x="5239512" y="4526280"/>
            <a:ext cx="1188720" cy="411480"/>
          </a:xfrm>
          <a:prstGeom prst="roundRect">
            <a:avLst>
              <a:gd name="adj" fmla="val 40000"/>
            </a:avLst>
          </a:prstGeom>
          <a:solidFill>
            <a:srgbClr val="0A0F1A"/>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9512" y="4572000"/>
            <a:ext cx="1188720" cy="411480"/>
          </a:xfrm>
          <a:prstGeom prst="rect">
            <a:avLst/>
          </a:prstGeom>
          <a:noFill/>
        </p:spPr>
        <p:txBody>
          <a:bodyPr wrap="square" lIns="0" rIns="0" tIns="0" bIns="0" anchor="t">
            <a:spAutoFit/>
          </a:bodyPr>
          <a:lstStyle/>
          <a:p>
            <a:pPr algn="ctr"/>
            <a:r>
              <a:rPr sz="1100" b="1">
                <a:solidFill>
                  <a:srgbClr val="38BDF8"/>
                </a:solidFill>
                <a:latin typeface="JetBrains Mono"/>
              </a:rPr>
              <a:t>cell D</a:t>
            </a:r>
          </a:p>
        </p:txBody>
      </p:sp>
      <p:cxnSp>
        <p:nvCxnSpPr>
          <p:cNvPr id="25" name="Connector 24"/>
          <p:cNvCxnSpPr/>
          <p:nvPr/>
        </p:nvCxnSpPr>
        <p:spPr>
          <a:xfrm flipV="1">
            <a:off x="2414016" y="3291840"/>
            <a:ext cx="1243584" cy="365760"/>
          </a:xfrm>
          <a:prstGeom prst="bentConnector3">
            <a:avLst/>
          </a:prstGeom>
          <a:ln w="22225">
            <a:solidFill>
              <a:srgbClr val="273449"/>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3657600" y="3291840"/>
            <a:ext cx="1243584" cy="365760"/>
          </a:xfrm>
          <a:prstGeom prst="bentConnector3">
            <a:avLst/>
          </a:prstGeom>
          <a:ln w="22225">
            <a:solidFill>
              <a:srgbClr val="273449"/>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481328" y="4069080"/>
            <a:ext cx="932688" cy="457200"/>
          </a:xfrm>
          <a:prstGeom prst="bentConnector3">
            <a:avLst/>
          </a:prstGeom>
          <a:ln w="22225">
            <a:solidFill>
              <a:srgbClr val="273449"/>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414016" y="4069080"/>
            <a:ext cx="497433" cy="457200"/>
          </a:xfrm>
          <a:prstGeom prst="bentConnector3">
            <a:avLst/>
          </a:prstGeom>
          <a:ln w="22225">
            <a:solidFill>
              <a:srgbClr val="273449"/>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403750" y="4069080"/>
            <a:ext cx="497434" cy="457200"/>
          </a:xfrm>
          <a:prstGeom prst="bentConnector3">
            <a:avLst/>
          </a:prstGeom>
          <a:ln w="22225">
            <a:solidFill>
              <a:srgbClr val="273449"/>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4901184" y="4069080"/>
            <a:ext cx="932688" cy="457200"/>
          </a:xfrm>
          <a:prstGeom prst="bentConnector3">
            <a:avLst/>
          </a:prstGeom>
          <a:ln w="22225">
            <a:solidFill>
              <a:srgbClr val="273449"/>
            </a:solidFill>
            <a:tailEnd type="triangle" w="med" h="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2960" y="5212080"/>
            <a:ext cx="5669280" cy="548640"/>
          </a:xfrm>
          <a:prstGeom prst="rect">
            <a:avLst/>
          </a:prstGeom>
          <a:noFill/>
        </p:spPr>
        <p:txBody>
          <a:bodyPr wrap="square" lIns="0" rIns="0" tIns="0" bIns="0" anchor="t">
            <a:spAutoFit/>
          </a:bodyPr>
          <a:lstStyle/>
          <a:p>
            <a:pPr algn="ctr"/>
            <a:r>
              <a:rPr sz="1300" b="0">
                <a:solidFill>
                  <a:srgbClr val="94A3B8"/>
                </a:solidFill>
                <a:latin typeface="Inter"/>
              </a:rPr>
              <a:t>Hash pairs up the tree. The root fingerprints every leaf.</a:t>
            </a:r>
          </a:p>
        </p:txBody>
      </p:sp>
      <p:sp>
        <p:nvSpPr>
          <p:cNvPr id="32" name="TextBox 31"/>
          <p:cNvSpPr txBox="1"/>
          <p:nvPr/>
        </p:nvSpPr>
        <p:spPr>
          <a:xfrm>
            <a:off x="7132320" y="2468880"/>
            <a:ext cx="4510735" cy="365760"/>
          </a:xfrm>
          <a:prstGeom prst="rect">
            <a:avLst/>
          </a:prstGeom>
          <a:noFill/>
        </p:spPr>
        <p:txBody>
          <a:bodyPr wrap="square" lIns="0" rIns="0" tIns="0" bIns="0" anchor="t">
            <a:spAutoFit/>
          </a:bodyPr>
          <a:lstStyle/>
          <a:p>
            <a:pPr algn="l"/>
            <a:r>
              <a:rPr sz="1100" b="1" spc="250">
                <a:solidFill>
                  <a:srgbClr val="38BDF8"/>
                </a:solidFill>
                <a:latin typeface="Inter"/>
              </a:rPr>
              <a:t>THE CORE PROPERTY</a:t>
            </a:r>
          </a:p>
        </p:txBody>
      </p:sp>
      <p:sp>
        <p:nvSpPr>
          <p:cNvPr id="33" name="TextBox 32"/>
          <p:cNvSpPr txBox="1"/>
          <p:nvPr/>
        </p:nvSpPr>
        <p:spPr>
          <a:xfrm>
            <a:off x="7132320" y="2834640"/>
            <a:ext cx="4510735" cy="640080"/>
          </a:xfrm>
          <a:prstGeom prst="rect">
            <a:avLst/>
          </a:prstGeom>
          <a:noFill/>
        </p:spPr>
        <p:txBody>
          <a:bodyPr wrap="square" lIns="0" rIns="0" tIns="0" bIns="0" anchor="t">
            <a:spAutoFit/>
          </a:bodyPr>
          <a:lstStyle/>
          <a:p>
            <a:pPr algn="l"/>
            <a:r>
              <a:rPr sz="2200" b="1">
                <a:solidFill>
                  <a:srgbClr val="F8FAFC"/>
                </a:solidFill>
                <a:latin typeface="Inter"/>
              </a:rPr>
              <a:t>One root commits to every leaf.</a:t>
            </a:r>
          </a:p>
        </p:txBody>
      </p:sp>
      <p:sp>
        <p:nvSpPr>
          <p:cNvPr id="34" name="TextBox 33"/>
          <p:cNvSpPr txBox="1"/>
          <p:nvPr/>
        </p:nvSpPr>
        <p:spPr>
          <a:xfrm>
            <a:off x="7132320" y="365760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35" name="TextBox 34"/>
          <p:cNvSpPr txBox="1"/>
          <p:nvPr/>
        </p:nvSpPr>
        <p:spPr>
          <a:xfrm>
            <a:off x="7680960" y="3657600"/>
            <a:ext cx="3962095" cy="457200"/>
          </a:xfrm>
          <a:prstGeom prst="rect">
            <a:avLst/>
          </a:prstGeom>
          <a:noFill/>
        </p:spPr>
        <p:txBody>
          <a:bodyPr wrap="square" lIns="0" rIns="0" tIns="0" bIns="0" anchor="t">
            <a:spAutoFit/>
          </a:bodyPr>
          <a:lstStyle/>
          <a:p>
            <a:pPr algn="l"/>
            <a:r>
              <a:rPr sz="1600" b="0">
                <a:solidFill>
                  <a:srgbClr val="F8FAFC"/>
                </a:solidFill>
                <a:latin typeface="Inter"/>
              </a:rPr>
              <a:t>Publish only the root on-chain.</a:t>
            </a:r>
          </a:p>
        </p:txBody>
      </p:sp>
      <p:sp>
        <p:nvSpPr>
          <p:cNvPr id="36" name="TextBox 35"/>
          <p:cNvSpPr txBox="1"/>
          <p:nvPr/>
        </p:nvSpPr>
        <p:spPr>
          <a:xfrm>
            <a:off x="7132320" y="420624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37" name="TextBox 36"/>
          <p:cNvSpPr txBox="1"/>
          <p:nvPr/>
        </p:nvSpPr>
        <p:spPr>
          <a:xfrm>
            <a:off x="7680960" y="4206240"/>
            <a:ext cx="3962095" cy="457200"/>
          </a:xfrm>
          <a:prstGeom prst="rect">
            <a:avLst/>
          </a:prstGeom>
          <a:noFill/>
        </p:spPr>
        <p:txBody>
          <a:bodyPr wrap="square" lIns="0" rIns="0" tIns="0" bIns="0" anchor="t">
            <a:spAutoFit/>
          </a:bodyPr>
          <a:lstStyle/>
          <a:p>
            <a:pPr algn="l"/>
            <a:r>
              <a:rPr sz="1600" b="0">
                <a:solidFill>
                  <a:srgbClr val="F8FAFC"/>
                </a:solidFill>
                <a:latin typeface="Inter"/>
              </a:rPr>
              <a:t>Reveal any one leaf with a short path.</a:t>
            </a:r>
          </a:p>
        </p:txBody>
      </p:sp>
      <p:sp>
        <p:nvSpPr>
          <p:cNvPr id="38" name="TextBox 37"/>
          <p:cNvSpPr txBox="1"/>
          <p:nvPr/>
        </p:nvSpPr>
        <p:spPr>
          <a:xfrm>
            <a:off x="7132320" y="475488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39" name="TextBox 38"/>
          <p:cNvSpPr txBox="1"/>
          <p:nvPr/>
        </p:nvSpPr>
        <p:spPr>
          <a:xfrm>
            <a:off x="7680960" y="4754880"/>
            <a:ext cx="3962095" cy="457200"/>
          </a:xfrm>
          <a:prstGeom prst="rect">
            <a:avLst/>
          </a:prstGeom>
          <a:noFill/>
        </p:spPr>
        <p:txBody>
          <a:bodyPr wrap="square" lIns="0" rIns="0" tIns="0" bIns="0" anchor="t">
            <a:spAutoFit/>
          </a:bodyPr>
          <a:lstStyle/>
          <a:p>
            <a:pPr algn="l"/>
            <a:r>
              <a:rPr sz="1600" b="0">
                <a:solidFill>
                  <a:srgbClr val="F8FAFC"/>
                </a:solidFill>
                <a:latin typeface="Inter"/>
              </a:rPr>
              <a:t>The root cannot be forged later.</a:t>
            </a:r>
          </a:p>
        </p:txBody>
      </p:sp>
      <p:sp>
        <p:nvSpPr>
          <p:cNvPr id="40" name="TextBox 39"/>
          <p:cNvSpPr txBox="1"/>
          <p:nvPr/>
        </p:nvSpPr>
        <p:spPr>
          <a:xfrm>
            <a:off x="7132320" y="530352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41" name="TextBox 40"/>
          <p:cNvSpPr txBox="1"/>
          <p:nvPr/>
        </p:nvSpPr>
        <p:spPr>
          <a:xfrm>
            <a:off x="7680960" y="5303520"/>
            <a:ext cx="3962095" cy="457200"/>
          </a:xfrm>
          <a:prstGeom prst="rect">
            <a:avLst/>
          </a:prstGeom>
          <a:noFill/>
        </p:spPr>
        <p:txBody>
          <a:bodyPr wrap="square" lIns="0" rIns="0" tIns="0" bIns="0" anchor="t">
            <a:spAutoFit/>
          </a:bodyPr>
          <a:lstStyle/>
          <a:p>
            <a:pPr algn="l"/>
            <a:r>
              <a:rPr sz="1600" b="0">
                <a:solidFill>
                  <a:srgbClr val="F8FAFC"/>
                </a:solidFill>
                <a:latin typeface="Inter"/>
              </a:rPr>
              <a:t>100 cells means ~7 hashes per proof.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03  ·  MERKLE IN BATTLESHIP</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Every cell is a leaf.</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4034332"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04 / 11</a:t>
            </a:r>
          </a:p>
        </p:txBody>
      </p:sp>
      <p:sp>
        <p:nvSpPr>
          <p:cNvPr id="10" name="Rounded Rectangle 9"/>
          <p:cNvSpPr/>
          <p:nvPr/>
        </p:nvSpPr>
        <p:spPr>
          <a:xfrm>
            <a:off x="411480" y="2194560"/>
            <a:ext cx="3840480" cy="3840480"/>
          </a:xfrm>
          <a:prstGeom prst="roundRect">
            <a:avLst>
              <a:gd name="adj" fmla="val 5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05256"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261872"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618488"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975104"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31720"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88336"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44952"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01568"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58184" y="233172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256"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61872"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18488"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75104"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31720"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88336"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44952"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01568"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758184" y="268833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256" y="3044952"/>
            <a:ext cx="356616" cy="356616"/>
          </a:xfrm>
          <a:prstGeom prst="rect">
            <a:avLst/>
          </a:prstGeom>
          <a:solidFill>
            <a:srgbClr val="F97316"/>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1872" y="3044952"/>
            <a:ext cx="356616" cy="356616"/>
          </a:xfrm>
          <a:prstGeom prst="rect">
            <a:avLst/>
          </a:prstGeom>
          <a:solidFill>
            <a:srgbClr val="F97316"/>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618488" y="3044952"/>
            <a:ext cx="356616" cy="356616"/>
          </a:xfrm>
          <a:prstGeom prst="rect">
            <a:avLst/>
          </a:prstGeom>
          <a:solidFill>
            <a:srgbClr val="F97316"/>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975104"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331720"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88336"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044952"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401568"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758184" y="304495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05256"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261872"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618488"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75104"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31720"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8336"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044952"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401568"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758184" y="340156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48640"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05256"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261872"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618488"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975104"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331720"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688336"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044952"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401568"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758184" y="375818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48640"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05256"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261872"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18488"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975104"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31720"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688336"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044952"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3401568"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3758184" y="4114800"/>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8640"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05256"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261872"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618488"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975104"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331720" y="4471416"/>
            <a:ext cx="356616" cy="356616"/>
          </a:xfrm>
          <a:prstGeom prst="rect">
            <a:avLst/>
          </a:prstGeom>
          <a:solidFill>
            <a:srgbClr val="F97316"/>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688336"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044952"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3401568"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3758184" y="4471416"/>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48640"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905256"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261872"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618488"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975104"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331720" y="4828032"/>
            <a:ext cx="356616" cy="356616"/>
          </a:xfrm>
          <a:prstGeom prst="rect">
            <a:avLst/>
          </a:prstGeom>
          <a:solidFill>
            <a:srgbClr val="F97316"/>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688336"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3044952"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3401568"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3758184" y="4828032"/>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548640"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905256"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261872"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618488"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975104"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331720"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688336"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3044952"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3401568"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758184" y="5184648"/>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48640"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05256"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261872"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618488"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975104"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331720"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2688336"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3044952"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3401568"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3758184" y="5541264"/>
            <a:ext cx="356616" cy="356616"/>
          </a:xfrm>
          <a:prstGeom prst="rect">
            <a:avLst/>
          </a:prstGeom>
          <a:solidFill>
            <a:srgbClr val="0A0F1A"/>
          </a:solidFill>
          <a:ln w="635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548640" y="6035040"/>
            <a:ext cx="3566160" cy="365760"/>
          </a:xfrm>
          <a:prstGeom prst="rect">
            <a:avLst/>
          </a:prstGeom>
          <a:noFill/>
        </p:spPr>
        <p:txBody>
          <a:bodyPr wrap="square" lIns="0" rIns="0" tIns="0" bIns="0" anchor="t">
            <a:spAutoFit/>
          </a:bodyPr>
          <a:lstStyle/>
          <a:p>
            <a:pPr algn="ctr"/>
            <a:r>
              <a:rPr sz="1200" b="1">
                <a:solidFill>
                  <a:srgbClr val="94A3B8"/>
                </a:solidFill>
                <a:latin typeface="Inter"/>
              </a:rPr>
              <a:t>100 cells = 100 leaves</a:t>
            </a:r>
          </a:p>
        </p:txBody>
      </p:sp>
      <p:sp>
        <p:nvSpPr>
          <p:cNvPr id="112" name="TextBox 111"/>
          <p:cNvSpPr txBox="1"/>
          <p:nvPr/>
        </p:nvSpPr>
        <p:spPr>
          <a:xfrm>
            <a:off x="4754880" y="2286000"/>
            <a:ext cx="6888175" cy="365760"/>
          </a:xfrm>
          <a:prstGeom prst="rect">
            <a:avLst/>
          </a:prstGeom>
          <a:noFill/>
        </p:spPr>
        <p:txBody>
          <a:bodyPr wrap="square" lIns="0" rIns="0" tIns="0" bIns="0" anchor="t">
            <a:spAutoFit/>
          </a:bodyPr>
          <a:lstStyle/>
          <a:p>
            <a:pPr algn="l"/>
            <a:r>
              <a:rPr sz="1100" b="1" spc="250">
                <a:solidFill>
                  <a:srgbClr val="38BDF8"/>
                </a:solidFill>
                <a:latin typeface="Inter"/>
              </a:rPr>
              <a:t>THE RECIPE</a:t>
            </a:r>
          </a:p>
        </p:txBody>
      </p:sp>
      <p:sp>
        <p:nvSpPr>
          <p:cNvPr id="113" name="Rounded Rectangle 112"/>
          <p:cNvSpPr/>
          <p:nvPr/>
        </p:nvSpPr>
        <p:spPr>
          <a:xfrm>
            <a:off x="4754880" y="2743200"/>
            <a:ext cx="1051560" cy="347472"/>
          </a:xfrm>
          <a:prstGeom prst="roundRect">
            <a:avLst>
              <a:gd name="adj" fmla="val 30000"/>
            </a:avLst>
          </a:prstGeom>
          <a:solidFill>
            <a:srgbClr val="1B294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4754880" y="2788920"/>
            <a:ext cx="1051560" cy="320040"/>
          </a:xfrm>
          <a:prstGeom prst="rect">
            <a:avLst/>
          </a:prstGeom>
          <a:noFill/>
        </p:spPr>
        <p:txBody>
          <a:bodyPr wrap="square" lIns="0" rIns="0" tIns="0" bIns="0" anchor="t">
            <a:spAutoFit/>
          </a:bodyPr>
          <a:lstStyle/>
          <a:p>
            <a:pPr algn="ctr"/>
            <a:r>
              <a:rPr sz="1000" b="1" spc="150">
                <a:solidFill>
                  <a:srgbClr val="F97316"/>
                </a:solidFill>
                <a:latin typeface="JetBrains Mono"/>
              </a:rPr>
              <a:t>LEAF</a:t>
            </a:r>
          </a:p>
        </p:txBody>
      </p:sp>
      <p:sp>
        <p:nvSpPr>
          <p:cNvPr id="115" name="TextBox 114"/>
          <p:cNvSpPr txBox="1"/>
          <p:nvPr/>
        </p:nvSpPr>
        <p:spPr>
          <a:xfrm>
            <a:off x="5943600" y="2779776"/>
            <a:ext cx="5699455" cy="365760"/>
          </a:xfrm>
          <a:prstGeom prst="rect">
            <a:avLst/>
          </a:prstGeom>
          <a:noFill/>
        </p:spPr>
        <p:txBody>
          <a:bodyPr wrap="square" lIns="0" rIns="0" tIns="0" bIns="0" anchor="t">
            <a:spAutoFit/>
          </a:bodyPr>
          <a:lstStyle/>
          <a:p>
            <a:pPr algn="l"/>
            <a:r>
              <a:rPr sz="1200" b="0">
                <a:solidFill>
                  <a:srgbClr val="F8FAFC"/>
                </a:solidFill>
                <a:latin typeface="JetBrains Mono"/>
              </a:rPr>
              <a:t>leaf_i = hash(cellIndex, occupied, salt_i)</a:t>
            </a:r>
          </a:p>
        </p:txBody>
      </p:sp>
      <p:sp>
        <p:nvSpPr>
          <p:cNvPr id="116" name="Rounded Rectangle 115"/>
          <p:cNvSpPr/>
          <p:nvPr/>
        </p:nvSpPr>
        <p:spPr>
          <a:xfrm>
            <a:off x="4754880" y="3246120"/>
            <a:ext cx="1051560" cy="347472"/>
          </a:xfrm>
          <a:prstGeom prst="roundRect">
            <a:avLst>
              <a:gd name="adj" fmla="val 30000"/>
            </a:avLst>
          </a:prstGeom>
          <a:solidFill>
            <a:srgbClr val="1B294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754880" y="3291840"/>
            <a:ext cx="1051560" cy="320040"/>
          </a:xfrm>
          <a:prstGeom prst="rect">
            <a:avLst/>
          </a:prstGeom>
          <a:noFill/>
        </p:spPr>
        <p:txBody>
          <a:bodyPr wrap="square" lIns="0" rIns="0" tIns="0" bIns="0" anchor="t">
            <a:spAutoFit/>
          </a:bodyPr>
          <a:lstStyle/>
          <a:p>
            <a:pPr algn="ctr"/>
            <a:r>
              <a:rPr sz="1000" b="1" spc="150">
                <a:solidFill>
                  <a:srgbClr val="F97316"/>
                </a:solidFill>
                <a:latin typeface="JetBrains Mono"/>
              </a:rPr>
              <a:t>COMMIT</a:t>
            </a:r>
          </a:p>
        </p:txBody>
      </p:sp>
      <p:sp>
        <p:nvSpPr>
          <p:cNvPr id="118" name="TextBox 117"/>
          <p:cNvSpPr txBox="1"/>
          <p:nvPr/>
        </p:nvSpPr>
        <p:spPr>
          <a:xfrm>
            <a:off x="5943600" y="3282696"/>
            <a:ext cx="5699455" cy="365760"/>
          </a:xfrm>
          <a:prstGeom prst="rect">
            <a:avLst/>
          </a:prstGeom>
          <a:noFill/>
        </p:spPr>
        <p:txBody>
          <a:bodyPr wrap="square" lIns="0" rIns="0" tIns="0" bIns="0" anchor="t">
            <a:spAutoFit/>
          </a:bodyPr>
          <a:lstStyle/>
          <a:p>
            <a:pPr algn="l"/>
            <a:r>
              <a:rPr sz="1200" b="0">
                <a:solidFill>
                  <a:srgbClr val="F8FAFC"/>
                </a:solidFill>
                <a:latin typeface="JetBrains Mono"/>
              </a:rPr>
              <a:t>publish merkle_root(leaves[0..100]) on-chain</a:t>
            </a:r>
          </a:p>
        </p:txBody>
      </p:sp>
      <p:sp>
        <p:nvSpPr>
          <p:cNvPr id="119" name="Rounded Rectangle 118"/>
          <p:cNvSpPr/>
          <p:nvPr/>
        </p:nvSpPr>
        <p:spPr>
          <a:xfrm>
            <a:off x="4754880" y="3749040"/>
            <a:ext cx="1051560" cy="347472"/>
          </a:xfrm>
          <a:prstGeom prst="roundRect">
            <a:avLst>
              <a:gd name="adj" fmla="val 30000"/>
            </a:avLst>
          </a:prstGeom>
          <a:solidFill>
            <a:srgbClr val="1B294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4754880" y="3794760"/>
            <a:ext cx="1051560" cy="320040"/>
          </a:xfrm>
          <a:prstGeom prst="rect">
            <a:avLst/>
          </a:prstGeom>
          <a:noFill/>
        </p:spPr>
        <p:txBody>
          <a:bodyPr wrap="square" lIns="0" rIns="0" tIns="0" bIns="0" anchor="t">
            <a:spAutoFit/>
          </a:bodyPr>
          <a:lstStyle/>
          <a:p>
            <a:pPr algn="ctr"/>
            <a:r>
              <a:rPr sz="1000" b="1" spc="150">
                <a:solidFill>
                  <a:srgbClr val="F97316"/>
                </a:solidFill>
                <a:latin typeface="JetBrains Mono"/>
              </a:rPr>
              <a:t>SHOT</a:t>
            </a:r>
          </a:p>
        </p:txBody>
      </p:sp>
      <p:sp>
        <p:nvSpPr>
          <p:cNvPr id="121" name="TextBox 120"/>
          <p:cNvSpPr txBox="1"/>
          <p:nvPr/>
        </p:nvSpPr>
        <p:spPr>
          <a:xfrm>
            <a:off x="5943600" y="3785616"/>
            <a:ext cx="5699455" cy="365760"/>
          </a:xfrm>
          <a:prstGeom prst="rect">
            <a:avLst/>
          </a:prstGeom>
          <a:noFill/>
        </p:spPr>
        <p:txBody>
          <a:bodyPr wrap="square" lIns="0" rIns="0" tIns="0" bIns="0" anchor="t">
            <a:spAutoFit/>
          </a:bodyPr>
          <a:lstStyle/>
          <a:p>
            <a:pPr algn="l"/>
            <a:r>
              <a:rPr sz="1200" b="0">
                <a:solidFill>
                  <a:srgbClr val="F8FAFC"/>
                </a:solidFill>
                <a:latin typeface="JetBrains Mono"/>
              </a:rPr>
              <a:t>opponent fires at (x, y)</a:t>
            </a:r>
          </a:p>
        </p:txBody>
      </p:sp>
      <p:sp>
        <p:nvSpPr>
          <p:cNvPr id="122" name="Rounded Rectangle 121"/>
          <p:cNvSpPr/>
          <p:nvPr/>
        </p:nvSpPr>
        <p:spPr>
          <a:xfrm>
            <a:off x="4754880" y="4251960"/>
            <a:ext cx="1051560" cy="347472"/>
          </a:xfrm>
          <a:prstGeom prst="roundRect">
            <a:avLst>
              <a:gd name="adj" fmla="val 30000"/>
            </a:avLst>
          </a:prstGeom>
          <a:solidFill>
            <a:srgbClr val="1B294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754880" y="4297680"/>
            <a:ext cx="1051560" cy="320040"/>
          </a:xfrm>
          <a:prstGeom prst="rect">
            <a:avLst/>
          </a:prstGeom>
          <a:noFill/>
        </p:spPr>
        <p:txBody>
          <a:bodyPr wrap="square" lIns="0" rIns="0" tIns="0" bIns="0" anchor="t">
            <a:spAutoFit/>
          </a:bodyPr>
          <a:lstStyle/>
          <a:p>
            <a:pPr algn="ctr"/>
            <a:r>
              <a:rPr sz="1000" b="1" spc="150">
                <a:solidFill>
                  <a:srgbClr val="F97316"/>
                </a:solidFill>
                <a:latin typeface="JetBrains Mono"/>
              </a:rPr>
              <a:t>RESPOND</a:t>
            </a:r>
          </a:p>
        </p:txBody>
      </p:sp>
      <p:sp>
        <p:nvSpPr>
          <p:cNvPr id="124" name="TextBox 123"/>
          <p:cNvSpPr txBox="1"/>
          <p:nvPr/>
        </p:nvSpPr>
        <p:spPr>
          <a:xfrm>
            <a:off x="5943600" y="4288536"/>
            <a:ext cx="5699455" cy="365760"/>
          </a:xfrm>
          <a:prstGeom prst="rect">
            <a:avLst/>
          </a:prstGeom>
          <a:noFill/>
        </p:spPr>
        <p:txBody>
          <a:bodyPr wrap="square" lIns="0" rIns="0" tIns="0" bIns="0" anchor="t">
            <a:spAutoFit/>
          </a:bodyPr>
          <a:lstStyle/>
          <a:p>
            <a:pPr algn="l"/>
            <a:r>
              <a:rPr sz="1200" b="0">
                <a:solidFill>
                  <a:srgbClr val="F8FAFC"/>
                </a:solidFill>
                <a:latin typeface="JetBrains Mono"/>
              </a:rPr>
              <a:t>reveal leaf and 7-hash path under root</a:t>
            </a:r>
          </a:p>
        </p:txBody>
      </p:sp>
      <p:sp>
        <p:nvSpPr>
          <p:cNvPr id="125" name="Rounded Rectangle 124"/>
          <p:cNvSpPr/>
          <p:nvPr/>
        </p:nvSpPr>
        <p:spPr>
          <a:xfrm>
            <a:off x="4754880" y="4754880"/>
            <a:ext cx="1051560" cy="347472"/>
          </a:xfrm>
          <a:prstGeom prst="roundRect">
            <a:avLst>
              <a:gd name="adj" fmla="val 30000"/>
            </a:avLst>
          </a:prstGeom>
          <a:solidFill>
            <a:srgbClr val="1B2942"/>
          </a:solidFill>
          <a:ln>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4754880" y="4800600"/>
            <a:ext cx="1051560" cy="320040"/>
          </a:xfrm>
          <a:prstGeom prst="rect">
            <a:avLst/>
          </a:prstGeom>
          <a:noFill/>
        </p:spPr>
        <p:txBody>
          <a:bodyPr wrap="square" lIns="0" rIns="0" tIns="0" bIns="0" anchor="t">
            <a:spAutoFit/>
          </a:bodyPr>
          <a:lstStyle/>
          <a:p>
            <a:pPr algn="ctr"/>
            <a:r>
              <a:rPr sz="1000" b="1" spc="150">
                <a:solidFill>
                  <a:srgbClr val="F97316"/>
                </a:solidFill>
                <a:latin typeface="JetBrains Mono"/>
              </a:rPr>
              <a:t>VERIFY</a:t>
            </a:r>
          </a:p>
        </p:txBody>
      </p:sp>
      <p:sp>
        <p:nvSpPr>
          <p:cNvPr id="127" name="TextBox 126"/>
          <p:cNvSpPr txBox="1"/>
          <p:nvPr/>
        </p:nvSpPr>
        <p:spPr>
          <a:xfrm>
            <a:off x="5943600" y="4791456"/>
            <a:ext cx="5699455" cy="365760"/>
          </a:xfrm>
          <a:prstGeom prst="rect">
            <a:avLst/>
          </a:prstGeom>
          <a:noFill/>
        </p:spPr>
        <p:txBody>
          <a:bodyPr wrap="square" lIns="0" rIns="0" tIns="0" bIns="0" anchor="t">
            <a:spAutoFit/>
          </a:bodyPr>
          <a:lstStyle/>
          <a:p>
            <a:pPr algn="l"/>
            <a:r>
              <a:rPr sz="1200" b="0">
                <a:solidFill>
                  <a:srgbClr val="F8FAFC"/>
                </a:solidFill>
                <a:latin typeface="JetBrains Mono"/>
              </a:rPr>
              <a:t>contract recomputes root -&gt; accepts hit/miss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04  ·  THE MERKLE HOLE</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What Merkle cannot prove.</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5042915"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05 / 11</a:t>
            </a:r>
          </a:p>
        </p:txBody>
      </p:sp>
      <p:sp>
        <p:nvSpPr>
          <p:cNvPr id="10" name="Rounded Rectangle 9"/>
          <p:cNvSpPr/>
          <p:nvPr/>
        </p:nvSpPr>
        <p:spPr>
          <a:xfrm>
            <a:off x="548640" y="2331720"/>
            <a:ext cx="5364327" cy="3108960"/>
          </a:xfrm>
          <a:prstGeom prst="roundRect">
            <a:avLst>
              <a:gd name="adj" fmla="val 8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06040"/>
            <a:ext cx="4632807" cy="365760"/>
          </a:xfrm>
          <a:prstGeom prst="rect">
            <a:avLst/>
          </a:prstGeom>
          <a:noFill/>
        </p:spPr>
        <p:txBody>
          <a:bodyPr wrap="square" lIns="0" rIns="0" tIns="0" bIns="0" anchor="t">
            <a:spAutoFit/>
          </a:bodyPr>
          <a:lstStyle/>
          <a:p>
            <a:pPr algn="l"/>
            <a:r>
              <a:rPr sz="1100" b="1" spc="250">
                <a:solidFill>
                  <a:srgbClr val="38BDF8"/>
                </a:solidFill>
                <a:latin typeface="Inter"/>
              </a:rPr>
              <a:t>MERKLE PROVES</a:t>
            </a:r>
          </a:p>
        </p:txBody>
      </p:sp>
      <p:sp>
        <p:nvSpPr>
          <p:cNvPr id="12" name="TextBox 11"/>
          <p:cNvSpPr txBox="1"/>
          <p:nvPr/>
        </p:nvSpPr>
        <p:spPr>
          <a:xfrm>
            <a:off x="914400" y="2971800"/>
            <a:ext cx="4632807" cy="502920"/>
          </a:xfrm>
          <a:prstGeom prst="rect">
            <a:avLst/>
          </a:prstGeom>
          <a:noFill/>
        </p:spPr>
        <p:txBody>
          <a:bodyPr wrap="square" lIns="0" rIns="0" tIns="0" bIns="0" anchor="t">
            <a:spAutoFit/>
          </a:bodyPr>
          <a:lstStyle/>
          <a:p>
            <a:pPr algn="l"/>
            <a:r>
              <a:rPr sz="2600" b="1">
                <a:solidFill>
                  <a:srgbClr val="F8FAFC"/>
                </a:solidFill>
                <a:latin typeface="Inter"/>
              </a:rPr>
              <a:t>Consistency.</a:t>
            </a:r>
          </a:p>
        </p:txBody>
      </p:sp>
      <p:sp>
        <p:nvSpPr>
          <p:cNvPr id="13" name="TextBox 12"/>
          <p:cNvSpPr txBox="1"/>
          <p:nvPr/>
        </p:nvSpPr>
        <p:spPr>
          <a:xfrm>
            <a:off x="914400" y="3749040"/>
            <a:ext cx="502920" cy="411480"/>
          </a:xfrm>
          <a:prstGeom prst="rect">
            <a:avLst/>
          </a:prstGeom>
          <a:noFill/>
        </p:spPr>
        <p:txBody>
          <a:bodyPr wrap="square" lIns="0" rIns="0" tIns="0" bIns="0" anchor="t">
            <a:spAutoFit/>
          </a:bodyPr>
          <a:lstStyle/>
          <a:p>
            <a:pPr algn="l"/>
            <a:r>
              <a:rPr sz="1600" b="1">
                <a:solidFill>
                  <a:srgbClr val="4ADE80"/>
                </a:solidFill>
                <a:latin typeface="Inter"/>
              </a:rPr>
              <a:t>YES</a:t>
            </a:r>
          </a:p>
        </p:txBody>
      </p:sp>
      <p:sp>
        <p:nvSpPr>
          <p:cNvPr id="14" name="TextBox 13"/>
          <p:cNvSpPr txBox="1"/>
          <p:nvPr/>
        </p:nvSpPr>
        <p:spPr>
          <a:xfrm>
            <a:off x="1463040" y="3749040"/>
            <a:ext cx="4084167" cy="457200"/>
          </a:xfrm>
          <a:prstGeom prst="rect">
            <a:avLst/>
          </a:prstGeom>
          <a:noFill/>
        </p:spPr>
        <p:txBody>
          <a:bodyPr wrap="square" lIns="0" rIns="0" tIns="0" bIns="0" anchor="t">
            <a:spAutoFit/>
          </a:bodyPr>
          <a:lstStyle/>
          <a:p>
            <a:pPr algn="l"/>
            <a:r>
              <a:rPr sz="1600" b="0">
                <a:solidFill>
                  <a:srgbClr val="F8FAFC"/>
                </a:solidFill>
                <a:latin typeface="Inter"/>
              </a:rPr>
              <a:t>You committed to 100 values.</a:t>
            </a:r>
          </a:p>
        </p:txBody>
      </p:sp>
      <p:sp>
        <p:nvSpPr>
          <p:cNvPr id="15" name="TextBox 14"/>
          <p:cNvSpPr txBox="1"/>
          <p:nvPr/>
        </p:nvSpPr>
        <p:spPr>
          <a:xfrm>
            <a:off x="914400" y="4297680"/>
            <a:ext cx="502920" cy="411480"/>
          </a:xfrm>
          <a:prstGeom prst="rect">
            <a:avLst/>
          </a:prstGeom>
          <a:noFill/>
        </p:spPr>
        <p:txBody>
          <a:bodyPr wrap="square" lIns="0" rIns="0" tIns="0" bIns="0" anchor="t">
            <a:spAutoFit/>
          </a:bodyPr>
          <a:lstStyle/>
          <a:p>
            <a:pPr algn="l"/>
            <a:r>
              <a:rPr sz="1600" b="1">
                <a:solidFill>
                  <a:srgbClr val="4ADE80"/>
                </a:solidFill>
                <a:latin typeface="Inter"/>
              </a:rPr>
              <a:t>YES</a:t>
            </a:r>
          </a:p>
        </p:txBody>
      </p:sp>
      <p:sp>
        <p:nvSpPr>
          <p:cNvPr id="16" name="TextBox 15"/>
          <p:cNvSpPr txBox="1"/>
          <p:nvPr/>
        </p:nvSpPr>
        <p:spPr>
          <a:xfrm>
            <a:off x="1463040" y="4297680"/>
            <a:ext cx="4084167" cy="457200"/>
          </a:xfrm>
          <a:prstGeom prst="rect">
            <a:avLst/>
          </a:prstGeom>
          <a:noFill/>
        </p:spPr>
        <p:txBody>
          <a:bodyPr wrap="square" lIns="0" rIns="0" tIns="0" bIns="0" anchor="t">
            <a:spAutoFit/>
          </a:bodyPr>
          <a:lstStyle/>
          <a:p>
            <a:pPr algn="l"/>
            <a:r>
              <a:rPr sz="1600" b="0">
                <a:solidFill>
                  <a:srgbClr val="F8FAFC"/>
                </a:solidFill>
                <a:latin typeface="Inter"/>
              </a:rPr>
              <a:t>You cannot change them later.</a:t>
            </a:r>
          </a:p>
        </p:txBody>
      </p:sp>
      <p:sp>
        <p:nvSpPr>
          <p:cNvPr id="17" name="TextBox 16"/>
          <p:cNvSpPr txBox="1"/>
          <p:nvPr/>
        </p:nvSpPr>
        <p:spPr>
          <a:xfrm>
            <a:off x="914400" y="4846320"/>
            <a:ext cx="502920" cy="411480"/>
          </a:xfrm>
          <a:prstGeom prst="rect">
            <a:avLst/>
          </a:prstGeom>
          <a:noFill/>
        </p:spPr>
        <p:txBody>
          <a:bodyPr wrap="square" lIns="0" rIns="0" tIns="0" bIns="0" anchor="t">
            <a:spAutoFit/>
          </a:bodyPr>
          <a:lstStyle/>
          <a:p>
            <a:pPr algn="l"/>
            <a:r>
              <a:rPr sz="1600" b="1">
                <a:solidFill>
                  <a:srgbClr val="4ADE80"/>
                </a:solidFill>
                <a:latin typeface="Inter"/>
              </a:rPr>
              <a:t>YES</a:t>
            </a:r>
          </a:p>
        </p:txBody>
      </p:sp>
      <p:sp>
        <p:nvSpPr>
          <p:cNvPr id="18" name="TextBox 17"/>
          <p:cNvSpPr txBox="1"/>
          <p:nvPr/>
        </p:nvSpPr>
        <p:spPr>
          <a:xfrm>
            <a:off x="1463040" y="4846320"/>
            <a:ext cx="4084167" cy="457200"/>
          </a:xfrm>
          <a:prstGeom prst="rect">
            <a:avLst/>
          </a:prstGeom>
          <a:noFill/>
        </p:spPr>
        <p:txBody>
          <a:bodyPr wrap="square" lIns="0" rIns="0" tIns="0" bIns="0" anchor="t">
            <a:spAutoFit/>
          </a:bodyPr>
          <a:lstStyle/>
          <a:p>
            <a:pPr algn="l"/>
            <a:r>
              <a:rPr sz="1600" b="0">
                <a:solidFill>
                  <a:srgbClr val="F8FAFC"/>
                </a:solidFill>
                <a:latin typeface="Inter"/>
              </a:rPr>
              <a:t>Any single reveal is honest.</a:t>
            </a:r>
          </a:p>
        </p:txBody>
      </p:sp>
      <p:sp>
        <p:nvSpPr>
          <p:cNvPr id="19" name="Rounded Rectangle 18"/>
          <p:cNvSpPr/>
          <p:nvPr/>
        </p:nvSpPr>
        <p:spPr>
          <a:xfrm>
            <a:off x="6278727" y="2331720"/>
            <a:ext cx="5364327" cy="3108960"/>
          </a:xfrm>
          <a:prstGeom prst="roundRect">
            <a:avLst>
              <a:gd name="adj" fmla="val 8000"/>
            </a:avLst>
          </a:prstGeom>
          <a:solidFill>
            <a:srgbClr val="2A1820"/>
          </a:solidFill>
          <a:ln w="12700">
            <a:solidFill>
              <a:srgbClr val="5A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44487" y="2606040"/>
            <a:ext cx="4632807" cy="365760"/>
          </a:xfrm>
          <a:prstGeom prst="rect">
            <a:avLst/>
          </a:prstGeom>
          <a:noFill/>
        </p:spPr>
        <p:txBody>
          <a:bodyPr wrap="square" lIns="0" rIns="0" tIns="0" bIns="0" anchor="t">
            <a:spAutoFit/>
          </a:bodyPr>
          <a:lstStyle/>
          <a:p>
            <a:pPr algn="l"/>
            <a:r>
              <a:rPr sz="1100" b="1" spc="250">
                <a:solidFill>
                  <a:srgbClr val="F87171"/>
                </a:solidFill>
                <a:latin typeface="Inter"/>
              </a:rPr>
              <a:t>MERKLE CANNOT PROVE</a:t>
            </a:r>
          </a:p>
        </p:txBody>
      </p:sp>
      <p:sp>
        <p:nvSpPr>
          <p:cNvPr id="21" name="TextBox 20"/>
          <p:cNvSpPr txBox="1"/>
          <p:nvPr/>
        </p:nvSpPr>
        <p:spPr>
          <a:xfrm>
            <a:off x="6644487" y="2971800"/>
            <a:ext cx="4632807" cy="502920"/>
          </a:xfrm>
          <a:prstGeom prst="rect">
            <a:avLst/>
          </a:prstGeom>
          <a:noFill/>
        </p:spPr>
        <p:txBody>
          <a:bodyPr wrap="square" lIns="0" rIns="0" tIns="0" bIns="0" anchor="t">
            <a:spAutoFit/>
          </a:bodyPr>
          <a:lstStyle/>
          <a:p>
            <a:pPr algn="l"/>
            <a:r>
              <a:rPr sz="2600" b="1">
                <a:solidFill>
                  <a:srgbClr val="F87171"/>
                </a:solidFill>
                <a:latin typeface="Inter"/>
              </a:rPr>
              <a:t>Legality.</a:t>
            </a:r>
          </a:p>
        </p:txBody>
      </p:sp>
      <p:sp>
        <p:nvSpPr>
          <p:cNvPr id="22" name="TextBox 21"/>
          <p:cNvSpPr txBox="1"/>
          <p:nvPr/>
        </p:nvSpPr>
        <p:spPr>
          <a:xfrm>
            <a:off x="6644487" y="3749040"/>
            <a:ext cx="502920" cy="411480"/>
          </a:xfrm>
          <a:prstGeom prst="rect">
            <a:avLst/>
          </a:prstGeom>
          <a:noFill/>
        </p:spPr>
        <p:txBody>
          <a:bodyPr wrap="square" lIns="0" rIns="0" tIns="0" bIns="0" anchor="t">
            <a:spAutoFit/>
          </a:bodyPr>
          <a:lstStyle/>
          <a:p>
            <a:pPr algn="l"/>
            <a:r>
              <a:rPr sz="1600" b="1">
                <a:solidFill>
                  <a:srgbClr val="F87171"/>
                </a:solidFill>
                <a:latin typeface="Inter"/>
              </a:rPr>
              <a:t>NO</a:t>
            </a:r>
          </a:p>
        </p:txBody>
      </p:sp>
      <p:sp>
        <p:nvSpPr>
          <p:cNvPr id="23" name="TextBox 22"/>
          <p:cNvSpPr txBox="1"/>
          <p:nvPr/>
        </p:nvSpPr>
        <p:spPr>
          <a:xfrm>
            <a:off x="7193127" y="3749040"/>
            <a:ext cx="4084167" cy="457200"/>
          </a:xfrm>
          <a:prstGeom prst="rect">
            <a:avLst/>
          </a:prstGeom>
          <a:noFill/>
        </p:spPr>
        <p:txBody>
          <a:bodyPr wrap="square" lIns="0" rIns="0" tIns="0" bIns="0" anchor="t">
            <a:spAutoFit/>
          </a:bodyPr>
          <a:lstStyle/>
          <a:p>
            <a:pPr algn="l"/>
            <a:r>
              <a:rPr sz="1600" b="0">
                <a:solidFill>
                  <a:srgbClr val="F8FAFC"/>
                </a:solidFill>
                <a:latin typeface="Inter"/>
              </a:rPr>
              <a:t>That the 100 values form a real fleet.</a:t>
            </a:r>
          </a:p>
        </p:txBody>
      </p:sp>
      <p:sp>
        <p:nvSpPr>
          <p:cNvPr id="24" name="TextBox 23"/>
          <p:cNvSpPr txBox="1"/>
          <p:nvPr/>
        </p:nvSpPr>
        <p:spPr>
          <a:xfrm>
            <a:off x="6644487" y="4297680"/>
            <a:ext cx="502920" cy="411480"/>
          </a:xfrm>
          <a:prstGeom prst="rect">
            <a:avLst/>
          </a:prstGeom>
          <a:noFill/>
        </p:spPr>
        <p:txBody>
          <a:bodyPr wrap="square" lIns="0" rIns="0" tIns="0" bIns="0" anchor="t">
            <a:spAutoFit/>
          </a:bodyPr>
          <a:lstStyle/>
          <a:p>
            <a:pPr algn="l"/>
            <a:r>
              <a:rPr sz="1600" b="1">
                <a:solidFill>
                  <a:srgbClr val="F87171"/>
                </a:solidFill>
                <a:latin typeface="Inter"/>
              </a:rPr>
              <a:t>NO</a:t>
            </a:r>
          </a:p>
        </p:txBody>
      </p:sp>
      <p:sp>
        <p:nvSpPr>
          <p:cNvPr id="25" name="TextBox 24"/>
          <p:cNvSpPr txBox="1"/>
          <p:nvPr/>
        </p:nvSpPr>
        <p:spPr>
          <a:xfrm>
            <a:off x="7193127" y="4297680"/>
            <a:ext cx="4084167" cy="457200"/>
          </a:xfrm>
          <a:prstGeom prst="rect">
            <a:avLst/>
          </a:prstGeom>
          <a:noFill/>
        </p:spPr>
        <p:txBody>
          <a:bodyPr wrap="square" lIns="0" rIns="0" tIns="0" bIns="0" anchor="t">
            <a:spAutoFit/>
          </a:bodyPr>
          <a:lstStyle/>
          <a:p>
            <a:pPr algn="l"/>
            <a:r>
              <a:rPr sz="1600" b="0">
                <a:solidFill>
                  <a:srgbClr val="F8FAFC"/>
                </a:solidFill>
                <a:latin typeface="Inter"/>
              </a:rPr>
              <a:t>No overlaps, no diagonals, correct shapes.</a:t>
            </a:r>
          </a:p>
        </p:txBody>
      </p:sp>
      <p:sp>
        <p:nvSpPr>
          <p:cNvPr id="26" name="TextBox 25"/>
          <p:cNvSpPr txBox="1"/>
          <p:nvPr/>
        </p:nvSpPr>
        <p:spPr>
          <a:xfrm>
            <a:off x="6644487" y="4846320"/>
            <a:ext cx="502920" cy="411480"/>
          </a:xfrm>
          <a:prstGeom prst="rect">
            <a:avLst/>
          </a:prstGeom>
          <a:noFill/>
        </p:spPr>
        <p:txBody>
          <a:bodyPr wrap="square" lIns="0" rIns="0" tIns="0" bIns="0" anchor="t">
            <a:spAutoFit/>
          </a:bodyPr>
          <a:lstStyle/>
          <a:p>
            <a:pPr algn="l"/>
            <a:r>
              <a:rPr sz="1600" b="1">
                <a:solidFill>
                  <a:srgbClr val="F87171"/>
                </a:solidFill>
                <a:latin typeface="Inter"/>
              </a:rPr>
              <a:t>NO</a:t>
            </a:r>
          </a:p>
        </p:txBody>
      </p:sp>
      <p:sp>
        <p:nvSpPr>
          <p:cNvPr id="27" name="TextBox 26"/>
          <p:cNvSpPr txBox="1"/>
          <p:nvPr/>
        </p:nvSpPr>
        <p:spPr>
          <a:xfrm>
            <a:off x="7193127" y="4846320"/>
            <a:ext cx="4084167" cy="457200"/>
          </a:xfrm>
          <a:prstGeom prst="rect">
            <a:avLst/>
          </a:prstGeom>
          <a:noFill/>
        </p:spPr>
        <p:txBody>
          <a:bodyPr wrap="square" lIns="0" rIns="0" tIns="0" bIns="0" anchor="t">
            <a:spAutoFit/>
          </a:bodyPr>
          <a:lstStyle/>
          <a:p>
            <a:pPr algn="l"/>
            <a:r>
              <a:rPr sz="1600" b="0">
                <a:solidFill>
                  <a:srgbClr val="F8FAFC"/>
                </a:solidFill>
                <a:latin typeface="Inter"/>
              </a:rPr>
              <a:t>Deferred reveal arrives too late.</a:t>
            </a:r>
          </a:p>
        </p:txBody>
      </p:sp>
      <p:sp>
        <p:nvSpPr>
          <p:cNvPr id="28" name="Rounded Rectangle 27"/>
          <p:cNvSpPr/>
          <p:nvPr/>
        </p:nvSpPr>
        <p:spPr>
          <a:xfrm>
            <a:off x="548640" y="5669280"/>
            <a:ext cx="11094415" cy="777240"/>
          </a:xfrm>
          <a:prstGeom prst="roundRect">
            <a:avLst>
              <a:gd name="adj" fmla="val 25000"/>
            </a:avLst>
          </a:prstGeom>
          <a:solidFill>
            <a:srgbClr val="331A0B"/>
          </a:solidFill>
          <a:ln w="15875">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742432"/>
            <a:ext cx="10545775" cy="365760"/>
          </a:xfrm>
          <a:prstGeom prst="rect">
            <a:avLst/>
          </a:prstGeom>
          <a:noFill/>
        </p:spPr>
        <p:txBody>
          <a:bodyPr wrap="square" lIns="0" rIns="0" tIns="0" bIns="0" anchor="t">
            <a:spAutoFit/>
          </a:bodyPr>
          <a:lstStyle/>
          <a:p>
            <a:pPr algn="l"/>
            <a:r>
              <a:rPr sz="1100" b="1" spc="250">
                <a:solidFill>
                  <a:srgbClr val="F97316"/>
                </a:solidFill>
                <a:latin typeface="Inter"/>
              </a:rPr>
              <a:t>THE ATTACK   →</a:t>
            </a:r>
          </a:p>
        </p:txBody>
      </p:sp>
      <p:sp>
        <p:nvSpPr>
          <p:cNvPr id="30" name="TextBox 29"/>
          <p:cNvSpPr txBox="1"/>
          <p:nvPr/>
        </p:nvSpPr>
        <p:spPr>
          <a:xfrm>
            <a:off x="822960" y="6016752"/>
            <a:ext cx="10545775" cy="411480"/>
          </a:xfrm>
          <a:prstGeom prst="rect">
            <a:avLst/>
          </a:prstGeom>
          <a:noFill/>
        </p:spPr>
        <p:txBody>
          <a:bodyPr wrap="square" lIns="0" rIns="0" tIns="0" bIns="0" anchor="t">
            <a:spAutoFit/>
          </a:bodyPr>
          <a:lstStyle/>
          <a:p>
            <a:pPr algn="l"/>
            <a:r>
              <a:rPr sz="1400" b="1">
                <a:solidFill>
                  <a:srgbClr val="F8FAFC"/>
                </a:solidFill>
                <a:latin typeface="JetBrains Mono"/>
              </a:rPr>
              <a:t>Commit an all-empty board. Answer MISS to every shot. Win.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05  ·  THE PRIMITIVE</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Enter zk-SNARKs.</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6051499"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06 / 11</a:t>
            </a:r>
          </a:p>
        </p:txBody>
      </p:sp>
      <p:sp>
        <p:nvSpPr>
          <p:cNvPr id="10" name="TextBox 9"/>
          <p:cNvSpPr txBox="1"/>
          <p:nvPr/>
        </p:nvSpPr>
        <p:spPr>
          <a:xfrm>
            <a:off x="548640" y="2286000"/>
            <a:ext cx="11094415" cy="548640"/>
          </a:xfrm>
          <a:prstGeom prst="rect">
            <a:avLst/>
          </a:prstGeom>
          <a:noFill/>
        </p:spPr>
        <p:txBody>
          <a:bodyPr wrap="square" lIns="0" rIns="0" tIns="0" bIns="0" anchor="t">
            <a:spAutoFit/>
          </a:bodyPr>
          <a:lstStyle/>
          <a:p>
            <a:pPr algn="l"/>
            <a:r>
              <a:rPr sz="2600" b="1">
                <a:solidFill>
                  <a:srgbClr val="F97316"/>
                </a:solidFill>
                <a:latin typeface="Inter"/>
              </a:rPr>
              <a:t>The proof IS the validity certificate.</a:t>
            </a:r>
          </a:p>
        </p:txBody>
      </p:sp>
      <p:sp>
        <p:nvSpPr>
          <p:cNvPr id="11" name="TextBox 10"/>
          <p:cNvSpPr txBox="1"/>
          <p:nvPr/>
        </p:nvSpPr>
        <p:spPr>
          <a:xfrm>
            <a:off x="548640" y="2788920"/>
            <a:ext cx="11094415" cy="457200"/>
          </a:xfrm>
          <a:prstGeom prst="rect">
            <a:avLst/>
          </a:prstGeom>
          <a:noFill/>
        </p:spPr>
        <p:txBody>
          <a:bodyPr wrap="square" lIns="0" rIns="0" tIns="0" bIns="0" anchor="t">
            <a:spAutoFit/>
          </a:bodyPr>
          <a:lstStyle/>
          <a:p>
            <a:pPr algn="l"/>
            <a:r>
              <a:rPr sz="1500" b="0">
                <a:solidFill>
                  <a:srgbClr val="94A3B8"/>
                </a:solidFill>
                <a:latin typeface="Inter"/>
              </a:rPr>
              <a:t>One proof, generated once at commit time, verified once on-chain.</a:t>
            </a:r>
          </a:p>
        </p:txBody>
      </p:sp>
      <p:sp>
        <p:nvSpPr>
          <p:cNvPr id="12" name="Rounded Rectangle 11"/>
          <p:cNvSpPr/>
          <p:nvPr/>
        </p:nvSpPr>
        <p:spPr>
          <a:xfrm>
            <a:off x="548640" y="3429000"/>
            <a:ext cx="5410047" cy="11887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30168"/>
            <a:ext cx="1737360" cy="411480"/>
          </a:xfrm>
          <a:prstGeom prst="rect">
            <a:avLst/>
          </a:prstGeom>
          <a:noFill/>
        </p:spPr>
        <p:txBody>
          <a:bodyPr wrap="square" lIns="0" rIns="0" tIns="0" bIns="0" anchor="t">
            <a:spAutoFit/>
          </a:bodyPr>
          <a:lstStyle/>
          <a:p>
            <a:pPr algn="l"/>
            <a:r>
              <a:rPr sz="1300" b="1" spc="200">
                <a:solidFill>
                  <a:srgbClr val="F97316"/>
                </a:solidFill>
                <a:latin typeface="JetBrains Mono"/>
              </a:rPr>
              <a:t>PROOF</a:t>
            </a:r>
          </a:p>
        </p:txBody>
      </p:sp>
      <p:sp>
        <p:nvSpPr>
          <p:cNvPr id="14" name="TextBox 13"/>
          <p:cNvSpPr txBox="1"/>
          <p:nvPr/>
        </p:nvSpPr>
        <p:spPr>
          <a:xfrm>
            <a:off x="822960" y="3931920"/>
            <a:ext cx="4861407" cy="457200"/>
          </a:xfrm>
          <a:prstGeom prst="rect">
            <a:avLst/>
          </a:prstGeom>
          <a:noFill/>
        </p:spPr>
        <p:txBody>
          <a:bodyPr wrap="square" lIns="0" rIns="0" tIns="0" bIns="0" anchor="t">
            <a:spAutoFit/>
          </a:bodyPr>
          <a:lstStyle/>
          <a:p>
            <a:pPr algn="l"/>
            <a:r>
              <a:rPr sz="1800" b="1">
                <a:solidFill>
                  <a:srgbClr val="F8FAFC"/>
                </a:solidFill>
                <a:latin typeface="Inter"/>
              </a:rPr>
              <a:t>Expressive predicates</a:t>
            </a:r>
          </a:p>
        </p:txBody>
      </p:sp>
      <p:sp>
        <p:nvSpPr>
          <p:cNvPr id="15" name="TextBox 14"/>
          <p:cNvSpPr txBox="1"/>
          <p:nvPr/>
        </p:nvSpPr>
        <p:spPr>
          <a:xfrm>
            <a:off x="822960" y="4251960"/>
            <a:ext cx="4861407" cy="548640"/>
          </a:xfrm>
          <a:prstGeom prst="rect">
            <a:avLst/>
          </a:prstGeom>
          <a:noFill/>
        </p:spPr>
        <p:txBody>
          <a:bodyPr wrap="square" lIns="0" rIns="0" tIns="0" bIns="0" anchor="t">
            <a:spAutoFit/>
          </a:bodyPr>
          <a:lstStyle/>
          <a:p>
            <a:pPr algn="l"/>
            <a:r>
              <a:rPr sz="1300" b="0">
                <a:solidFill>
                  <a:srgbClr val="94A3B8"/>
                </a:solidFill>
                <a:latin typeface="Inter"/>
              </a:rPr>
              <a:t>Prove the full fleet constraint in one shot.</a:t>
            </a:r>
          </a:p>
        </p:txBody>
      </p:sp>
      <p:sp>
        <p:nvSpPr>
          <p:cNvPr id="16" name="Rounded Rectangle 15"/>
          <p:cNvSpPr/>
          <p:nvPr/>
        </p:nvSpPr>
        <p:spPr>
          <a:xfrm>
            <a:off x="6233007" y="3429000"/>
            <a:ext cx="5410047" cy="11887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7327" y="3630168"/>
            <a:ext cx="1737360" cy="411480"/>
          </a:xfrm>
          <a:prstGeom prst="rect">
            <a:avLst/>
          </a:prstGeom>
          <a:noFill/>
        </p:spPr>
        <p:txBody>
          <a:bodyPr wrap="square" lIns="0" rIns="0" tIns="0" bIns="0" anchor="t">
            <a:spAutoFit/>
          </a:bodyPr>
          <a:lstStyle/>
          <a:p>
            <a:pPr algn="l"/>
            <a:r>
              <a:rPr sz="1300" b="1" spc="200">
                <a:solidFill>
                  <a:srgbClr val="F97316"/>
                </a:solidFill>
                <a:latin typeface="JetBrains Mono"/>
              </a:rPr>
              <a:t>CIRCUIT</a:t>
            </a:r>
          </a:p>
        </p:txBody>
      </p:sp>
      <p:sp>
        <p:nvSpPr>
          <p:cNvPr id="18" name="TextBox 17"/>
          <p:cNvSpPr txBox="1"/>
          <p:nvPr/>
        </p:nvSpPr>
        <p:spPr>
          <a:xfrm>
            <a:off x="6507327" y="3931920"/>
            <a:ext cx="4861407" cy="457200"/>
          </a:xfrm>
          <a:prstGeom prst="rect">
            <a:avLst/>
          </a:prstGeom>
          <a:noFill/>
        </p:spPr>
        <p:txBody>
          <a:bodyPr wrap="square" lIns="0" rIns="0" tIns="0" bIns="0" anchor="t">
            <a:spAutoFit/>
          </a:bodyPr>
          <a:lstStyle/>
          <a:p>
            <a:pPr algn="l"/>
            <a:r>
              <a:rPr sz="1800" b="1">
                <a:solidFill>
                  <a:srgbClr val="F8FAFC"/>
                </a:solidFill>
                <a:latin typeface="Inter"/>
              </a:rPr>
              <a:t>board_validity.nr</a:t>
            </a:r>
          </a:p>
        </p:txBody>
      </p:sp>
      <p:sp>
        <p:nvSpPr>
          <p:cNvPr id="19" name="TextBox 18"/>
          <p:cNvSpPr txBox="1"/>
          <p:nvPr/>
        </p:nvSpPr>
        <p:spPr>
          <a:xfrm>
            <a:off x="6507327" y="4251960"/>
            <a:ext cx="4861407" cy="548640"/>
          </a:xfrm>
          <a:prstGeom prst="rect">
            <a:avLst/>
          </a:prstGeom>
          <a:noFill/>
        </p:spPr>
        <p:txBody>
          <a:bodyPr wrap="square" lIns="0" rIns="0" tIns="0" bIns="0" anchor="t">
            <a:spAutoFit/>
          </a:bodyPr>
          <a:lstStyle/>
          <a:p>
            <a:pPr algn="l"/>
            <a:r>
              <a:rPr sz="1300" b="0">
                <a:solidFill>
                  <a:srgbClr val="94A3B8"/>
                </a:solidFill>
                <a:latin typeface="Inter"/>
              </a:rPr>
              <a:t>3,482 constraints: shapes, counts, no diagonals.</a:t>
            </a:r>
          </a:p>
        </p:txBody>
      </p:sp>
      <p:sp>
        <p:nvSpPr>
          <p:cNvPr id="20" name="Rounded Rectangle 19"/>
          <p:cNvSpPr/>
          <p:nvPr/>
        </p:nvSpPr>
        <p:spPr>
          <a:xfrm>
            <a:off x="548640" y="4892040"/>
            <a:ext cx="5410047" cy="11887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093208"/>
            <a:ext cx="1737360" cy="411480"/>
          </a:xfrm>
          <a:prstGeom prst="rect">
            <a:avLst/>
          </a:prstGeom>
          <a:noFill/>
        </p:spPr>
        <p:txBody>
          <a:bodyPr wrap="square" lIns="0" rIns="0" tIns="0" bIns="0" anchor="t">
            <a:spAutoFit/>
          </a:bodyPr>
          <a:lstStyle/>
          <a:p>
            <a:pPr algn="l"/>
            <a:r>
              <a:rPr sz="1300" b="1" spc="200">
                <a:solidFill>
                  <a:srgbClr val="F97316"/>
                </a:solidFill>
                <a:latin typeface="JetBrains Mono"/>
              </a:rPr>
              <a:t>HASH</a:t>
            </a:r>
          </a:p>
        </p:txBody>
      </p:sp>
      <p:sp>
        <p:nvSpPr>
          <p:cNvPr id="22" name="TextBox 21"/>
          <p:cNvSpPr txBox="1"/>
          <p:nvPr/>
        </p:nvSpPr>
        <p:spPr>
          <a:xfrm>
            <a:off x="822960" y="5394960"/>
            <a:ext cx="4861407" cy="457200"/>
          </a:xfrm>
          <a:prstGeom prst="rect">
            <a:avLst/>
          </a:prstGeom>
          <a:noFill/>
        </p:spPr>
        <p:txBody>
          <a:bodyPr wrap="square" lIns="0" rIns="0" tIns="0" bIns="0" anchor="t">
            <a:spAutoFit/>
          </a:bodyPr>
          <a:lstStyle/>
          <a:p>
            <a:pPr algn="l"/>
            <a:r>
              <a:rPr sz="1800" b="1">
                <a:solidFill>
                  <a:srgbClr val="F8FAFC"/>
                </a:solidFill>
                <a:latin typeface="Inter"/>
              </a:rPr>
              <a:t>Pedersen binding</a:t>
            </a:r>
          </a:p>
        </p:txBody>
      </p:sp>
      <p:sp>
        <p:nvSpPr>
          <p:cNvPr id="23" name="TextBox 22"/>
          <p:cNvSpPr txBox="1"/>
          <p:nvPr/>
        </p:nvSpPr>
        <p:spPr>
          <a:xfrm>
            <a:off x="822960" y="5715000"/>
            <a:ext cx="4861407" cy="548640"/>
          </a:xfrm>
          <a:prstGeom prst="rect">
            <a:avLst/>
          </a:prstGeom>
          <a:noFill/>
        </p:spPr>
        <p:txBody>
          <a:bodyPr wrap="square" lIns="0" rIns="0" tIns="0" bIns="0" anchor="t">
            <a:spAutoFit/>
          </a:bodyPr>
          <a:lstStyle/>
          <a:p>
            <a:pPr algn="l"/>
            <a:r>
              <a:rPr sz="1300" b="0">
                <a:solidFill>
                  <a:srgbClr val="94A3B8"/>
                </a:solidFill>
                <a:latin typeface="Inter"/>
              </a:rPr>
              <a:t>Commitment and legality locked into one proof.</a:t>
            </a:r>
          </a:p>
        </p:txBody>
      </p:sp>
      <p:sp>
        <p:nvSpPr>
          <p:cNvPr id="24" name="Rounded Rectangle 23"/>
          <p:cNvSpPr/>
          <p:nvPr/>
        </p:nvSpPr>
        <p:spPr>
          <a:xfrm>
            <a:off x="6233007" y="4892040"/>
            <a:ext cx="5410047" cy="11887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5093208"/>
            <a:ext cx="1737360" cy="411480"/>
          </a:xfrm>
          <a:prstGeom prst="rect">
            <a:avLst/>
          </a:prstGeom>
          <a:noFill/>
        </p:spPr>
        <p:txBody>
          <a:bodyPr wrap="square" lIns="0" rIns="0" tIns="0" bIns="0" anchor="t">
            <a:spAutoFit/>
          </a:bodyPr>
          <a:lstStyle/>
          <a:p>
            <a:pPr algn="l"/>
            <a:r>
              <a:rPr sz="1300" b="1" spc="200">
                <a:solidFill>
                  <a:srgbClr val="F97316"/>
                </a:solidFill>
                <a:latin typeface="JetBrains Mono"/>
              </a:rPr>
              <a:t>VERIFY</a:t>
            </a:r>
          </a:p>
        </p:txBody>
      </p:sp>
      <p:sp>
        <p:nvSpPr>
          <p:cNvPr id="26" name="TextBox 25"/>
          <p:cNvSpPr txBox="1"/>
          <p:nvPr/>
        </p:nvSpPr>
        <p:spPr>
          <a:xfrm>
            <a:off x="6507327" y="5394960"/>
            <a:ext cx="4861407" cy="457200"/>
          </a:xfrm>
          <a:prstGeom prst="rect">
            <a:avLst/>
          </a:prstGeom>
          <a:noFill/>
        </p:spPr>
        <p:txBody>
          <a:bodyPr wrap="square" lIns="0" rIns="0" tIns="0" bIns="0" anchor="t">
            <a:spAutoFit/>
          </a:bodyPr>
          <a:lstStyle/>
          <a:p>
            <a:pPr algn="l"/>
            <a:r>
              <a:rPr sz="1800" b="1">
                <a:solidFill>
                  <a:srgbClr val="F8FAFC"/>
                </a:solidFill>
                <a:latin typeface="Inter"/>
              </a:rPr>
              <a:t>On-chain, ~250k gas</a:t>
            </a:r>
          </a:p>
        </p:txBody>
      </p:sp>
      <p:sp>
        <p:nvSpPr>
          <p:cNvPr id="27" name="TextBox 26"/>
          <p:cNvSpPr txBox="1"/>
          <p:nvPr/>
        </p:nvSpPr>
        <p:spPr>
          <a:xfrm>
            <a:off x="6507327" y="5715000"/>
            <a:ext cx="4861407" cy="548640"/>
          </a:xfrm>
          <a:prstGeom prst="rect">
            <a:avLst/>
          </a:prstGeom>
          <a:noFill/>
        </p:spPr>
        <p:txBody>
          <a:bodyPr wrap="square" lIns="0" rIns="0" tIns="0" bIns="0" anchor="t">
            <a:spAutoFit/>
          </a:bodyPr>
          <a:lstStyle/>
          <a:p>
            <a:pPr algn="l"/>
            <a:r>
              <a:rPr sz="1300" b="0">
                <a:solidFill>
                  <a:srgbClr val="94A3B8"/>
                </a:solidFill>
                <a:latin typeface="Inter"/>
              </a:rPr>
              <a:t>HonkVerifier.sol auto-generated by Noir.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06  ·  TOOLCHAIN</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Noir + UltraPlonk.</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7060082"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07 / 11</a:t>
            </a:r>
          </a:p>
        </p:txBody>
      </p:sp>
      <p:sp>
        <p:nvSpPr>
          <p:cNvPr id="10" name="TextBox 9"/>
          <p:cNvSpPr txBox="1"/>
          <p:nvPr/>
        </p:nvSpPr>
        <p:spPr>
          <a:xfrm>
            <a:off x="548640" y="2331720"/>
            <a:ext cx="5852160" cy="365760"/>
          </a:xfrm>
          <a:prstGeom prst="rect">
            <a:avLst/>
          </a:prstGeom>
          <a:noFill/>
        </p:spPr>
        <p:txBody>
          <a:bodyPr wrap="square" lIns="0" rIns="0" tIns="0" bIns="0" anchor="t">
            <a:spAutoFit/>
          </a:bodyPr>
          <a:lstStyle/>
          <a:p>
            <a:pPr algn="l"/>
            <a:r>
              <a:rPr sz="1100" b="1" spc="250">
                <a:solidFill>
                  <a:srgbClr val="38BDF8"/>
                </a:solidFill>
                <a:latin typeface="Inter"/>
              </a:rPr>
              <a:t>WHY NOIR</a:t>
            </a:r>
          </a:p>
        </p:txBody>
      </p:sp>
      <p:sp>
        <p:nvSpPr>
          <p:cNvPr id="11" name="TextBox 10"/>
          <p:cNvSpPr txBox="1"/>
          <p:nvPr/>
        </p:nvSpPr>
        <p:spPr>
          <a:xfrm>
            <a:off x="548640" y="278892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12" name="TextBox 11"/>
          <p:cNvSpPr txBox="1"/>
          <p:nvPr/>
        </p:nvSpPr>
        <p:spPr>
          <a:xfrm>
            <a:off x="1097280" y="2788920"/>
            <a:ext cx="5303520" cy="457200"/>
          </a:xfrm>
          <a:prstGeom prst="rect">
            <a:avLst/>
          </a:prstGeom>
          <a:noFill/>
        </p:spPr>
        <p:txBody>
          <a:bodyPr wrap="square" lIns="0" rIns="0" tIns="0" bIns="0" anchor="t">
            <a:spAutoFit/>
          </a:bodyPr>
          <a:lstStyle/>
          <a:p>
            <a:pPr algn="l"/>
            <a:r>
              <a:rPr sz="1600" b="0">
                <a:solidFill>
                  <a:srgbClr val="F8FAFC"/>
                </a:solidFill>
                <a:latin typeface="Inter"/>
              </a:rPr>
              <a:t>Rust-like DX, readable circuits.</a:t>
            </a:r>
          </a:p>
        </p:txBody>
      </p:sp>
      <p:sp>
        <p:nvSpPr>
          <p:cNvPr id="13" name="TextBox 12"/>
          <p:cNvSpPr txBox="1"/>
          <p:nvPr/>
        </p:nvSpPr>
        <p:spPr>
          <a:xfrm>
            <a:off x="548640" y="333756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14" name="TextBox 13"/>
          <p:cNvSpPr txBox="1"/>
          <p:nvPr/>
        </p:nvSpPr>
        <p:spPr>
          <a:xfrm>
            <a:off x="1097280" y="3337560"/>
            <a:ext cx="5303520" cy="457200"/>
          </a:xfrm>
          <a:prstGeom prst="rect">
            <a:avLst/>
          </a:prstGeom>
          <a:noFill/>
        </p:spPr>
        <p:txBody>
          <a:bodyPr wrap="square" lIns="0" rIns="0" tIns="0" bIns="0" anchor="t">
            <a:spAutoFit/>
          </a:bodyPr>
          <a:lstStyle/>
          <a:p>
            <a:pPr algn="l"/>
            <a:r>
              <a:rPr sz="1600" b="0">
                <a:solidFill>
                  <a:srgbClr val="F8FAFC"/>
                </a:solidFill>
                <a:latin typeface="Inter"/>
              </a:rPr>
              <a:t>In-browser proving via @aztec/bb.js WASM.</a:t>
            </a:r>
          </a:p>
        </p:txBody>
      </p:sp>
      <p:sp>
        <p:nvSpPr>
          <p:cNvPr id="15" name="TextBox 14"/>
          <p:cNvSpPr txBox="1"/>
          <p:nvPr/>
        </p:nvSpPr>
        <p:spPr>
          <a:xfrm>
            <a:off x="548640" y="388620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16" name="TextBox 15"/>
          <p:cNvSpPr txBox="1"/>
          <p:nvPr/>
        </p:nvSpPr>
        <p:spPr>
          <a:xfrm>
            <a:off x="1097280" y="3886200"/>
            <a:ext cx="5303520" cy="457200"/>
          </a:xfrm>
          <a:prstGeom prst="rect">
            <a:avLst/>
          </a:prstGeom>
          <a:noFill/>
        </p:spPr>
        <p:txBody>
          <a:bodyPr wrap="square" lIns="0" rIns="0" tIns="0" bIns="0" anchor="t">
            <a:spAutoFit/>
          </a:bodyPr>
          <a:lstStyle/>
          <a:p>
            <a:pPr algn="l"/>
            <a:r>
              <a:rPr sz="1600" b="0">
                <a:solidFill>
                  <a:srgbClr val="F8FAFC"/>
                </a:solidFill>
                <a:latin typeface="Inter"/>
              </a:rPr>
              <a:t>UltraPlonk backend: no trusted setup.</a:t>
            </a:r>
          </a:p>
        </p:txBody>
      </p:sp>
      <p:sp>
        <p:nvSpPr>
          <p:cNvPr id="17" name="TextBox 16"/>
          <p:cNvSpPr txBox="1"/>
          <p:nvPr/>
        </p:nvSpPr>
        <p:spPr>
          <a:xfrm>
            <a:off x="548640" y="443484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18" name="TextBox 17"/>
          <p:cNvSpPr txBox="1"/>
          <p:nvPr/>
        </p:nvSpPr>
        <p:spPr>
          <a:xfrm>
            <a:off x="1097280" y="4434840"/>
            <a:ext cx="5303520" cy="457200"/>
          </a:xfrm>
          <a:prstGeom prst="rect">
            <a:avLst/>
          </a:prstGeom>
          <a:noFill/>
        </p:spPr>
        <p:txBody>
          <a:bodyPr wrap="square" lIns="0" rIns="0" tIns="0" bIns="0" anchor="t">
            <a:spAutoFit/>
          </a:bodyPr>
          <a:lstStyle/>
          <a:p>
            <a:pPr algn="l"/>
            <a:r>
              <a:rPr sz="1600" b="0">
                <a:solidFill>
                  <a:srgbClr val="F8FAFC"/>
                </a:solidFill>
                <a:latin typeface="Inter"/>
              </a:rPr>
              <a:t>Auto-generates a Solidity verifier contract.</a:t>
            </a:r>
          </a:p>
        </p:txBody>
      </p:sp>
      <p:sp>
        <p:nvSpPr>
          <p:cNvPr id="19" name="TextBox 18"/>
          <p:cNvSpPr txBox="1"/>
          <p:nvPr/>
        </p:nvSpPr>
        <p:spPr>
          <a:xfrm>
            <a:off x="548640" y="4983480"/>
            <a:ext cx="502920" cy="411480"/>
          </a:xfrm>
          <a:prstGeom prst="rect">
            <a:avLst/>
          </a:prstGeom>
          <a:noFill/>
        </p:spPr>
        <p:txBody>
          <a:bodyPr wrap="square" lIns="0" rIns="0" tIns="0" bIns="0" anchor="t">
            <a:spAutoFit/>
          </a:bodyPr>
          <a:lstStyle/>
          <a:p>
            <a:pPr algn="l"/>
            <a:r>
              <a:rPr sz="1600" b="1">
                <a:solidFill>
                  <a:srgbClr val="F97316"/>
                </a:solidFill>
                <a:latin typeface="Inter"/>
              </a:rPr>
              <a:t>→</a:t>
            </a:r>
          </a:p>
        </p:txBody>
      </p:sp>
      <p:sp>
        <p:nvSpPr>
          <p:cNvPr id="20" name="TextBox 19"/>
          <p:cNvSpPr txBox="1"/>
          <p:nvPr/>
        </p:nvSpPr>
        <p:spPr>
          <a:xfrm>
            <a:off x="1097280" y="4983480"/>
            <a:ext cx="5303520" cy="457200"/>
          </a:xfrm>
          <a:prstGeom prst="rect">
            <a:avLst/>
          </a:prstGeom>
          <a:noFill/>
        </p:spPr>
        <p:txBody>
          <a:bodyPr wrap="square" lIns="0" rIns="0" tIns="0" bIns="0" anchor="t">
            <a:spAutoFit/>
          </a:bodyPr>
          <a:lstStyle/>
          <a:p>
            <a:pPr algn="l"/>
            <a:r>
              <a:rPr sz="1600" b="0">
                <a:solidFill>
                  <a:srgbClr val="F8FAFC"/>
                </a:solidFill>
                <a:latin typeface="Inter"/>
              </a:rPr>
              <a:t>~250k gas per on-chain verify.</a:t>
            </a:r>
          </a:p>
        </p:txBody>
      </p:sp>
      <p:sp>
        <p:nvSpPr>
          <p:cNvPr id="21" name="Rounded Rectangle 20"/>
          <p:cNvSpPr/>
          <p:nvPr/>
        </p:nvSpPr>
        <p:spPr>
          <a:xfrm>
            <a:off x="6766560" y="2331720"/>
            <a:ext cx="4876495" cy="3840480"/>
          </a:xfrm>
          <a:prstGeom prst="roundRect">
            <a:avLst>
              <a:gd name="adj" fmla="val 8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0" y="2606040"/>
            <a:ext cx="4144975" cy="365760"/>
          </a:xfrm>
          <a:prstGeom prst="rect">
            <a:avLst/>
          </a:prstGeom>
          <a:noFill/>
        </p:spPr>
        <p:txBody>
          <a:bodyPr wrap="square" lIns="0" rIns="0" tIns="0" bIns="0" anchor="t">
            <a:spAutoFit/>
          </a:bodyPr>
          <a:lstStyle/>
          <a:p>
            <a:pPr algn="l"/>
            <a:r>
              <a:rPr sz="1200" b="1">
                <a:solidFill>
                  <a:srgbClr val="38BDF8"/>
                </a:solidFill>
                <a:latin typeface="JetBrains Mono"/>
              </a:rPr>
              <a:t>board_validity.nr</a:t>
            </a:r>
          </a:p>
        </p:txBody>
      </p:sp>
      <p:sp>
        <p:nvSpPr>
          <p:cNvPr id="23" name="TextBox 22"/>
          <p:cNvSpPr txBox="1"/>
          <p:nvPr/>
        </p:nvSpPr>
        <p:spPr>
          <a:xfrm>
            <a:off x="7132320" y="2971800"/>
            <a:ext cx="4144975" cy="548640"/>
          </a:xfrm>
          <a:prstGeom prst="rect">
            <a:avLst/>
          </a:prstGeom>
          <a:noFill/>
        </p:spPr>
        <p:txBody>
          <a:bodyPr wrap="square" lIns="0" rIns="0" tIns="0" bIns="0" anchor="t">
            <a:spAutoFit/>
          </a:bodyPr>
          <a:lstStyle/>
          <a:p>
            <a:pPr algn="l"/>
            <a:r>
              <a:rPr sz="4200" b="1">
                <a:solidFill>
                  <a:srgbClr val="F97316"/>
                </a:solidFill>
                <a:latin typeface="Inter"/>
              </a:rPr>
              <a:t>3,482</a:t>
            </a:r>
          </a:p>
        </p:txBody>
      </p:sp>
      <p:sp>
        <p:nvSpPr>
          <p:cNvPr id="24" name="TextBox 23"/>
          <p:cNvSpPr txBox="1"/>
          <p:nvPr/>
        </p:nvSpPr>
        <p:spPr>
          <a:xfrm>
            <a:off x="7132320" y="3657600"/>
            <a:ext cx="4144975" cy="365760"/>
          </a:xfrm>
          <a:prstGeom prst="rect">
            <a:avLst/>
          </a:prstGeom>
          <a:noFill/>
        </p:spPr>
        <p:txBody>
          <a:bodyPr wrap="square" lIns="0" rIns="0" tIns="0" bIns="0" anchor="t">
            <a:spAutoFit/>
          </a:bodyPr>
          <a:lstStyle/>
          <a:p>
            <a:pPr algn="l"/>
            <a:r>
              <a:rPr sz="1300" b="0">
                <a:solidFill>
                  <a:srgbClr val="94A3B8"/>
                </a:solidFill>
                <a:latin typeface="Inter"/>
              </a:rPr>
              <a:t>constraints</a:t>
            </a:r>
          </a:p>
        </p:txBody>
      </p:sp>
      <p:sp>
        <p:nvSpPr>
          <p:cNvPr id="25" name="TextBox 24"/>
          <p:cNvSpPr txBox="1"/>
          <p:nvPr/>
        </p:nvSpPr>
        <p:spPr>
          <a:xfrm>
            <a:off x="7132320" y="4160520"/>
            <a:ext cx="1645920" cy="274320"/>
          </a:xfrm>
          <a:prstGeom prst="rect">
            <a:avLst/>
          </a:prstGeom>
          <a:noFill/>
        </p:spPr>
        <p:txBody>
          <a:bodyPr wrap="square" lIns="0" rIns="0" tIns="0" bIns="0" anchor="t">
            <a:spAutoFit/>
          </a:bodyPr>
          <a:lstStyle/>
          <a:p>
            <a:pPr algn="l"/>
            <a:r>
              <a:rPr sz="1100" b="0">
                <a:solidFill>
                  <a:srgbClr val="94A3B8"/>
                </a:solidFill>
                <a:latin typeface="JetBrains Mono"/>
              </a:rPr>
              <a:t>leaves</a:t>
            </a:r>
          </a:p>
        </p:txBody>
      </p:sp>
      <p:sp>
        <p:nvSpPr>
          <p:cNvPr id="26" name="TextBox 25"/>
          <p:cNvSpPr txBox="1"/>
          <p:nvPr/>
        </p:nvSpPr>
        <p:spPr>
          <a:xfrm>
            <a:off x="8686800" y="4160520"/>
            <a:ext cx="2590495" cy="274320"/>
          </a:xfrm>
          <a:prstGeom prst="rect">
            <a:avLst/>
          </a:prstGeom>
          <a:noFill/>
        </p:spPr>
        <p:txBody>
          <a:bodyPr wrap="square" lIns="0" rIns="0" tIns="0" bIns="0" anchor="t">
            <a:spAutoFit/>
          </a:bodyPr>
          <a:lstStyle/>
          <a:p>
            <a:pPr algn="l"/>
            <a:r>
              <a:rPr sz="1100" b="1">
                <a:solidFill>
                  <a:srgbClr val="F8FAFC"/>
                </a:solidFill>
                <a:latin typeface="JetBrains Mono"/>
              </a:rPr>
              <a:t>100 cells</a:t>
            </a:r>
          </a:p>
        </p:txBody>
      </p:sp>
      <p:sp>
        <p:nvSpPr>
          <p:cNvPr id="27" name="TextBox 26"/>
          <p:cNvSpPr txBox="1"/>
          <p:nvPr/>
        </p:nvSpPr>
        <p:spPr>
          <a:xfrm>
            <a:off x="7132320" y="4480560"/>
            <a:ext cx="1645920" cy="274320"/>
          </a:xfrm>
          <a:prstGeom prst="rect">
            <a:avLst/>
          </a:prstGeom>
          <a:noFill/>
        </p:spPr>
        <p:txBody>
          <a:bodyPr wrap="square" lIns="0" rIns="0" tIns="0" bIns="0" anchor="t">
            <a:spAutoFit/>
          </a:bodyPr>
          <a:lstStyle/>
          <a:p>
            <a:pPr algn="l"/>
            <a:r>
              <a:rPr sz="1100" b="0">
                <a:solidFill>
                  <a:srgbClr val="94A3B8"/>
                </a:solidFill>
                <a:latin typeface="JetBrains Mono"/>
              </a:rPr>
              <a:t>fleet</a:t>
            </a:r>
          </a:p>
        </p:txBody>
      </p:sp>
      <p:sp>
        <p:nvSpPr>
          <p:cNvPr id="28" name="TextBox 27"/>
          <p:cNvSpPr txBox="1"/>
          <p:nvPr/>
        </p:nvSpPr>
        <p:spPr>
          <a:xfrm>
            <a:off x="8686800" y="4480560"/>
            <a:ext cx="2590495" cy="274320"/>
          </a:xfrm>
          <a:prstGeom prst="rect">
            <a:avLst/>
          </a:prstGeom>
          <a:noFill/>
        </p:spPr>
        <p:txBody>
          <a:bodyPr wrap="square" lIns="0" rIns="0" tIns="0" bIns="0" anchor="t">
            <a:spAutoFit/>
          </a:bodyPr>
          <a:lstStyle/>
          <a:p>
            <a:pPr algn="l"/>
            <a:r>
              <a:rPr sz="1100" b="1">
                <a:solidFill>
                  <a:srgbClr val="F8FAFC"/>
                </a:solidFill>
                <a:latin typeface="JetBrains Mono"/>
              </a:rPr>
              <a:t>1x5  1x4  2x3  1x2</a:t>
            </a:r>
          </a:p>
        </p:txBody>
      </p:sp>
      <p:sp>
        <p:nvSpPr>
          <p:cNvPr id="29" name="TextBox 28"/>
          <p:cNvSpPr txBox="1"/>
          <p:nvPr/>
        </p:nvSpPr>
        <p:spPr>
          <a:xfrm>
            <a:off x="7132320" y="4800600"/>
            <a:ext cx="1645920" cy="274320"/>
          </a:xfrm>
          <a:prstGeom prst="rect">
            <a:avLst/>
          </a:prstGeom>
          <a:noFill/>
        </p:spPr>
        <p:txBody>
          <a:bodyPr wrap="square" lIns="0" rIns="0" tIns="0" bIns="0" anchor="t">
            <a:spAutoFit/>
          </a:bodyPr>
          <a:lstStyle/>
          <a:p>
            <a:pPr algn="l"/>
            <a:r>
              <a:rPr sz="1100" b="0">
                <a:solidFill>
                  <a:srgbClr val="94A3B8"/>
                </a:solidFill>
                <a:latin typeface="JetBrains Mono"/>
              </a:rPr>
              <a:t>hash</a:t>
            </a:r>
          </a:p>
        </p:txBody>
      </p:sp>
      <p:sp>
        <p:nvSpPr>
          <p:cNvPr id="30" name="TextBox 29"/>
          <p:cNvSpPr txBox="1"/>
          <p:nvPr/>
        </p:nvSpPr>
        <p:spPr>
          <a:xfrm>
            <a:off x="8686800" y="4800600"/>
            <a:ext cx="2590495" cy="274320"/>
          </a:xfrm>
          <a:prstGeom prst="rect">
            <a:avLst/>
          </a:prstGeom>
          <a:noFill/>
        </p:spPr>
        <p:txBody>
          <a:bodyPr wrap="square" lIns="0" rIns="0" tIns="0" bIns="0" anchor="t">
            <a:spAutoFit/>
          </a:bodyPr>
          <a:lstStyle/>
          <a:p>
            <a:pPr algn="l"/>
            <a:r>
              <a:rPr sz="1100" b="1">
                <a:solidFill>
                  <a:srgbClr val="F8FAFC"/>
                </a:solidFill>
                <a:latin typeface="JetBrains Mono"/>
              </a:rPr>
              <a:t>pedersen(cells, salt)</a:t>
            </a:r>
          </a:p>
        </p:txBody>
      </p:sp>
      <p:sp>
        <p:nvSpPr>
          <p:cNvPr id="31" name="TextBox 30"/>
          <p:cNvSpPr txBox="1"/>
          <p:nvPr/>
        </p:nvSpPr>
        <p:spPr>
          <a:xfrm>
            <a:off x="7132320" y="5120640"/>
            <a:ext cx="1645920" cy="274320"/>
          </a:xfrm>
          <a:prstGeom prst="rect">
            <a:avLst/>
          </a:prstGeom>
          <a:noFill/>
        </p:spPr>
        <p:txBody>
          <a:bodyPr wrap="square" lIns="0" rIns="0" tIns="0" bIns="0" anchor="t">
            <a:spAutoFit/>
          </a:bodyPr>
          <a:lstStyle/>
          <a:p>
            <a:pPr algn="l"/>
            <a:r>
              <a:rPr sz="1100" b="0">
                <a:solidFill>
                  <a:srgbClr val="94A3B8"/>
                </a:solidFill>
                <a:latin typeface="JetBrains Mono"/>
              </a:rPr>
              <a:t>backend</a:t>
            </a:r>
          </a:p>
        </p:txBody>
      </p:sp>
      <p:sp>
        <p:nvSpPr>
          <p:cNvPr id="32" name="TextBox 31"/>
          <p:cNvSpPr txBox="1"/>
          <p:nvPr/>
        </p:nvSpPr>
        <p:spPr>
          <a:xfrm>
            <a:off x="8686800" y="5120640"/>
            <a:ext cx="2590495" cy="274320"/>
          </a:xfrm>
          <a:prstGeom prst="rect">
            <a:avLst/>
          </a:prstGeom>
          <a:noFill/>
        </p:spPr>
        <p:txBody>
          <a:bodyPr wrap="square" lIns="0" rIns="0" tIns="0" bIns="0" anchor="t">
            <a:spAutoFit/>
          </a:bodyPr>
          <a:lstStyle/>
          <a:p>
            <a:pPr algn="l"/>
            <a:r>
              <a:rPr sz="1100" b="1">
                <a:solidFill>
                  <a:srgbClr val="F8FAFC"/>
                </a:solidFill>
                <a:latin typeface="JetBrains Mono"/>
              </a:rPr>
              <a:t>UltraPlonk / Honk</a:t>
            </a:r>
          </a:p>
        </p:txBody>
      </p:sp>
      <p:sp>
        <p:nvSpPr>
          <p:cNvPr id="33" name="TextBox 32"/>
          <p:cNvSpPr txBox="1"/>
          <p:nvPr/>
        </p:nvSpPr>
        <p:spPr>
          <a:xfrm>
            <a:off x="7132320" y="5440680"/>
            <a:ext cx="1645920" cy="274320"/>
          </a:xfrm>
          <a:prstGeom prst="rect">
            <a:avLst/>
          </a:prstGeom>
          <a:noFill/>
        </p:spPr>
        <p:txBody>
          <a:bodyPr wrap="square" lIns="0" rIns="0" tIns="0" bIns="0" anchor="t">
            <a:spAutoFit/>
          </a:bodyPr>
          <a:lstStyle/>
          <a:p>
            <a:pPr algn="l"/>
            <a:r>
              <a:rPr sz="1100" b="0">
                <a:solidFill>
                  <a:srgbClr val="94A3B8"/>
                </a:solidFill>
                <a:latin typeface="JetBrains Mono"/>
              </a:rPr>
              <a:t>verifier gas</a:t>
            </a:r>
          </a:p>
        </p:txBody>
      </p:sp>
      <p:sp>
        <p:nvSpPr>
          <p:cNvPr id="34" name="TextBox 33"/>
          <p:cNvSpPr txBox="1"/>
          <p:nvPr/>
        </p:nvSpPr>
        <p:spPr>
          <a:xfrm>
            <a:off x="8686800" y="5440680"/>
            <a:ext cx="2590495" cy="274320"/>
          </a:xfrm>
          <a:prstGeom prst="rect">
            <a:avLst/>
          </a:prstGeom>
          <a:noFill/>
        </p:spPr>
        <p:txBody>
          <a:bodyPr wrap="square" lIns="0" rIns="0" tIns="0" bIns="0" anchor="t">
            <a:spAutoFit/>
          </a:bodyPr>
          <a:lstStyle/>
          <a:p>
            <a:pPr algn="l"/>
            <a:r>
              <a:rPr sz="1100" b="1">
                <a:solidFill>
                  <a:srgbClr val="F8FAFC"/>
                </a:solidFill>
                <a:latin typeface="JetBrains Mono"/>
              </a:rPr>
              <a:t>~250,000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07  ·  STACK</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System architecture.</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8068665"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08 / 11</a:t>
            </a:r>
          </a:p>
        </p:txBody>
      </p:sp>
      <p:sp>
        <p:nvSpPr>
          <p:cNvPr id="10" name="Rounded Rectangle 9"/>
          <p:cNvSpPr/>
          <p:nvPr/>
        </p:nvSpPr>
        <p:spPr>
          <a:xfrm>
            <a:off x="548640"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BRD</a:t>
            </a:r>
          </a:p>
        </p:txBody>
      </p:sp>
      <p:sp>
        <p:nvSpPr>
          <p:cNvPr id="12" name="TextBox 11"/>
          <p:cNvSpPr txBox="1"/>
          <p:nvPr/>
        </p:nvSpPr>
        <p:spPr>
          <a:xfrm>
            <a:off x="685800" y="2926080"/>
            <a:ext cx="1417320" cy="411480"/>
          </a:xfrm>
          <a:prstGeom prst="rect">
            <a:avLst/>
          </a:prstGeom>
          <a:noFill/>
        </p:spPr>
        <p:txBody>
          <a:bodyPr wrap="square" lIns="0" rIns="0" tIns="0" bIns="0" anchor="t">
            <a:spAutoFit/>
          </a:bodyPr>
          <a:lstStyle/>
          <a:p>
            <a:pPr algn="l"/>
            <a:r>
              <a:rPr sz="1500" b="1">
                <a:solidFill>
                  <a:srgbClr val="F8FAFC"/>
                </a:solidFill>
                <a:latin typeface="Inter"/>
              </a:rPr>
              <a:t>Board</a:t>
            </a:r>
          </a:p>
        </p:txBody>
      </p:sp>
      <p:sp>
        <p:nvSpPr>
          <p:cNvPr id="13" name="TextBox 12"/>
          <p:cNvSpPr txBox="1"/>
          <p:nvPr/>
        </p:nvSpPr>
        <p:spPr>
          <a:xfrm>
            <a:off x="685800"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private[100]</a:t>
            </a:r>
          </a:p>
        </p:txBody>
      </p:sp>
      <p:sp>
        <p:nvSpPr>
          <p:cNvPr id="14" name="Rounded Rectangle 13"/>
          <p:cNvSpPr/>
          <p:nvPr/>
        </p:nvSpPr>
        <p:spPr>
          <a:xfrm>
            <a:off x="2429195"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66355"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PSD</a:t>
            </a:r>
          </a:p>
        </p:txBody>
      </p:sp>
      <p:sp>
        <p:nvSpPr>
          <p:cNvPr id="16" name="TextBox 15"/>
          <p:cNvSpPr txBox="1"/>
          <p:nvPr/>
        </p:nvSpPr>
        <p:spPr>
          <a:xfrm>
            <a:off x="2566355" y="2926080"/>
            <a:ext cx="1417320" cy="411480"/>
          </a:xfrm>
          <a:prstGeom prst="rect">
            <a:avLst/>
          </a:prstGeom>
          <a:noFill/>
        </p:spPr>
        <p:txBody>
          <a:bodyPr wrap="square" lIns="0" rIns="0" tIns="0" bIns="0" anchor="t">
            <a:spAutoFit/>
          </a:bodyPr>
          <a:lstStyle/>
          <a:p>
            <a:pPr algn="l"/>
            <a:r>
              <a:rPr sz="1500" b="1">
                <a:solidFill>
                  <a:srgbClr val="F8FAFC"/>
                </a:solidFill>
                <a:latin typeface="Inter"/>
              </a:rPr>
              <a:t>Pedersen</a:t>
            </a:r>
          </a:p>
        </p:txBody>
      </p:sp>
      <p:sp>
        <p:nvSpPr>
          <p:cNvPr id="17" name="TextBox 16"/>
          <p:cNvSpPr txBox="1"/>
          <p:nvPr/>
        </p:nvSpPr>
        <p:spPr>
          <a:xfrm>
            <a:off x="2566355"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hash → commit</a:t>
            </a:r>
          </a:p>
        </p:txBody>
      </p:sp>
      <p:sp>
        <p:nvSpPr>
          <p:cNvPr id="18" name="Rounded Rectangle 17"/>
          <p:cNvSpPr/>
          <p:nvPr/>
        </p:nvSpPr>
        <p:spPr>
          <a:xfrm>
            <a:off x="4309750"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6910"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NOR</a:t>
            </a:r>
          </a:p>
        </p:txBody>
      </p:sp>
      <p:sp>
        <p:nvSpPr>
          <p:cNvPr id="20" name="TextBox 19"/>
          <p:cNvSpPr txBox="1"/>
          <p:nvPr/>
        </p:nvSpPr>
        <p:spPr>
          <a:xfrm>
            <a:off x="4446910" y="2926080"/>
            <a:ext cx="1417320" cy="411480"/>
          </a:xfrm>
          <a:prstGeom prst="rect">
            <a:avLst/>
          </a:prstGeom>
          <a:noFill/>
        </p:spPr>
        <p:txBody>
          <a:bodyPr wrap="square" lIns="0" rIns="0" tIns="0" bIns="0" anchor="t">
            <a:spAutoFit/>
          </a:bodyPr>
          <a:lstStyle/>
          <a:p>
            <a:pPr algn="l"/>
            <a:r>
              <a:rPr sz="1500" b="1">
                <a:solidFill>
                  <a:srgbClr val="F8FAFC"/>
                </a:solidFill>
                <a:latin typeface="Inter"/>
              </a:rPr>
              <a:t>Noir circuit</a:t>
            </a:r>
          </a:p>
        </p:txBody>
      </p:sp>
      <p:sp>
        <p:nvSpPr>
          <p:cNvPr id="21" name="TextBox 20"/>
          <p:cNvSpPr txBox="1"/>
          <p:nvPr/>
        </p:nvSpPr>
        <p:spPr>
          <a:xfrm>
            <a:off x="4446910"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board_validity</a:t>
            </a:r>
          </a:p>
        </p:txBody>
      </p:sp>
      <p:sp>
        <p:nvSpPr>
          <p:cNvPr id="22" name="Rounded Rectangle 21"/>
          <p:cNvSpPr/>
          <p:nvPr/>
        </p:nvSpPr>
        <p:spPr>
          <a:xfrm>
            <a:off x="6190305"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465"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UPL</a:t>
            </a:r>
          </a:p>
        </p:txBody>
      </p:sp>
      <p:sp>
        <p:nvSpPr>
          <p:cNvPr id="24" name="TextBox 23"/>
          <p:cNvSpPr txBox="1"/>
          <p:nvPr/>
        </p:nvSpPr>
        <p:spPr>
          <a:xfrm>
            <a:off x="6327465" y="2926080"/>
            <a:ext cx="1417320" cy="411480"/>
          </a:xfrm>
          <a:prstGeom prst="rect">
            <a:avLst/>
          </a:prstGeom>
          <a:noFill/>
        </p:spPr>
        <p:txBody>
          <a:bodyPr wrap="square" lIns="0" rIns="0" tIns="0" bIns="0" anchor="t">
            <a:spAutoFit/>
          </a:bodyPr>
          <a:lstStyle/>
          <a:p>
            <a:pPr algn="l"/>
            <a:r>
              <a:rPr sz="1500" b="1">
                <a:solidFill>
                  <a:srgbClr val="F8FAFC"/>
                </a:solidFill>
                <a:latin typeface="Inter"/>
              </a:rPr>
              <a:t>UltraPlonk</a:t>
            </a:r>
          </a:p>
        </p:txBody>
      </p:sp>
      <p:sp>
        <p:nvSpPr>
          <p:cNvPr id="25" name="TextBox 24"/>
          <p:cNvSpPr txBox="1"/>
          <p:nvPr/>
        </p:nvSpPr>
        <p:spPr>
          <a:xfrm>
            <a:off x="6327465"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proof blob</a:t>
            </a:r>
          </a:p>
        </p:txBody>
      </p:sp>
      <p:sp>
        <p:nvSpPr>
          <p:cNvPr id="26" name="Rounded Rectangle 25"/>
          <p:cNvSpPr/>
          <p:nvPr/>
        </p:nvSpPr>
        <p:spPr>
          <a:xfrm>
            <a:off x="8070860"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8020"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VER</a:t>
            </a:r>
          </a:p>
        </p:txBody>
      </p:sp>
      <p:sp>
        <p:nvSpPr>
          <p:cNvPr id="28" name="TextBox 27"/>
          <p:cNvSpPr txBox="1"/>
          <p:nvPr/>
        </p:nvSpPr>
        <p:spPr>
          <a:xfrm>
            <a:off x="8208020" y="2926080"/>
            <a:ext cx="1417320" cy="411480"/>
          </a:xfrm>
          <a:prstGeom prst="rect">
            <a:avLst/>
          </a:prstGeom>
          <a:noFill/>
        </p:spPr>
        <p:txBody>
          <a:bodyPr wrap="square" lIns="0" rIns="0" tIns="0" bIns="0" anchor="t">
            <a:spAutoFit/>
          </a:bodyPr>
          <a:lstStyle/>
          <a:p>
            <a:pPr algn="l"/>
            <a:r>
              <a:rPr sz="1500" b="1">
                <a:solidFill>
                  <a:srgbClr val="F8FAFC"/>
                </a:solidFill>
                <a:latin typeface="Inter"/>
              </a:rPr>
              <a:t>Verifier</a:t>
            </a:r>
          </a:p>
        </p:txBody>
      </p:sp>
      <p:sp>
        <p:nvSpPr>
          <p:cNvPr id="29" name="TextBox 28"/>
          <p:cNvSpPr txBox="1"/>
          <p:nvPr/>
        </p:nvSpPr>
        <p:spPr>
          <a:xfrm>
            <a:off x="8208020"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HonkVerifier.sol</a:t>
            </a:r>
          </a:p>
        </p:txBody>
      </p:sp>
      <p:sp>
        <p:nvSpPr>
          <p:cNvPr id="30" name="Rounded Rectangle 29"/>
          <p:cNvSpPr/>
          <p:nvPr/>
        </p:nvSpPr>
        <p:spPr>
          <a:xfrm>
            <a:off x="9951415"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88575"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GME</a:t>
            </a:r>
          </a:p>
        </p:txBody>
      </p:sp>
      <p:sp>
        <p:nvSpPr>
          <p:cNvPr id="32" name="TextBox 31"/>
          <p:cNvSpPr txBox="1"/>
          <p:nvPr/>
        </p:nvSpPr>
        <p:spPr>
          <a:xfrm>
            <a:off x="10088575" y="2926080"/>
            <a:ext cx="1417320" cy="411480"/>
          </a:xfrm>
          <a:prstGeom prst="rect">
            <a:avLst/>
          </a:prstGeom>
          <a:noFill/>
        </p:spPr>
        <p:txBody>
          <a:bodyPr wrap="square" lIns="0" rIns="0" tIns="0" bIns="0" anchor="t">
            <a:spAutoFit/>
          </a:bodyPr>
          <a:lstStyle/>
          <a:p>
            <a:pPr algn="l"/>
            <a:r>
              <a:rPr sz="1500" b="1">
                <a:solidFill>
                  <a:srgbClr val="F8FAFC"/>
                </a:solidFill>
                <a:latin typeface="Inter"/>
              </a:rPr>
              <a:t>BattleshipGame</a:t>
            </a:r>
          </a:p>
        </p:txBody>
      </p:sp>
      <p:sp>
        <p:nvSpPr>
          <p:cNvPr id="33" name="TextBox 32"/>
          <p:cNvSpPr txBox="1"/>
          <p:nvPr/>
        </p:nvSpPr>
        <p:spPr>
          <a:xfrm>
            <a:off x="10088575"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settle on-chain</a:t>
            </a:r>
          </a:p>
        </p:txBody>
      </p:sp>
      <p:cxnSp>
        <p:nvCxnSpPr>
          <p:cNvPr id="34" name="Connector 33"/>
          <p:cNvCxnSpPr/>
          <p:nvPr/>
        </p:nvCxnSpPr>
        <p:spPr>
          <a:xfrm>
            <a:off x="2260280.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40835.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021390.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901945.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782500.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4206240"/>
            <a:ext cx="11094415" cy="320040"/>
          </a:xfrm>
          <a:prstGeom prst="rect">
            <a:avLst/>
          </a:prstGeom>
          <a:noFill/>
        </p:spPr>
        <p:txBody>
          <a:bodyPr wrap="square" lIns="0" rIns="0" tIns="0" bIns="0" anchor="t">
            <a:spAutoFit/>
          </a:bodyPr>
          <a:lstStyle/>
          <a:p>
            <a:pPr algn="ctr"/>
            <a:r>
              <a:rPr sz="1000" b="1" spc="250">
                <a:solidFill>
                  <a:srgbClr val="94A3B8"/>
                </a:solidFill>
                <a:latin typeface="Inter"/>
              </a:rPr>
              <a:t>BROWSER  →  WASM PROVER  →  NOIR  →  VERIFIER  →  CHAIN</a:t>
            </a:r>
          </a:p>
        </p:txBody>
      </p:sp>
      <p:sp>
        <p:nvSpPr>
          <p:cNvPr id="40" name="TextBox 39"/>
          <p:cNvSpPr txBox="1"/>
          <p:nvPr/>
        </p:nvSpPr>
        <p:spPr>
          <a:xfrm>
            <a:off x="548640" y="5074920"/>
            <a:ext cx="274320" cy="320040"/>
          </a:xfrm>
          <a:prstGeom prst="rect">
            <a:avLst/>
          </a:prstGeom>
          <a:noFill/>
        </p:spPr>
        <p:txBody>
          <a:bodyPr wrap="square" lIns="0" rIns="0" tIns="0" bIns="0" anchor="t">
            <a:spAutoFit/>
          </a:bodyPr>
          <a:lstStyle/>
          <a:p>
            <a:pPr algn="l"/>
            <a:r>
              <a:rPr sz="1800" b="1">
                <a:solidFill>
                  <a:srgbClr val="38BDF8"/>
                </a:solidFill>
                <a:latin typeface="Inter"/>
              </a:rPr>
              <a:t>·</a:t>
            </a:r>
          </a:p>
        </p:txBody>
      </p:sp>
      <p:sp>
        <p:nvSpPr>
          <p:cNvPr id="41" name="TextBox 40"/>
          <p:cNvSpPr txBox="1"/>
          <p:nvPr/>
        </p:nvSpPr>
        <p:spPr>
          <a:xfrm>
            <a:off x="822960" y="5056632"/>
            <a:ext cx="3423818" cy="365760"/>
          </a:xfrm>
          <a:prstGeom prst="rect">
            <a:avLst/>
          </a:prstGeom>
          <a:noFill/>
        </p:spPr>
        <p:txBody>
          <a:bodyPr wrap="square" lIns="0" rIns="0" tIns="0" bIns="0" anchor="t">
            <a:spAutoFit/>
          </a:bodyPr>
          <a:lstStyle/>
          <a:p>
            <a:pPr algn="l"/>
            <a:r>
              <a:rPr sz="1400" b="0">
                <a:solidFill>
                  <a:srgbClr val="F8FAFC"/>
                </a:solidFill>
                <a:latin typeface="Inter"/>
              </a:rPr>
              <a:t>Browser proves, chain verifies</a:t>
            </a:r>
          </a:p>
        </p:txBody>
      </p:sp>
      <p:sp>
        <p:nvSpPr>
          <p:cNvPr id="42" name="TextBox 41"/>
          <p:cNvSpPr txBox="1"/>
          <p:nvPr/>
        </p:nvSpPr>
        <p:spPr>
          <a:xfrm>
            <a:off x="4246778" y="5074920"/>
            <a:ext cx="274320" cy="320040"/>
          </a:xfrm>
          <a:prstGeom prst="rect">
            <a:avLst/>
          </a:prstGeom>
          <a:noFill/>
        </p:spPr>
        <p:txBody>
          <a:bodyPr wrap="square" lIns="0" rIns="0" tIns="0" bIns="0" anchor="t">
            <a:spAutoFit/>
          </a:bodyPr>
          <a:lstStyle/>
          <a:p>
            <a:pPr algn="l"/>
            <a:r>
              <a:rPr sz="1800" b="1">
                <a:solidFill>
                  <a:srgbClr val="F97316"/>
                </a:solidFill>
                <a:latin typeface="Inter"/>
              </a:rPr>
              <a:t>·</a:t>
            </a:r>
          </a:p>
        </p:txBody>
      </p:sp>
      <p:sp>
        <p:nvSpPr>
          <p:cNvPr id="43" name="TextBox 42"/>
          <p:cNvSpPr txBox="1"/>
          <p:nvPr/>
        </p:nvSpPr>
        <p:spPr>
          <a:xfrm>
            <a:off x="4521098" y="5056632"/>
            <a:ext cx="3423818" cy="365760"/>
          </a:xfrm>
          <a:prstGeom prst="rect">
            <a:avLst/>
          </a:prstGeom>
          <a:noFill/>
        </p:spPr>
        <p:txBody>
          <a:bodyPr wrap="square" lIns="0" rIns="0" tIns="0" bIns="0" anchor="t">
            <a:spAutoFit/>
          </a:bodyPr>
          <a:lstStyle/>
          <a:p>
            <a:pPr algn="l"/>
            <a:r>
              <a:rPr sz="1400" b="0">
                <a:solidFill>
                  <a:srgbClr val="F8FAFC"/>
                </a:solidFill>
                <a:latin typeface="Inter"/>
              </a:rPr>
              <a:t>Burner wallets, zero popups</a:t>
            </a:r>
          </a:p>
        </p:txBody>
      </p:sp>
      <p:sp>
        <p:nvSpPr>
          <p:cNvPr id="44" name="TextBox 43"/>
          <p:cNvSpPr txBox="1"/>
          <p:nvPr/>
        </p:nvSpPr>
        <p:spPr>
          <a:xfrm>
            <a:off x="7944916" y="5074920"/>
            <a:ext cx="274320" cy="320040"/>
          </a:xfrm>
          <a:prstGeom prst="rect">
            <a:avLst/>
          </a:prstGeom>
          <a:noFill/>
        </p:spPr>
        <p:txBody>
          <a:bodyPr wrap="square" lIns="0" rIns="0" tIns="0" bIns="0" anchor="t">
            <a:spAutoFit/>
          </a:bodyPr>
          <a:lstStyle/>
          <a:p>
            <a:pPr algn="l"/>
            <a:r>
              <a:rPr sz="1800" b="1">
                <a:solidFill>
                  <a:srgbClr val="4ADE80"/>
                </a:solidFill>
                <a:latin typeface="Inter"/>
              </a:rPr>
              <a:t>·</a:t>
            </a:r>
          </a:p>
        </p:txBody>
      </p:sp>
      <p:sp>
        <p:nvSpPr>
          <p:cNvPr id="45" name="TextBox 44"/>
          <p:cNvSpPr txBox="1"/>
          <p:nvPr/>
        </p:nvSpPr>
        <p:spPr>
          <a:xfrm>
            <a:off x="8219236" y="5056632"/>
            <a:ext cx="3423818" cy="365760"/>
          </a:xfrm>
          <a:prstGeom prst="rect">
            <a:avLst/>
          </a:prstGeom>
          <a:noFill/>
        </p:spPr>
        <p:txBody>
          <a:bodyPr wrap="square" lIns="0" rIns="0" tIns="0" bIns="0" anchor="t">
            <a:spAutoFit/>
          </a:bodyPr>
          <a:lstStyle/>
          <a:p>
            <a:pPr algn="l"/>
            <a:r>
              <a:rPr sz="1400" b="0">
                <a:solidFill>
                  <a:srgbClr val="F8FAFC"/>
                </a:solidFill>
                <a:latin typeface="Inter"/>
              </a:rPr>
              <a:t>Local Anvil for instant demo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50">
                <a:solidFill>
                  <a:srgbClr val="38BDF8"/>
                </a:solidFill>
                <a:latin typeface="Inter"/>
              </a:rPr>
              <a:t>08  ·  SWITCH TO THE BROWSER</a:t>
            </a:r>
          </a:p>
        </p:txBody>
      </p:sp>
      <p:sp>
        <p:nvSpPr>
          <p:cNvPr id="4" name="TextBox 3"/>
          <p:cNvSpPr txBox="1"/>
          <p:nvPr/>
        </p:nvSpPr>
        <p:spPr>
          <a:xfrm>
            <a:off x="0" y="2148840"/>
            <a:ext cx="12191695" cy="2103120"/>
          </a:xfrm>
          <a:prstGeom prst="rect">
            <a:avLst/>
          </a:prstGeom>
          <a:noFill/>
        </p:spPr>
        <p:txBody>
          <a:bodyPr wrap="square" lIns="0" rIns="0" tIns="0" bIns="0" anchor="t">
            <a:spAutoFit/>
          </a:bodyPr>
          <a:lstStyle/>
          <a:p>
            <a:pPr algn="ctr"/>
            <a:r>
              <a:rPr sz="9600" b="1">
                <a:solidFill>
                  <a:srgbClr val="F97316"/>
                </a:solidFill>
                <a:latin typeface="Inter"/>
              </a:rPr>
              <a:t>LIVE DEMO  →</a:t>
            </a:r>
          </a:p>
        </p:txBody>
      </p:sp>
      <p:sp>
        <p:nvSpPr>
          <p:cNvPr id="5" name="TextBox 4"/>
          <p:cNvSpPr txBox="1"/>
          <p:nvPr/>
        </p:nvSpPr>
        <p:spPr>
          <a:xfrm>
            <a:off x="0" y="4343400"/>
            <a:ext cx="12191695" cy="502920"/>
          </a:xfrm>
          <a:prstGeom prst="rect">
            <a:avLst/>
          </a:prstGeom>
          <a:noFill/>
        </p:spPr>
        <p:txBody>
          <a:bodyPr wrap="square" lIns="0" rIns="0" tIns="0" bIns="0" anchor="t">
            <a:spAutoFit/>
          </a:bodyPr>
          <a:lstStyle/>
          <a:p>
            <a:pPr algn="ctr"/>
            <a:r>
              <a:rPr sz="2000" b="0">
                <a:solidFill>
                  <a:srgbClr val="F8FAFC"/>
                </a:solidFill>
                <a:latin typeface="JetBrains Mono"/>
              </a:rPr>
              <a:t>http://localhost:5173</a:t>
            </a:r>
          </a:p>
        </p:txBody>
      </p:sp>
      <p:sp>
        <p:nvSpPr>
          <p:cNvPr id="6" name="TextBox 5"/>
          <p:cNvSpPr txBox="1"/>
          <p:nvPr/>
        </p:nvSpPr>
        <p:spPr>
          <a:xfrm>
            <a:off x="0" y="4800600"/>
            <a:ext cx="12191695" cy="411480"/>
          </a:xfrm>
          <a:prstGeom prst="rect">
            <a:avLst/>
          </a:prstGeom>
          <a:noFill/>
        </p:spPr>
        <p:txBody>
          <a:bodyPr wrap="square" lIns="0" rIns="0" tIns="0" bIns="0" anchor="t">
            <a:spAutoFit/>
          </a:bodyPr>
          <a:lstStyle/>
          <a:p>
            <a:pPr algn="ctr"/>
            <a:r>
              <a:rPr sz="1400" b="0" spc="150">
                <a:solidFill>
                  <a:srgbClr val="94A3B8"/>
                </a:solidFill>
                <a:latin typeface="Inter"/>
              </a:rPr>
              <a:t>two burner wallets  ·  one laptop  ·  zero trust</a:t>
            </a:r>
          </a:p>
        </p:txBody>
      </p:sp>
      <p:sp>
        <p:nvSpPr>
          <p:cNvPr id="7" name="TextBox 6"/>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8" name="Rectangle 7"/>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6720840"/>
            <a:ext cx="9077248"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09  ·  RECAP</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What was proven on-chain.</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10085831"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10 / 11</a:t>
            </a:r>
          </a:p>
        </p:txBody>
      </p:sp>
      <p:sp>
        <p:nvSpPr>
          <p:cNvPr id="10" name="Oval 9"/>
          <p:cNvSpPr/>
          <p:nvPr/>
        </p:nvSpPr>
        <p:spPr>
          <a:xfrm>
            <a:off x="548640" y="235000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404872"/>
            <a:ext cx="640080" cy="548640"/>
          </a:xfrm>
          <a:prstGeom prst="rect">
            <a:avLst/>
          </a:prstGeom>
          <a:noFill/>
        </p:spPr>
        <p:txBody>
          <a:bodyPr wrap="square" lIns="0" rIns="0" tIns="0" bIns="0" anchor="t">
            <a:spAutoFit/>
          </a:bodyPr>
          <a:lstStyle/>
          <a:p>
            <a:pPr algn="ctr"/>
            <a:r>
              <a:rPr sz="2400" b="1">
                <a:solidFill>
                  <a:srgbClr val="0A0F1A"/>
                </a:solidFill>
                <a:latin typeface="Inter"/>
              </a:rPr>
              <a:t>1</a:t>
            </a:r>
          </a:p>
        </p:txBody>
      </p:sp>
      <p:sp>
        <p:nvSpPr>
          <p:cNvPr id="12" name="TextBox 11"/>
          <p:cNvSpPr txBox="1"/>
          <p:nvPr/>
        </p:nvSpPr>
        <p:spPr>
          <a:xfrm>
            <a:off x="1463040" y="2350008"/>
            <a:ext cx="9144000" cy="457200"/>
          </a:xfrm>
          <a:prstGeom prst="rect">
            <a:avLst/>
          </a:prstGeom>
          <a:noFill/>
        </p:spPr>
        <p:txBody>
          <a:bodyPr wrap="square" lIns="0" rIns="0" tIns="0" bIns="0" anchor="t">
            <a:spAutoFit/>
          </a:bodyPr>
          <a:lstStyle/>
          <a:p>
            <a:pPr algn="l"/>
            <a:r>
              <a:rPr sz="2200" b="1">
                <a:solidFill>
                  <a:srgbClr val="F8FAFC"/>
                </a:solidFill>
                <a:latin typeface="Inter"/>
              </a:rPr>
              <a:t>Board legality</a:t>
            </a:r>
          </a:p>
        </p:txBody>
      </p:sp>
      <p:sp>
        <p:nvSpPr>
          <p:cNvPr id="13" name="TextBox 12"/>
          <p:cNvSpPr txBox="1"/>
          <p:nvPr/>
        </p:nvSpPr>
        <p:spPr>
          <a:xfrm>
            <a:off x="1463040" y="2743200"/>
            <a:ext cx="9601200" cy="365760"/>
          </a:xfrm>
          <a:prstGeom prst="rect">
            <a:avLst/>
          </a:prstGeom>
          <a:noFill/>
        </p:spPr>
        <p:txBody>
          <a:bodyPr wrap="square" lIns="0" rIns="0" tIns="0" bIns="0" anchor="t">
            <a:spAutoFit/>
          </a:bodyPr>
          <a:lstStyle/>
          <a:p>
            <a:pPr algn="l"/>
            <a:r>
              <a:rPr sz="1400" b="0">
                <a:solidFill>
                  <a:srgbClr val="94A3B8"/>
                </a:solidFill>
                <a:latin typeface="Inter"/>
              </a:rPr>
              <a:t>Before a single shot is fired.</a:t>
            </a:r>
          </a:p>
        </p:txBody>
      </p:sp>
      <p:sp>
        <p:nvSpPr>
          <p:cNvPr id="14" name="Oval 13"/>
          <p:cNvSpPr/>
          <p:nvPr/>
        </p:nvSpPr>
        <p:spPr>
          <a:xfrm>
            <a:off x="548640" y="321868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73552"/>
            <a:ext cx="640080" cy="548640"/>
          </a:xfrm>
          <a:prstGeom prst="rect">
            <a:avLst/>
          </a:prstGeom>
          <a:noFill/>
        </p:spPr>
        <p:txBody>
          <a:bodyPr wrap="square" lIns="0" rIns="0" tIns="0" bIns="0" anchor="t">
            <a:spAutoFit/>
          </a:bodyPr>
          <a:lstStyle/>
          <a:p>
            <a:pPr algn="ctr"/>
            <a:r>
              <a:rPr sz="2400" b="1">
                <a:solidFill>
                  <a:srgbClr val="0A0F1A"/>
                </a:solidFill>
                <a:latin typeface="Inter"/>
              </a:rPr>
              <a:t>2</a:t>
            </a:r>
          </a:p>
        </p:txBody>
      </p:sp>
      <p:sp>
        <p:nvSpPr>
          <p:cNvPr id="16" name="TextBox 15"/>
          <p:cNvSpPr txBox="1"/>
          <p:nvPr/>
        </p:nvSpPr>
        <p:spPr>
          <a:xfrm>
            <a:off x="1463040" y="3218688"/>
            <a:ext cx="9144000" cy="457200"/>
          </a:xfrm>
          <a:prstGeom prst="rect">
            <a:avLst/>
          </a:prstGeom>
          <a:noFill/>
        </p:spPr>
        <p:txBody>
          <a:bodyPr wrap="square" lIns="0" rIns="0" tIns="0" bIns="0" anchor="t">
            <a:spAutoFit/>
          </a:bodyPr>
          <a:lstStyle/>
          <a:p>
            <a:pPr algn="l"/>
            <a:r>
              <a:rPr sz="2200" b="1">
                <a:solidFill>
                  <a:srgbClr val="F8FAFC"/>
                </a:solidFill>
                <a:latin typeface="Inter"/>
              </a:rPr>
              <a:t>Shot-response honesty</a:t>
            </a:r>
          </a:p>
        </p:txBody>
      </p:sp>
      <p:sp>
        <p:nvSpPr>
          <p:cNvPr id="17" name="TextBox 16"/>
          <p:cNvSpPr txBox="1"/>
          <p:nvPr/>
        </p:nvSpPr>
        <p:spPr>
          <a:xfrm>
            <a:off x="1463040" y="3611880"/>
            <a:ext cx="9601200" cy="365760"/>
          </a:xfrm>
          <a:prstGeom prst="rect">
            <a:avLst/>
          </a:prstGeom>
          <a:noFill/>
        </p:spPr>
        <p:txBody>
          <a:bodyPr wrap="square" lIns="0" rIns="0" tIns="0" bIns="0" anchor="t">
            <a:spAutoFit/>
          </a:bodyPr>
          <a:lstStyle/>
          <a:p>
            <a:pPr algn="l"/>
            <a:r>
              <a:rPr sz="1400" b="0">
                <a:solidFill>
                  <a:srgbClr val="94A3B8"/>
                </a:solidFill>
                <a:latin typeface="Inter"/>
              </a:rPr>
              <a:t>Hit or miss, without revealing the board.</a:t>
            </a:r>
          </a:p>
        </p:txBody>
      </p:sp>
      <p:sp>
        <p:nvSpPr>
          <p:cNvPr id="18" name="Oval 17"/>
          <p:cNvSpPr/>
          <p:nvPr/>
        </p:nvSpPr>
        <p:spPr>
          <a:xfrm>
            <a:off x="548640" y="408736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142232"/>
            <a:ext cx="640080" cy="548640"/>
          </a:xfrm>
          <a:prstGeom prst="rect">
            <a:avLst/>
          </a:prstGeom>
          <a:noFill/>
        </p:spPr>
        <p:txBody>
          <a:bodyPr wrap="square" lIns="0" rIns="0" tIns="0" bIns="0" anchor="t">
            <a:spAutoFit/>
          </a:bodyPr>
          <a:lstStyle/>
          <a:p>
            <a:pPr algn="ctr"/>
            <a:r>
              <a:rPr sz="2400" b="1">
                <a:solidFill>
                  <a:srgbClr val="0A0F1A"/>
                </a:solidFill>
                <a:latin typeface="Inter"/>
              </a:rPr>
              <a:t>3</a:t>
            </a:r>
          </a:p>
        </p:txBody>
      </p:sp>
      <p:sp>
        <p:nvSpPr>
          <p:cNvPr id="20" name="TextBox 19"/>
          <p:cNvSpPr txBox="1"/>
          <p:nvPr/>
        </p:nvSpPr>
        <p:spPr>
          <a:xfrm>
            <a:off x="1463040" y="4087368"/>
            <a:ext cx="9144000" cy="457200"/>
          </a:xfrm>
          <a:prstGeom prst="rect">
            <a:avLst/>
          </a:prstGeom>
          <a:noFill/>
        </p:spPr>
        <p:txBody>
          <a:bodyPr wrap="square" lIns="0" rIns="0" tIns="0" bIns="0" anchor="t">
            <a:spAutoFit/>
          </a:bodyPr>
          <a:lstStyle/>
          <a:p>
            <a:pPr algn="l"/>
            <a:r>
              <a:rPr sz="2200" b="1">
                <a:solidFill>
                  <a:srgbClr val="F8FAFC"/>
                </a:solidFill>
                <a:latin typeface="Inter"/>
              </a:rPr>
              <a:t>No trusted setup</a:t>
            </a:r>
          </a:p>
        </p:txBody>
      </p:sp>
      <p:sp>
        <p:nvSpPr>
          <p:cNvPr id="21" name="TextBox 20"/>
          <p:cNvSpPr txBox="1"/>
          <p:nvPr/>
        </p:nvSpPr>
        <p:spPr>
          <a:xfrm>
            <a:off x="1463040" y="4480560"/>
            <a:ext cx="9601200" cy="365760"/>
          </a:xfrm>
          <a:prstGeom prst="rect">
            <a:avLst/>
          </a:prstGeom>
          <a:noFill/>
        </p:spPr>
        <p:txBody>
          <a:bodyPr wrap="square" lIns="0" rIns="0" tIns="0" bIns="0" anchor="t">
            <a:spAutoFit/>
          </a:bodyPr>
          <a:lstStyle/>
          <a:p>
            <a:pPr algn="l"/>
            <a:r>
              <a:rPr sz="1400" b="0">
                <a:solidFill>
                  <a:srgbClr val="94A3B8"/>
                </a:solidFill>
                <a:latin typeface="Inter"/>
              </a:rPr>
              <a:t>UltraPlonk, no ceremony, no toxic waste.</a:t>
            </a:r>
          </a:p>
        </p:txBody>
      </p:sp>
      <p:sp>
        <p:nvSpPr>
          <p:cNvPr id="22" name="Oval 21"/>
          <p:cNvSpPr/>
          <p:nvPr/>
        </p:nvSpPr>
        <p:spPr>
          <a:xfrm>
            <a:off x="548640" y="495604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10912"/>
            <a:ext cx="640080" cy="548640"/>
          </a:xfrm>
          <a:prstGeom prst="rect">
            <a:avLst/>
          </a:prstGeom>
          <a:noFill/>
        </p:spPr>
        <p:txBody>
          <a:bodyPr wrap="square" lIns="0" rIns="0" tIns="0" bIns="0" anchor="t">
            <a:spAutoFit/>
          </a:bodyPr>
          <a:lstStyle/>
          <a:p>
            <a:pPr algn="ctr"/>
            <a:r>
              <a:rPr sz="2400" b="1">
                <a:solidFill>
                  <a:srgbClr val="0A0F1A"/>
                </a:solidFill>
                <a:latin typeface="Inter"/>
              </a:rPr>
              <a:t>4</a:t>
            </a:r>
          </a:p>
        </p:txBody>
      </p:sp>
      <p:sp>
        <p:nvSpPr>
          <p:cNvPr id="24" name="TextBox 23"/>
          <p:cNvSpPr txBox="1"/>
          <p:nvPr/>
        </p:nvSpPr>
        <p:spPr>
          <a:xfrm>
            <a:off x="1463040" y="4956048"/>
            <a:ext cx="9144000" cy="457200"/>
          </a:xfrm>
          <a:prstGeom prst="rect">
            <a:avLst/>
          </a:prstGeom>
          <a:noFill/>
        </p:spPr>
        <p:txBody>
          <a:bodyPr wrap="square" lIns="0" rIns="0" tIns="0" bIns="0" anchor="t">
            <a:spAutoFit/>
          </a:bodyPr>
          <a:lstStyle/>
          <a:p>
            <a:pPr algn="l"/>
            <a:r>
              <a:rPr sz="2200" b="1">
                <a:solidFill>
                  <a:srgbClr val="F8FAFC"/>
                </a:solidFill>
                <a:latin typeface="Inter"/>
              </a:rPr>
              <a:t>Cheap verification</a:t>
            </a:r>
          </a:p>
        </p:txBody>
      </p:sp>
      <p:sp>
        <p:nvSpPr>
          <p:cNvPr id="25" name="TextBox 24"/>
          <p:cNvSpPr txBox="1"/>
          <p:nvPr/>
        </p:nvSpPr>
        <p:spPr>
          <a:xfrm>
            <a:off x="1463040" y="5349240"/>
            <a:ext cx="9601200" cy="365760"/>
          </a:xfrm>
          <a:prstGeom prst="rect">
            <a:avLst/>
          </a:prstGeom>
          <a:noFill/>
        </p:spPr>
        <p:txBody>
          <a:bodyPr wrap="square" lIns="0" rIns="0" tIns="0" bIns="0" anchor="t">
            <a:spAutoFit/>
          </a:bodyPr>
          <a:lstStyle/>
          <a:p>
            <a:pPr algn="l"/>
            <a:r>
              <a:rPr sz="1400" b="0">
                <a:solidFill>
                  <a:srgbClr val="94A3B8"/>
                </a:solidFill>
                <a:latin typeface="Inter"/>
              </a:rPr>
              <a:t>About 250k gas per proof.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10  ·  ROADMAP</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What's next.</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11094415"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11 / 11</a:t>
            </a:r>
          </a:p>
        </p:txBody>
      </p:sp>
      <p:sp>
        <p:nvSpPr>
          <p:cNvPr id="10" name="TextBox 9"/>
          <p:cNvSpPr txBox="1"/>
          <p:nvPr/>
        </p:nvSpPr>
        <p:spPr>
          <a:xfrm>
            <a:off x="548640" y="233172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01</a:t>
            </a:r>
          </a:p>
        </p:txBody>
      </p:sp>
      <p:sp>
        <p:nvSpPr>
          <p:cNvPr id="11" name="TextBox 10"/>
          <p:cNvSpPr txBox="1"/>
          <p:nvPr/>
        </p:nvSpPr>
        <p:spPr>
          <a:xfrm>
            <a:off x="1188720" y="2304288"/>
            <a:ext cx="5394960" cy="411480"/>
          </a:xfrm>
          <a:prstGeom prst="rect">
            <a:avLst/>
          </a:prstGeom>
          <a:noFill/>
        </p:spPr>
        <p:txBody>
          <a:bodyPr wrap="square" lIns="0" rIns="0" tIns="0" bIns="0" anchor="t">
            <a:spAutoFit/>
          </a:bodyPr>
          <a:lstStyle/>
          <a:p>
            <a:pPr algn="l"/>
            <a:r>
              <a:rPr sz="1800" b="1">
                <a:solidFill>
                  <a:srgbClr val="F8FAFC"/>
                </a:solidFill>
                <a:latin typeface="Inter"/>
              </a:rPr>
              <a:t>Mainnet deployment path</a:t>
            </a:r>
          </a:p>
        </p:txBody>
      </p:sp>
      <p:sp>
        <p:nvSpPr>
          <p:cNvPr id="12" name="TextBox 11"/>
          <p:cNvSpPr txBox="1"/>
          <p:nvPr/>
        </p:nvSpPr>
        <p:spPr>
          <a:xfrm>
            <a:off x="1188720" y="2679192"/>
            <a:ext cx="5394960" cy="365760"/>
          </a:xfrm>
          <a:prstGeom prst="rect">
            <a:avLst/>
          </a:prstGeom>
          <a:noFill/>
        </p:spPr>
        <p:txBody>
          <a:bodyPr wrap="square" lIns="0" rIns="0" tIns="0" bIns="0" anchor="t">
            <a:spAutoFit/>
          </a:bodyPr>
          <a:lstStyle/>
          <a:p>
            <a:pPr algn="l"/>
            <a:r>
              <a:rPr sz="1200" b="0">
                <a:solidFill>
                  <a:srgbClr val="94A3B8"/>
                </a:solidFill>
                <a:latin typeface="Inter"/>
              </a:rPr>
              <a:t>Solidity verifier is deploy-ready.</a:t>
            </a:r>
          </a:p>
        </p:txBody>
      </p:sp>
      <p:sp>
        <p:nvSpPr>
          <p:cNvPr id="13" name="TextBox 12"/>
          <p:cNvSpPr txBox="1"/>
          <p:nvPr/>
        </p:nvSpPr>
        <p:spPr>
          <a:xfrm>
            <a:off x="548640" y="320040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02</a:t>
            </a:r>
          </a:p>
        </p:txBody>
      </p:sp>
      <p:sp>
        <p:nvSpPr>
          <p:cNvPr id="14" name="TextBox 13"/>
          <p:cNvSpPr txBox="1"/>
          <p:nvPr/>
        </p:nvSpPr>
        <p:spPr>
          <a:xfrm>
            <a:off x="1188720" y="3172968"/>
            <a:ext cx="5394960" cy="411480"/>
          </a:xfrm>
          <a:prstGeom prst="rect">
            <a:avLst/>
          </a:prstGeom>
          <a:noFill/>
        </p:spPr>
        <p:txBody>
          <a:bodyPr wrap="square" lIns="0" rIns="0" tIns="0" bIns="0" anchor="t">
            <a:spAutoFit/>
          </a:bodyPr>
          <a:lstStyle/>
          <a:p>
            <a:pPr algn="l"/>
            <a:r>
              <a:rPr sz="1800" b="1">
                <a:solidFill>
                  <a:srgbClr val="F8FAFC"/>
                </a:solidFill>
                <a:latin typeface="Inter"/>
              </a:rPr>
              <a:t>Shot-response optimization</a:t>
            </a:r>
          </a:p>
        </p:txBody>
      </p:sp>
      <p:sp>
        <p:nvSpPr>
          <p:cNvPr id="15" name="TextBox 14"/>
          <p:cNvSpPr txBox="1"/>
          <p:nvPr/>
        </p:nvSpPr>
        <p:spPr>
          <a:xfrm>
            <a:off x="1188720" y="3547872"/>
            <a:ext cx="5394960" cy="365760"/>
          </a:xfrm>
          <a:prstGeom prst="rect">
            <a:avLst/>
          </a:prstGeom>
          <a:noFill/>
        </p:spPr>
        <p:txBody>
          <a:bodyPr wrap="square" lIns="0" rIns="0" tIns="0" bIns="0" anchor="t">
            <a:spAutoFit/>
          </a:bodyPr>
          <a:lstStyle/>
          <a:p>
            <a:pPr algn="l"/>
            <a:r>
              <a:rPr sz="1200" b="0">
                <a:solidFill>
                  <a:srgbClr val="94A3B8"/>
                </a:solidFill>
                <a:latin typeface="Inter"/>
              </a:rPr>
              <a:t>Target sub-second proving.</a:t>
            </a:r>
          </a:p>
        </p:txBody>
      </p:sp>
      <p:sp>
        <p:nvSpPr>
          <p:cNvPr id="16" name="TextBox 15"/>
          <p:cNvSpPr txBox="1"/>
          <p:nvPr/>
        </p:nvSpPr>
        <p:spPr>
          <a:xfrm>
            <a:off x="548640" y="406908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03</a:t>
            </a:r>
          </a:p>
        </p:txBody>
      </p:sp>
      <p:sp>
        <p:nvSpPr>
          <p:cNvPr id="17" name="TextBox 16"/>
          <p:cNvSpPr txBox="1"/>
          <p:nvPr/>
        </p:nvSpPr>
        <p:spPr>
          <a:xfrm>
            <a:off x="1188720" y="4041648"/>
            <a:ext cx="5394960" cy="411480"/>
          </a:xfrm>
          <a:prstGeom prst="rect">
            <a:avLst/>
          </a:prstGeom>
          <a:noFill/>
        </p:spPr>
        <p:txBody>
          <a:bodyPr wrap="square" lIns="0" rIns="0" tIns="0" bIns="0" anchor="t">
            <a:spAutoFit/>
          </a:bodyPr>
          <a:lstStyle/>
          <a:p>
            <a:pPr algn="l"/>
            <a:r>
              <a:rPr sz="1800" b="1">
                <a:solidFill>
                  <a:srgbClr val="F8FAFC"/>
                </a:solidFill>
                <a:latin typeface="Inter"/>
              </a:rPr>
              <a:t>Multi-game lobby</a:t>
            </a:r>
          </a:p>
        </p:txBody>
      </p:sp>
      <p:sp>
        <p:nvSpPr>
          <p:cNvPr id="18" name="TextBox 17"/>
          <p:cNvSpPr txBox="1"/>
          <p:nvPr/>
        </p:nvSpPr>
        <p:spPr>
          <a:xfrm>
            <a:off x="1188720" y="4416552"/>
            <a:ext cx="5394960" cy="365760"/>
          </a:xfrm>
          <a:prstGeom prst="rect">
            <a:avLst/>
          </a:prstGeom>
          <a:noFill/>
        </p:spPr>
        <p:txBody>
          <a:bodyPr wrap="square" lIns="0" rIns="0" tIns="0" bIns="0" anchor="t">
            <a:spAutoFit/>
          </a:bodyPr>
          <a:lstStyle/>
          <a:p>
            <a:pPr algn="l"/>
            <a:r>
              <a:rPr sz="1200" b="0">
                <a:solidFill>
                  <a:srgbClr val="94A3B8"/>
                </a:solidFill>
                <a:latin typeface="Inter"/>
              </a:rPr>
              <a:t>Matchmaking plus state routing.</a:t>
            </a:r>
          </a:p>
        </p:txBody>
      </p:sp>
      <p:sp>
        <p:nvSpPr>
          <p:cNvPr id="19" name="TextBox 18"/>
          <p:cNvSpPr txBox="1"/>
          <p:nvPr/>
        </p:nvSpPr>
        <p:spPr>
          <a:xfrm>
            <a:off x="548640" y="493776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04</a:t>
            </a:r>
          </a:p>
        </p:txBody>
      </p:sp>
      <p:sp>
        <p:nvSpPr>
          <p:cNvPr id="20" name="TextBox 19"/>
          <p:cNvSpPr txBox="1"/>
          <p:nvPr/>
        </p:nvSpPr>
        <p:spPr>
          <a:xfrm>
            <a:off x="1188720" y="4910328"/>
            <a:ext cx="5394960" cy="411480"/>
          </a:xfrm>
          <a:prstGeom prst="rect">
            <a:avLst/>
          </a:prstGeom>
          <a:noFill/>
        </p:spPr>
        <p:txBody>
          <a:bodyPr wrap="square" lIns="0" rIns="0" tIns="0" bIns="0" anchor="t">
            <a:spAutoFit/>
          </a:bodyPr>
          <a:lstStyle/>
          <a:p>
            <a:pPr algn="l"/>
            <a:r>
              <a:rPr sz="1800" b="1">
                <a:solidFill>
                  <a:srgbClr val="F8FAFC"/>
                </a:solidFill>
                <a:latin typeface="Inter"/>
              </a:rPr>
              <a:t>Tournament mode</a:t>
            </a:r>
          </a:p>
        </p:txBody>
      </p:sp>
      <p:sp>
        <p:nvSpPr>
          <p:cNvPr id="21" name="TextBox 20"/>
          <p:cNvSpPr txBox="1"/>
          <p:nvPr/>
        </p:nvSpPr>
        <p:spPr>
          <a:xfrm>
            <a:off x="1188720" y="5285232"/>
            <a:ext cx="5394960" cy="365760"/>
          </a:xfrm>
          <a:prstGeom prst="rect">
            <a:avLst/>
          </a:prstGeom>
          <a:noFill/>
        </p:spPr>
        <p:txBody>
          <a:bodyPr wrap="square" lIns="0" rIns="0" tIns="0" bIns="0" anchor="t">
            <a:spAutoFit/>
          </a:bodyPr>
          <a:lstStyle/>
          <a:p>
            <a:pPr algn="l"/>
            <a:r>
              <a:rPr sz="1200" b="0">
                <a:solidFill>
                  <a:srgbClr val="94A3B8"/>
                </a:solidFill>
                <a:latin typeface="Inter"/>
              </a:rPr>
              <a:t>Trustless brackets, auditable replays.</a:t>
            </a:r>
          </a:p>
        </p:txBody>
      </p:sp>
      <p:sp>
        <p:nvSpPr>
          <p:cNvPr id="22" name="Rectangle 21"/>
          <p:cNvSpPr/>
          <p:nvPr/>
        </p:nvSpPr>
        <p:spPr>
          <a:xfrm>
            <a:off x="6903720" y="2331720"/>
            <a:ext cx="12700" cy="356616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377440"/>
            <a:ext cx="4572000" cy="365760"/>
          </a:xfrm>
          <a:prstGeom prst="rect">
            <a:avLst/>
          </a:prstGeom>
          <a:noFill/>
        </p:spPr>
        <p:txBody>
          <a:bodyPr wrap="square" lIns="0" rIns="0" tIns="0" bIns="0" anchor="t">
            <a:spAutoFit/>
          </a:bodyPr>
          <a:lstStyle/>
          <a:p>
            <a:pPr algn="l"/>
            <a:r>
              <a:rPr sz="1100" b="1" spc="350">
                <a:solidFill>
                  <a:srgbClr val="38BDF8"/>
                </a:solidFill>
                <a:latin typeface="Inter"/>
              </a:rPr>
              <a:t>Q &amp; A</a:t>
            </a:r>
          </a:p>
        </p:txBody>
      </p:sp>
      <p:sp>
        <p:nvSpPr>
          <p:cNvPr id="24" name="TextBox 23"/>
          <p:cNvSpPr txBox="1"/>
          <p:nvPr/>
        </p:nvSpPr>
        <p:spPr>
          <a:xfrm>
            <a:off x="7269480" y="2834640"/>
            <a:ext cx="4754880" cy="1828800"/>
          </a:xfrm>
          <a:prstGeom prst="rect">
            <a:avLst/>
          </a:prstGeom>
          <a:noFill/>
        </p:spPr>
        <p:txBody>
          <a:bodyPr wrap="square" lIns="0" rIns="0" tIns="0" bIns="0" anchor="t">
            <a:spAutoFit/>
          </a:bodyPr>
          <a:lstStyle/>
          <a:p>
            <a:pPr algn="l"/>
            <a:r>
              <a:rPr sz="6000" b="1">
                <a:solidFill>
                  <a:srgbClr val="F97316"/>
                </a:solidFill>
                <a:latin typeface="Inter"/>
              </a:rPr>
              <a:t>Questions?</a:t>
            </a:r>
          </a:p>
        </p:txBody>
      </p:sp>
      <p:sp>
        <p:nvSpPr>
          <p:cNvPr id="25" name="TextBox 24"/>
          <p:cNvSpPr txBox="1"/>
          <p:nvPr/>
        </p:nvSpPr>
        <p:spPr>
          <a:xfrm>
            <a:off x="7269480" y="4434840"/>
            <a:ext cx="4754880" cy="1280160"/>
          </a:xfrm>
          <a:prstGeom prst="rect">
            <a:avLst/>
          </a:prstGeom>
          <a:noFill/>
        </p:spPr>
        <p:txBody>
          <a:bodyPr wrap="square" lIns="0" rIns="0" tIns="0" bIns="0" anchor="t">
            <a:spAutoFit/>
          </a:bodyPr>
          <a:lstStyle/>
          <a:p>
            <a:pPr algn="l"/>
            <a:r>
              <a:rPr sz="1400" b="0">
                <a:solidFill>
                  <a:srgbClr val="94A3B8"/>
                </a:solidFill>
                <a:latin typeface="Inter"/>
              </a:rPr>
              <a:t>Circuits, contracts, frontend -- everything is open source.</a:t>
            </a:r>
          </a:p>
        </p:txBody>
      </p:sp>
      <p:sp>
        <p:nvSpPr>
          <p:cNvPr id="26" name="TextBox 25"/>
          <p:cNvSpPr txBox="1"/>
          <p:nvPr/>
        </p:nvSpPr>
        <p:spPr>
          <a:xfrm>
            <a:off x="7269480" y="5212080"/>
            <a:ext cx="4754880" cy="365760"/>
          </a:xfrm>
          <a:prstGeom prst="rect">
            <a:avLst/>
          </a:prstGeom>
          <a:noFill/>
        </p:spPr>
        <p:txBody>
          <a:bodyPr wrap="square" lIns="0" rIns="0" tIns="0" bIns="0" anchor="t">
            <a:spAutoFit/>
          </a:bodyPr>
          <a:lstStyle/>
          <a:p>
            <a:pPr algn="l"/>
            <a:r>
              <a:rPr sz="1200" b="0">
                <a:solidFill>
                  <a:srgbClr val="F8FAFC"/>
                </a:solidFill>
                <a:latin typeface="JetBrains Mono"/>
              </a:rPr>
              <a:t>github.com/ battleship-zk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