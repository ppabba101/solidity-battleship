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[Pranav]</a:t>
            </a:r>
          </a:p>
          <a:p>
            <a:r>
              <a:t>Welcome everyone. I'm Pranav Pabba and this is my teammate Vikram Akkala. Over the next eight minutes we're going to show you Battleship -- the classic two-player board game -- rebuilt on zero-knowledge proofs with real on-chain verification. I'll drive the live demo; Vikram will carry you through the cryptography. By the time we're done you'll see exactly why a simple hash commitment fails, and why a single zk-SNARK is the piece that closes the gap.</a:t>
            </a:r>
          </a:p>
          <a:p/>
          <a:p>
            <a:r>
              <a:t>[Vikram]</a:t>
            </a:r>
          </a:p>
          <a:p>
            <a:r>
              <a:t>Thanks Pranav. My job is the crypto -- the problem, the gap, and the fix. Concrete and tied to Battleship the whole way. Let's go.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[Vikram]</a:t>
            </a:r>
          </a:p>
          <a:p>
            <a:r>
              <a:t>Battleship is a game of hidden state. I place ships on my private ten-by-ten grid, you place ships on yours, and neither of us sees the other's layout. In a digital implementation nothing stops me from just lying about my board. So the standard cryptographic move is: commit to your board up front with a hash. Publish that hash on-chain, and now you can't silently change your ships mid-game. Great. But here's the catch -- and this is what the next slide is about -- a hash commitment only proves WHAT you committed to. It says absolutely nothing about whether what you committed is a legal fleet in the first place.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[Vikram]</a:t>
            </a:r>
          </a:p>
          <a:p>
            <a:r>
              <a:t>Okay, feel this one. Imagine I'm the cheater. I commit to an all-empty board -- literally a grid with zero ships on it. The hash of that board is a perfectly valid hash. On-chain, my commitment looks identical to yours. The game starts. You fire at three-comma-five. I answer MISS. Completely truthfully, because there is nothing there. You fire at seven-comma-two. MISS. Again, not a lie. I never lose a single cell because I have no cells to lose. Meanwhile I'm sinking your actual ships. I win by elimination without ever making a dishonest statement. A plain hash commitment cannot stop this attack, because a hash only proves WHAT you committed to -- it is silent on whether that thing is a legal Battleship fleet. This is the validity gap, and every slide from here on is about closing it.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[Vikram]</a:t>
            </a:r>
          </a:p>
          <a:p>
            <a:r>
              <a:t>Here is the move. Instead of just committing to a board, we commit AND prove -- in zero knowledge -- that what we committed to is a legal fleet. Exactly seventeen occupied cells. One five-cell carrier. One four-cell battleship. Two three-cell cruisers. One two-cell destroyer. No overlaps. No diagonals. All in bounds. That whole statement becomes a single zk-SNARK. The proof goes on-chain at commit time, before the first shot is ever fired. The all-empty-board attack you just saw? It literally cannot produce a valid proof, because the circuit's fleet constraint rejects it. The proof IS the validity certificate -- if the contract accepts it, the board is legal, full stop. And you learn absolutely nothing about where the ships actually are.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[Vikram]</a:t>
            </a:r>
          </a:p>
          <a:p>
            <a:r>
              <a:t>The concrete stack. Noir is Aztec's Rust-flavoured DSL for writing zk circuits -- it reads like normal code and compiles down to an arithmetic constraint system. UltraHonk is the proving backend, a modern PLONK-family scheme that needs no trusted setup ceremony, which means I don't have to spend five minutes of this talk explaining powers of tau. Pedersen hash is the commitment primitive we use inside the circuit -- cheap in zk and it binds all one hundred private cells plus a salt into a single public field element. And finally, Noir auto-generates a Solidity verifier contract -- HonkVerifier dot sol, about twenty-four hundred lines, roughly two hundred and fifty thousand gas per verify call. That is the whole cryptographic toolbox. No custom circuits hand-rolled in Circom, no Groth16 ceremony, no custom verifier math.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[Pranav]</a:t>
            </a:r>
          </a:p>
          <a:p>
            <a:r>
              <a:t>End-to-end data flow, and this is exactly what you're about to watch live. I open the React app. I drag my fleet onto the grid. I click Ready. The frontend pipes my private board into a Pedersen hash for the commitment and into the Noir board-validity circuit, and runs bb.js -- Aztec's WASM-compiled Barretenberg prover -- right there in the browser. Out comes a proof blob. I push it as calldata to BattleshipGame dot sol on a local Anvil chain. BattleshipGame calls the Noir-generated HonkVerifier, which accepts or rejects on-chain. Every shot response goes through the same pipeline with a separate shot-response circuit. Nothing trusts the frontend -- every single claim is verified by the contract. Two burner wallets derived from Anvil's deterministic test keys mean no MetaMask popups and no wallet switching. One laptop, hot-seat, zero trust.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[Pranav]</a:t>
            </a:r>
          </a:p>
          <a:p>
            <a:r>
              <a:t>Alright, driving. I'm opening the app -- both players' grids side by side. Clicking the carrier in the palette, rotating with R, dropping it on the top row. Placing the rest fast. Hit Ready. Watch the spinner: "proving board legality" -- that is the Noir circuit running right now in the browser. Proof verified on-chain. Player two does the same. Now we fire -- I click on the enemy grid. Pending pulse. Hit confirmed, shot-response proof verified in about a second.</a:t>
            </a:r>
          </a:p>
          <a:p/>
          <a:p>
            <a:r>
              <a:t>[Vikram]</a:t>
            </a:r>
          </a:p>
          <a:p>
            <a:r>
              <a:t>Keep an eye on the Crypto Log panel on the right -- every on-chain event is narrated as it happens. Pedersen commit, board-validity proof, shot-response proof, sunk animation. This is a full cryptographic game loop running live with zero trust in the opponent.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[Vikram]</a:t>
            </a:r>
          </a:p>
          <a:p>
            <a:r>
              <a:t>Four things the cryptography actually guaranteed during that demo. One: before the first shot was fired, each player produced a zk-SNARK proving their board contained exactly the standard fleet -- seventeen cells, correct ship shapes, no overlaps, no diagonals. The all-empty-board cheat is impossible. Two: every shot response came with its own proof binding the answer back to the original Pedersen commitment, so a hit cannot be flipped to a miss. Three: zero trust -- every opponent claim is a proof the contract verifies, not a promise we take on faith. Four: zero trusted setup -- UltraHonk needs no multi-party ceremony, no powers of tau, no toxic waste to dispose of. That is the whole cryptographic contract of this demo.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[Pranav]</a:t>
            </a:r>
          </a:p>
          <a:p>
            <a:r>
              <a:t>Where does this go from here? Mainnet deployment is basically a deploy script away -- the Solidity verifier is already production-shaped. We want to prune the shot-response circuit to get proving time down further, and longer term stand up a multi-game lobby so this is not just a hot-seat demo. That's the pitch. Thanks for your time. We're happy to take questions on the circuits, the contract, Noir, bb.js, burner wallets -- anything you saw in the demo. The full stack is open source.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350">
                <a:solidFill>
                  <a:srgbClr val="38BDF8"/>
                </a:solidFill>
                <a:latin typeface="Inter"/>
              </a:rPr>
              <a:t>A ZERO-KNOWLEDGE DEMO   ·   BLOCKCHAIN CLUB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972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F8FAFC"/>
                </a:solidFill>
                <a:latin typeface="Inter"/>
              </a:rPr>
              <a:t>Battleship,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971800"/>
            <a:ext cx="10972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F97316"/>
                </a:solidFill>
                <a:latin typeface="Inter"/>
              </a:rPr>
              <a:t>proven.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348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94A3B8"/>
                </a:solidFill>
                <a:latin typeface="Inter"/>
              </a:rPr>
              <a:t>A zk-SNARK demo with real on-chain verification.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486400"/>
            <a:ext cx="5120640" cy="502920"/>
          </a:xfrm>
          <a:prstGeom prst="roundRect">
            <a:avLst>
              <a:gd name="adj" fmla="val 50000"/>
            </a:avLst>
          </a:prstGeom>
          <a:solidFill>
            <a:srgbClr val="1B2942"/>
          </a:solidFill>
          <a:ln w="9525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8" y="5669280"/>
            <a:ext cx="137160" cy="1371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6152" y="559612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F8FAFC"/>
                </a:solidFill>
                <a:latin typeface="Inter"/>
              </a:rPr>
              <a:t>VIKRAM AKKALA    ·    PRANAV PABBA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28255" y="55961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JetBrains Mono"/>
              </a:rPr>
              <a:t>noir → ultrahonk → solidity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720840"/>
            <a:ext cx="11094415" cy="38100"/>
          </a:xfrm>
          <a:prstGeom prst="rect">
            <a:avLst/>
          </a:prstGeom>
          <a:solidFill>
            <a:srgbClr val="273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6720840"/>
            <a:ext cx="1232712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JetBrains Mono"/>
              </a:rPr>
              <a:t>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38BDF8"/>
                </a:solidFill>
                <a:latin typeface="Inter"/>
              </a:rPr>
              <a:t>01  · 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Inter"/>
              </a:rPr>
              <a:t>A game built on hidden state.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JetBrains Mono"/>
              </a:rPr>
              <a:t>battleship</a:t>
            </a:r>
            <a:r>
              <a:rPr sz="1000" b="1">
                <a:solidFill>
                  <a:srgbClr val="F97316"/>
                </a:solidFill>
                <a:latin typeface="JetBrains Mono"/>
              </a:rPr>
              <a:t>.zk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720840"/>
            <a:ext cx="11094415" cy="38100"/>
          </a:xfrm>
          <a:prstGeom prst="rect">
            <a:avLst/>
          </a:prstGeom>
          <a:solidFill>
            <a:srgbClr val="273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720840"/>
            <a:ext cx="2465425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JetBrains Mono"/>
              </a:rPr>
              <a:t>02 / 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1097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0" b="1">
                <a:solidFill>
                  <a:srgbClr val="F97316"/>
                </a:solidFill>
                <a:latin typeface="Inter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743200"/>
            <a:ext cx="99669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800" b="1">
                <a:solidFill>
                  <a:srgbClr val="F8FAFC"/>
                </a:solidFill>
                <a:latin typeface="Inter"/>
              </a:rPr>
              <a:t>Each player knows their board.</a:t>
            </a:r>
          </a:p>
          <a:p>
            <a:pPr algn="l">
              <a:spcBef>
                <a:spcPts val="0"/>
              </a:spcBef>
            </a:pPr>
            <a:r>
              <a:rPr sz="3800" b="1">
                <a:solidFill>
                  <a:srgbClr val="F97316"/>
                </a:solidFill>
                <a:latin typeface="Inter"/>
              </a:rPr>
              <a:t>Neither player trusts the other.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507492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Inter"/>
              </a:rPr>
              <a:t>— standard trick: commit to your board with a hash so you can't change your mind later.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544068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Inter"/>
              </a:rPr>
              <a:t>But a hash commitment only proves WHAT you committed to -- not whether what you committed is legal.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38BDF8"/>
                </a:solidFill>
                <a:latin typeface="Inter"/>
              </a:rPr>
              <a:t>02  ·  THE VALIDITY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Inter"/>
              </a:rPr>
              <a:t>Commit to nothing. Win anyway.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JetBrains Mono"/>
              </a:rPr>
              <a:t>battleship</a:t>
            </a:r>
            <a:r>
              <a:rPr sz="1000" b="1">
                <a:solidFill>
                  <a:srgbClr val="F97316"/>
                </a:solidFill>
                <a:latin typeface="JetBrains Mono"/>
              </a:rPr>
              <a:t>.zk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720840"/>
            <a:ext cx="11094415" cy="38100"/>
          </a:xfrm>
          <a:prstGeom prst="rect">
            <a:avLst/>
          </a:prstGeom>
          <a:solidFill>
            <a:srgbClr val="273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720840"/>
            <a:ext cx="3698138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JetBrains Mono"/>
              </a:rPr>
              <a:t>03 / 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240280"/>
            <a:ext cx="3657600" cy="3657600"/>
          </a:xfrm>
          <a:prstGeom prst="roundRect">
            <a:avLst>
              <a:gd name="adj" fmla="val 5000"/>
            </a:avLst>
          </a:prstGeom>
          <a:solidFill>
            <a:srgbClr val="1B2942"/>
          </a:solidFill>
          <a:ln w="1270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37744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86968" y="237744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25296" y="237744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63624" y="237744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01952" y="237744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40280" y="237744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78608" y="237744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16936" y="237744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55264" y="237744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93592" y="237744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71576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6968" y="271576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25296" y="271576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563624" y="271576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901952" y="271576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40280" y="271576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78608" y="271576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16936" y="271576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55264" y="271576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93592" y="271576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305409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6968" y="305409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25296" y="305409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63624" y="305409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1952" y="305409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40280" y="305409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578608" y="305409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916936" y="305409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55264" y="305409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93592" y="305409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8640" y="339242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86968" y="339242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225296" y="339242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563624" y="339242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1952" y="339242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240280" y="339242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578608" y="339242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16936" y="339242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255264" y="339242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593592" y="339242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" y="373075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86968" y="373075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225296" y="373075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563624" y="373075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901952" y="373075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240280" y="373075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578608" y="373075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16936" y="373075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255264" y="373075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593592" y="373075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48640" y="406908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86968" y="406908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225296" y="406908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563624" y="406908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901952" y="406908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240280" y="406908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578608" y="406908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916936" y="406908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255264" y="406908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593592" y="406908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48640" y="440740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86968" y="440740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225296" y="440740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563624" y="440740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901952" y="440740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240280" y="440740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578608" y="440740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916936" y="440740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255264" y="440740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593592" y="440740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48640" y="474573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86968" y="474573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225296" y="474573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563624" y="474573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901952" y="474573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240280" y="474573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578608" y="474573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916936" y="474573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255264" y="474573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593592" y="474573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48640" y="508406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86968" y="508406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225296" y="508406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63624" y="508406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901952" y="508406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240280" y="508406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578608" y="508406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916936" y="508406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255264" y="508406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593592" y="508406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48640" y="542239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86968" y="542239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25296" y="542239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563624" y="542239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01952" y="542239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240280" y="542239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578608" y="542239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916936" y="542239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255264" y="542239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593592" y="542239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59436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spc="250">
                <a:solidFill>
                  <a:srgbClr val="F87171"/>
                </a:solidFill>
                <a:latin typeface="Inter"/>
              </a:rPr>
              <a:t>ALL-EMPTY BOARD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48640" y="62636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JetBrains Mono"/>
              </a:rPr>
              <a:t>hash(empty, salt) is still valid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72000" y="2331720"/>
            <a:ext cx="70710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50">
                <a:solidFill>
                  <a:srgbClr val="F87171"/>
                </a:solidFill>
                <a:latin typeface="Inter"/>
              </a:rPr>
              <a:t>THE CHEAT</a:t>
            </a:r>
          </a:p>
        </p:txBody>
      </p:sp>
      <p:sp>
        <p:nvSpPr>
          <p:cNvPr id="114" name="Oval 113"/>
          <p:cNvSpPr/>
          <p:nvPr/>
        </p:nvSpPr>
        <p:spPr>
          <a:xfrm>
            <a:off x="4572000" y="2852928"/>
            <a:ext cx="411480" cy="41148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572000" y="286207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A0F1A"/>
                </a:solidFill>
                <a:latin typeface="Inter"/>
              </a:rP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212080" y="2825496"/>
            <a:ext cx="6430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8FAFC"/>
                </a:solidFill>
                <a:latin typeface="Inter"/>
              </a:rPr>
              <a:t>Commit to an all-empty board.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212080" y="3200400"/>
            <a:ext cx="64309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Inter"/>
              </a:rPr>
              <a:t>hash is valid. nothing in the scheme says you need ships.</a:t>
            </a:r>
          </a:p>
        </p:txBody>
      </p:sp>
      <p:sp>
        <p:nvSpPr>
          <p:cNvPr id="118" name="Oval 117"/>
          <p:cNvSpPr/>
          <p:nvPr/>
        </p:nvSpPr>
        <p:spPr>
          <a:xfrm>
            <a:off x="4572000" y="3630168"/>
            <a:ext cx="411480" cy="41148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0" y="363931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A0F1A"/>
                </a:solidFill>
                <a:latin typeface="Inter"/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212080" y="3602736"/>
            <a:ext cx="6430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8FAFC"/>
                </a:solidFill>
                <a:latin typeface="Inter"/>
              </a:rPr>
              <a:t>Opponent fires at (3, 5).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2080" y="3977640"/>
            <a:ext cx="64309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Inter"/>
              </a:rPr>
              <a:t>you answer MISS. truthfully. there is nothing there.</a:t>
            </a:r>
          </a:p>
        </p:txBody>
      </p:sp>
      <p:sp>
        <p:nvSpPr>
          <p:cNvPr id="122" name="Oval 121"/>
          <p:cNvSpPr/>
          <p:nvPr/>
        </p:nvSpPr>
        <p:spPr>
          <a:xfrm>
            <a:off x="4572000" y="4407408"/>
            <a:ext cx="411480" cy="41148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572000" y="441655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A0F1A"/>
                </a:solidFill>
                <a:latin typeface="Inter"/>
              </a:rPr>
              <a:t>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212080" y="4379976"/>
            <a:ext cx="6430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8FAFC"/>
                </a:solidFill>
                <a:latin typeface="Inter"/>
              </a:rPr>
              <a:t>Every shot is a miss.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212080" y="4754880"/>
            <a:ext cx="64309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Inter"/>
              </a:rPr>
              <a:t>you never lose a cell. you never take damage.</a:t>
            </a:r>
          </a:p>
        </p:txBody>
      </p:sp>
      <p:sp>
        <p:nvSpPr>
          <p:cNvPr id="126" name="Oval 125"/>
          <p:cNvSpPr/>
          <p:nvPr/>
        </p:nvSpPr>
        <p:spPr>
          <a:xfrm>
            <a:off x="4572000" y="5184648"/>
            <a:ext cx="411480" cy="41148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572000" y="519379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A0F1A"/>
                </a:solidFill>
                <a:latin typeface="Inter"/>
              </a:rPr>
              <a:t>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212080" y="5157216"/>
            <a:ext cx="6430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8FAFC"/>
                </a:solidFill>
                <a:latin typeface="Inter"/>
              </a:rPr>
              <a:t>You win by elimination.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212080" y="5532120"/>
            <a:ext cx="64309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Inter"/>
              </a:rPr>
              <a:t>hash commitments alone cannot stop this.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38BDF8"/>
                </a:solidFill>
                <a:latin typeface="Inter"/>
              </a:rPr>
              <a:t>03  ·  THE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Inter"/>
              </a:rPr>
              <a:t>Prove legality, in zero knowledge.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JetBrains Mono"/>
              </a:rPr>
              <a:t>battleship</a:t>
            </a:r>
            <a:r>
              <a:rPr sz="1000" b="1">
                <a:solidFill>
                  <a:srgbClr val="F97316"/>
                </a:solidFill>
                <a:latin typeface="JetBrains Mono"/>
              </a:rPr>
              <a:t>.zk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720840"/>
            <a:ext cx="11094415" cy="38100"/>
          </a:xfrm>
          <a:prstGeom prst="rect">
            <a:avLst/>
          </a:prstGeom>
          <a:solidFill>
            <a:srgbClr val="273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720840"/>
            <a:ext cx="4930851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JetBrains Mono"/>
              </a:rPr>
              <a:t>04 / 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F97316"/>
                </a:solidFill>
                <a:latin typeface="Inter"/>
              </a:rPr>
              <a:t>The proof IS the validity certificate.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8620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F8FAFC"/>
                </a:solidFill>
                <a:latin typeface="Inter"/>
              </a:rPr>
              <a:t>One zk-SNARK, generated in the browser before the first shot.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976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94A3B8"/>
                </a:solidFill>
                <a:latin typeface="Inter"/>
              </a:rPr>
              <a:t>Verified once on-chain. No ship-count lies survive.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074920"/>
            <a:ext cx="11094415" cy="1005840"/>
          </a:xfrm>
          <a:prstGeom prst="roundRect">
            <a:avLst>
              <a:gd name="adj" fmla="val 18000"/>
            </a:avLst>
          </a:prstGeom>
          <a:solidFill>
            <a:srgbClr val="1B2942"/>
          </a:solidFill>
          <a:ln w="1270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239512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250">
                <a:solidFill>
                  <a:srgbClr val="38BDF8"/>
                </a:solidFill>
                <a:latin typeface="Inter"/>
              </a:rPr>
              <a:t>THE FLEET CONSTRAINT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532120"/>
            <a:ext cx="10454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8FAFC"/>
                </a:solidFill>
                <a:latin typeface="JetBrains Mono"/>
              </a:rPr>
              <a:t>17 cells  -  1x5  -  1x4  -  2x3  -  1x2  -  no overlaps  -  no diagonals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38BDF8"/>
                </a:solidFill>
                <a:latin typeface="Inter"/>
              </a:rPr>
              <a:t>04  ·  THE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Inter"/>
              </a:rPr>
              <a:t>Noir + UltraHonk.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JetBrains Mono"/>
              </a:rPr>
              <a:t>battleship</a:t>
            </a:r>
            <a:r>
              <a:rPr sz="1000" b="1">
                <a:solidFill>
                  <a:srgbClr val="F97316"/>
                </a:solidFill>
                <a:latin typeface="JetBrains Mono"/>
              </a:rPr>
              <a:t>.zk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720840"/>
            <a:ext cx="11094415" cy="38100"/>
          </a:xfrm>
          <a:prstGeom prst="rect">
            <a:avLst/>
          </a:prstGeom>
          <a:solidFill>
            <a:srgbClr val="273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720840"/>
            <a:ext cx="6163563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JetBrains Mono"/>
              </a:rPr>
              <a:t>05 / 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5410047" cy="1737359"/>
          </a:xfrm>
          <a:prstGeom prst="roundRect">
            <a:avLst>
              <a:gd name="adj" fmla="val 10000"/>
            </a:avLst>
          </a:prstGeom>
          <a:solidFill>
            <a:srgbClr val="1B2942"/>
          </a:solidFill>
          <a:ln w="1270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560320"/>
            <a:ext cx="486140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spc="200">
                <a:solidFill>
                  <a:srgbClr val="F97316"/>
                </a:solidFill>
                <a:latin typeface="JetBrains Mono"/>
              </a:rPr>
              <a:t>NOIR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880360"/>
            <a:ext cx="48614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Inter"/>
              </a:rPr>
              <a:t>Rust-like zk DSL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91840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94A3B8"/>
                </a:solidFill>
                <a:latin typeface="Inter"/>
              </a:rPr>
              <a:t>Readable circuits.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94A3B8"/>
                </a:solidFill>
                <a:latin typeface="Inter"/>
              </a:rPr>
              <a:t>Compiles to arithmetic constraints.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94A3B8"/>
                </a:solidFill>
                <a:latin typeface="Inter"/>
              </a:rPr>
              <a:t>WASM prover runs in the browser.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331720"/>
            <a:ext cx="5410047" cy="1737359"/>
          </a:xfrm>
          <a:prstGeom prst="roundRect">
            <a:avLst>
              <a:gd name="adj" fmla="val 10000"/>
            </a:avLst>
          </a:prstGeom>
          <a:solidFill>
            <a:srgbClr val="1B2942"/>
          </a:solidFill>
          <a:ln w="1270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2560320"/>
            <a:ext cx="486140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spc="200">
                <a:solidFill>
                  <a:srgbClr val="F97316"/>
                </a:solidFill>
                <a:latin typeface="JetBrains Mono"/>
              </a:rPr>
              <a:t>ULTRAHONK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880360"/>
            <a:ext cx="48614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Inter"/>
              </a:rPr>
              <a:t>PLONK-family backend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3291840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94A3B8"/>
                </a:solidFill>
                <a:latin typeface="Inter"/>
              </a:rPr>
              <a:t>Aztec's modern proof system.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94A3B8"/>
                </a:solidFill>
                <a:latin typeface="Inter"/>
              </a:rPr>
              <a:t>No trusted setup ceremony.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94A3B8"/>
                </a:solidFill>
                <a:latin typeface="Inter"/>
              </a:rPr>
              <a:t>No powers-of-tau, no toxic waste.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343399"/>
            <a:ext cx="5410047" cy="1737359"/>
          </a:xfrm>
          <a:prstGeom prst="roundRect">
            <a:avLst>
              <a:gd name="adj" fmla="val 10000"/>
            </a:avLst>
          </a:prstGeom>
          <a:solidFill>
            <a:srgbClr val="1B2942"/>
          </a:solidFill>
          <a:ln w="1270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571999"/>
            <a:ext cx="486140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spc="200">
                <a:solidFill>
                  <a:srgbClr val="F97316"/>
                </a:solidFill>
                <a:latin typeface="JetBrains Mono"/>
              </a:rPr>
              <a:t>PEDERSEN HASH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892039"/>
            <a:ext cx="48614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Inter"/>
              </a:rPr>
              <a:t>In-circuit commitment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303519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94A3B8"/>
                </a:solidFill>
                <a:latin typeface="Inter"/>
              </a:rPr>
              <a:t>Cheap to compute inside zk.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94A3B8"/>
                </a:solidFill>
                <a:latin typeface="Inter"/>
              </a:rPr>
              <a:t>Binds 100 cells + salt.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94A3B8"/>
                </a:solidFill>
                <a:latin typeface="Inter"/>
              </a:rPr>
              <a:t>One field element, used as the board commit.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3007" y="4343399"/>
            <a:ext cx="5410047" cy="1737359"/>
          </a:xfrm>
          <a:prstGeom prst="roundRect">
            <a:avLst>
              <a:gd name="adj" fmla="val 10000"/>
            </a:avLst>
          </a:prstGeom>
          <a:solidFill>
            <a:srgbClr val="1B2942"/>
          </a:solidFill>
          <a:ln w="1270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4571999"/>
            <a:ext cx="486140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spc="200">
                <a:solidFill>
                  <a:srgbClr val="F97316"/>
                </a:solidFill>
                <a:latin typeface="JetBrains Mono"/>
              </a:rPr>
              <a:t>HONKVERIFIER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7327" y="4892039"/>
            <a:ext cx="48614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Inter"/>
              </a:rPr>
              <a:t>Auto-generated Solidity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7327" y="5303519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94A3B8"/>
                </a:solidFill>
                <a:latin typeface="Inter"/>
              </a:rPr>
              <a:t>~2,460 lines of verifier.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94A3B8"/>
                </a:solidFill>
                <a:latin typeface="Inter"/>
              </a:rPr>
              <a:t>~250k gas per verify call.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94A3B8"/>
                </a:solidFill>
                <a:latin typeface="Inter"/>
              </a:rPr>
              <a:t>Dropped straight into the repo.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38BDF8"/>
                </a:solidFill>
                <a:latin typeface="Inter"/>
              </a:rPr>
              <a:t>05  · 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Inter"/>
              </a:rPr>
              <a:t>Browser proves. Chain verifies.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JetBrains Mono"/>
              </a:rPr>
              <a:t>battleship</a:t>
            </a:r>
            <a:r>
              <a:rPr sz="1000" b="1">
                <a:solidFill>
                  <a:srgbClr val="F97316"/>
                </a:solidFill>
                <a:latin typeface="JetBrains Mono"/>
              </a:rPr>
              <a:t>.zk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720840"/>
            <a:ext cx="11094415" cy="38100"/>
          </a:xfrm>
          <a:prstGeom prst="rect">
            <a:avLst/>
          </a:prstGeom>
          <a:solidFill>
            <a:srgbClr val="273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720840"/>
            <a:ext cx="7396276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JetBrains Mono"/>
              </a:rPr>
              <a:t>06 / 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14600"/>
            <a:ext cx="1691640" cy="1280160"/>
          </a:xfrm>
          <a:prstGeom prst="roundRect">
            <a:avLst>
              <a:gd name="adj" fmla="val 22000"/>
            </a:avLst>
          </a:prstGeom>
          <a:solidFill>
            <a:srgbClr val="1B2942"/>
          </a:solidFill>
          <a:ln w="1270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6060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50">
                <a:solidFill>
                  <a:srgbClr val="F97316"/>
                </a:solidFill>
                <a:latin typeface="JetBrains Mono"/>
              </a:rPr>
              <a:t>FLEET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926080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Inter"/>
              </a:rPr>
              <a:t>Fleet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55848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JetBrains Mono"/>
              </a:rPr>
              <a:t>private[100]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29195" y="2514600"/>
            <a:ext cx="1691640" cy="1280160"/>
          </a:xfrm>
          <a:prstGeom prst="roundRect">
            <a:avLst>
              <a:gd name="adj" fmla="val 22000"/>
            </a:avLst>
          </a:prstGeom>
          <a:solidFill>
            <a:srgbClr val="1B2942"/>
          </a:solidFill>
          <a:ln w="1270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6355" y="26060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50">
                <a:solidFill>
                  <a:srgbClr val="F97316"/>
                </a:solidFill>
                <a:latin typeface="JetBrains Mono"/>
              </a:rPr>
              <a:t>PED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6355" y="2926080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Inter"/>
              </a:rPr>
              <a:t>Pedersen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6355" y="3355848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JetBrains Mono"/>
              </a:rPr>
              <a:t>hash → commit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09750" y="2514600"/>
            <a:ext cx="1691640" cy="1280160"/>
          </a:xfrm>
          <a:prstGeom prst="roundRect">
            <a:avLst>
              <a:gd name="adj" fmla="val 22000"/>
            </a:avLst>
          </a:prstGeom>
          <a:solidFill>
            <a:srgbClr val="1B2942"/>
          </a:solidFill>
          <a:ln w="1270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46910" y="26060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50">
                <a:solidFill>
                  <a:srgbClr val="F97316"/>
                </a:solidFill>
                <a:latin typeface="JetBrains Mono"/>
              </a:rPr>
              <a:t>NOIR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6910" y="2926080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Inter"/>
              </a:rPr>
              <a:t>Noir circuit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6910" y="3355848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JetBrains Mono"/>
              </a:rPr>
              <a:t>board_validity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0305" y="2514600"/>
            <a:ext cx="1691640" cy="1280160"/>
          </a:xfrm>
          <a:prstGeom prst="roundRect">
            <a:avLst>
              <a:gd name="adj" fmla="val 22000"/>
            </a:avLst>
          </a:prstGeom>
          <a:solidFill>
            <a:srgbClr val="1B2942"/>
          </a:solidFill>
          <a:ln w="1270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465" y="26060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50">
                <a:solidFill>
                  <a:srgbClr val="F97316"/>
                </a:solidFill>
                <a:latin typeface="JetBrains Mono"/>
              </a:rPr>
              <a:t>HONK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465" y="2926080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Inter"/>
              </a:rPr>
              <a:t>UltraHonk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7465" y="3355848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JetBrains Mono"/>
              </a:rPr>
              <a:t>proof blob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70860" y="2514600"/>
            <a:ext cx="1691640" cy="1280160"/>
          </a:xfrm>
          <a:prstGeom prst="roundRect">
            <a:avLst>
              <a:gd name="adj" fmla="val 22000"/>
            </a:avLst>
          </a:prstGeom>
          <a:solidFill>
            <a:srgbClr val="1B2942"/>
          </a:solidFill>
          <a:ln w="1270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08020" y="26060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50">
                <a:solidFill>
                  <a:srgbClr val="F97316"/>
                </a:solidFill>
                <a:latin typeface="JetBrains Mono"/>
              </a:rPr>
              <a:t>SOL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8020" y="2926080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Inter"/>
              </a:rPr>
              <a:t>HonkVerifier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8020" y="3355848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JetBrains Mono"/>
              </a:rPr>
              <a:t>Solidity verify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51415" y="2514600"/>
            <a:ext cx="1691640" cy="1280160"/>
          </a:xfrm>
          <a:prstGeom prst="roundRect">
            <a:avLst>
              <a:gd name="adj" fmla="val 22000"/>
            </a:avLst>
          </a:prstGeom>
          <a:solidFill>
            <a:srgbClr val="1B2942"/>
          </a:solidFill>
          <a:ln w="1270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88575" y="26060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50">
                <a:solidFill>
                  <a:srgbClr val="F97316"/>
                </a:solidFill>
                <a:latin typeface="JetBrains Mono"/>
              </a:rPr>
              <a:t>GAME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88575" y="2926080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Inter"/>
              </a:rPr>
              <a:t>BattleshipGame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88575" y="3355848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JetBrains Mono"/>
              </a:rPr>
              <a:t>settle on-chain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260280.0" y="3154680"/>
            <a:ext cx="148915.0" cy="0"/>
          </a:xfrm>
          <a:prstGeom prst="bentConnector3">
            <a:avLst/>
          </a:prstGeom>
          <a:ln w="22225">
            <a:solidFill>
              <a:srgbClr val="F9731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140835.0" y="3154680"/>
            <a:ext cx="148915.0" cy="0"/>
          </a:xfrm>
          <a:prstGeom prst="bentConnector3">
            <a:avLst/>
          </a:prstGeom>
          <a:ln w="22225">
            <a:solidFill>
              <a:srgbClr val="F9731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021390.0" y="3154680"/>
            <a:ext cx="148915.0" cy="0"/>
          </a:xfrm>
          <a:prstGeom prst="bentConnector3">
            <a:avLst/>
          </a:prstGeom>
          <a:ln w="22225">
            <a:solidFill>
              <a:srgbClr val="F9731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901945.0" y="3154680"/>
            <a:ext cx="148915.0" cy="0"/>
          </a:xfrm>
          <a:prstGeom prst="bentConnector3">
            <a:avLst/>
          </a:prstGeom>
          <a:ln w="22225">
            <a:solidFill>
              <a:srgbClr val="F9731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782500.0" y="3154680"/>
            <a:ext cx="148915.0" cy="0"/>
          </a:xfrm>
          <a:prstGeom prst="bentConnector3">
            <a:avLst/>
          </a:prstGeom>
          <a:ln w="22225">
            <a:solidFill>
              <a:srgbClr val="F9731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48640" y="420624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250">
                <a:solidFill>
                  <a:srgbClr val="94A3B8"/>
                </a:solidFill>
                <a:latin typeface="Inter"/>
              </a:rPr>
              <a:t>BROWSER  →  WASM PROVER  →  NOIR  →  SOLIDITY VERIFIER  →  CHAIN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07492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Inter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056632"/>
            <a:ext cx="34238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Inter"/>
              </a:rPr>
              <a:t>Browser proves, chain verifies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46778" y="507492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97316"/>
                </a:solidFill>
                <a:latin typeface="Inter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1098" y="5056632"/>
            <a:ext cx="34238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Inter"/>
              </a:rPr>
              <a:t>Burner wallets sign, zero popups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44916" y="507492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4ADE80"/>
                </a:solidFill>
                <a:latin typeface="Inter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19236" y="5056632"/>
            <a:ext cx="34238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Inter"/>
              </a:rPr>
              <a:t>Local Anvil for instant demo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50">
                <a:solidFill>
                  <a:srgbClr val="38BDF8"/>
                </a:solidFill>
                <a:latin typeface="Inter"/>
              </a:rPr>
              <a:t>06  ·  SWITCH TO THE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148840"/>
            <a:ext cx="12191695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00" b="1">
                <a:solidFill>
                  <a:srgbClr val="F97316"/>
                </a:solidFill>
                <a:latin typeface="Inter"/>
              </a:rPr>
              <a:t>LIVE DEMO 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343400"/>
            <a:ext cx="121916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F8FAFC"/>
                </a:solidFill>
                <a:latin typeface="JetBrains Mono"/>
              </a:rPr>
              <a:t>http://localhost:5173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spc="150">
                <a:solidFill>
                  <a:srgbClr val="94A3B8"/>
                </a:solidFill>
                <a:latin typeface="Inter"/>
              </a:rPr>
              <a:t>two burner wallets  ·  one laptop  ·  zero trust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JetBrains Mono"/>
              </a:rPr>
              <a:t>battleship</a:t>
            </a:r>
            <a:r>
              <a:rPr sz="1000" b="1">
                <a:solidFill>
                  <a:srgbClr val="F97316"/>
                </a:solidFill>
                <a:latin typeface="JetBrains Mono"/>
              </a:rPr>
              <a:t>.zk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720840"/>
            <a:ext cx="11094415" cy="38100"/>
          </a:xfrm>
          <a:prstGeom prst="rect">
            <a:avLst/>
          </a:prstGeom>
          <a:solidFill>
            <a:srgbClr val="273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6720840"/>
            <a:ext cx="8628989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JetBrains Mono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38BDF8"/>
                </a:solidFill>
                <a:latin typeface="Inter"/>
              </a:rPr>
              <a:t>07  · 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Inter"/>
              </a:rPr>
              <a:t>What was proven on-chain.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JetBrains Mono"/>
              </a:rPr>
              <a:t>battleship</a:t>
            </a:r>
            <a:r>
              <a:rPr sz="1000" b="1">
                <a:solidFill>
                  <a:srgbClr val="F97316"/>
                </a:solidFill>
                <a:latin typeface="JetBrains Mono"/>
              </a:rPr>
              <a:t>.zk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720840"/>
            <a:ext cx="11094415" cy="38100"/>
          </a:xfrm>
          <a:prstGeom prst="rect">
            <a:avLst/>
          </a:prstGeom>
          <a:solidFill>
            <a:srgbClr val="273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720840"/>
            <a:ext cx="9861702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JetBrains Mono"/>
              </a:rPr>
              <a:t>08 / 09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350008"/>
            <a:ext cx="640080" cy="6400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04872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0A0F1A"/>
                </a:solidFill>
                <a:latin typeface="Inter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350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Inter"/>
              </a:rPr>
              <a:t>Board legality before the first 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88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Inter"/>
              </a:rPr>
              <a:t>Can't commit an all-empty board. The circuit rejects it.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310128"/>
            <a:ext cx="640080" cy="6400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364992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0A0F1A"/>
                </a:solidFill>
                <a:latin typeface="Inter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3101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Inter"/>
              </a:rPr>
              <a:t>Every shot response consistent with the committed 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7490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Inter"/>
              </a:rPr>
              <a:t>Hit or miss, bound back to the original Pedersen commitment.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270248"/>
            <a:ext cx="640080" cy="6400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325112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0A0F1A"/>
                </a:solidFill>
                <a:latin typeface="Inter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27024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Inter"/>
              </a:rPr>
              <a:t>Zero trust in the opponent's claims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7091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Inter"/>
              </a:rPr>
              <a:t>Every answer is a proof the contract verifies, not a promise.</a:t>
            </a:r>
          </a:p>
        </p:txBody>
      </p:sp>
      <p:sp>
        <p:nvSpPr>
          <p:cNvPr id="22" name="Oval 21"/>
          <p:cNvSpPr/>
          <p:nvPr/>
        </p:nvSpPr>
        <p:spPr>
          <a:xfrm>
            <a:off x="548640" y="5230368"/>
            <a:ext cx="640080" cy="6400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285232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0A0F1A"/>
                </a:solidFill>
                <a:latin typeface="Inter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23036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Inter"/>
              </a:rPr>
              <a:t>Zero trusted-setup ceremony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6692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Inter"/>
              </a:rPr>
              <a:t>UltraHonk means no multi-party ritual, no toxic waste.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38BDF8"/>
                </a:solidFill>
                <a:latin typeface="Inter"/>
              </a:rPr>
              <a:t>08  ·  NEXT +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Inter"/>
              </a:rPr>
              <a:t>What's next.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JetBrains Mono"/>
              </a:rPr>
              <a:t>battleship</a:t>
            </a:r>
            <a:r>
              <a:rPr sz="1000" b="1">
                <a:solidFill>
                  <a:srgbClr val="F97316"/>
                </a:solidFill>
                <a:latin typeface="JetBrains Mono"/>
              </a:rPr>
              <a:t>.zk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720840"/>
            <a:ext cx="11094415" cy="38100"/>
          </a:xfrm>
          <a:prstGeom prst="rect">
            <a:avLst/>
          </a:prstGeom>
          <a:solidFill>
            <a:srgbClr val="273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720840"/>
            <a:ext cx="11094415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JetBrains Mono"/>
              </a:rPr>
              <a:t>09 / 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spc="150">
                <a:solidFill>
                  <a:srgbClr val="F97316"/>
                </a:solidFill>
                <a:latin typeface="JetBrains Mono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304288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  <a:latin typeface="Inter"/>
              </a:rPr>
              <a:t>Mainnet deployment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67919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Inter"/>
              </a:rPr>
              <a:t>Solidity verifier is deploy-ready.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2461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spc="150">
                <a:solidFill>
                  <a:srgbClr val="F97316"/>
                </a:solidFill>
                <a:latin typeface="JetBrains Mon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218688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  <a:latin typeface="Inter"/>
              </a:rPr>
              <a:t>Circuit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59359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Inter"/>
              </a:rPr>
              <a:t>Shrink shot-response constraints.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605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spc="150">
                <a:solidFill>
                  <a:srgbClr val="F97316"/>
                </a:solidFill>
                <a:latin typeface="JetBrains Mono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33088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  <a:latin typeface="Inter"/>
              </a:rPr>
              <a:t>Multi-game lobby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50799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Inter"/>
              </a:rPr>
              <a:t>Matchmaking plus state routing.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2331720"/>
            <a:ext cx="12700" cy="3566160"/>
          </a:xfrm>
          <a:prstGeom prst="rect">
            <a:avLst/>
          </a:prstGeom>
          <a:solidFill>
            <a:srgbClr val="273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50">
                <a:solidFill>
                  <a:srgbClr val="38BDF8"/>
                </a:solidFill>
                <a:latin typeface="Inter"/>
              </a:rPr>
              <a:t>Q &amp; 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2834640"/>
            <a:ext cx="47548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>
                <a:solidFill>
                  <a:srgbClr val="F97316"/>
                </a:solidFill>
                <a:latin typeface="Inter"/>
              </a:rPr>
              <a:t>Questions?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4434840"/>
            <a:ext cx="47548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Inter"/>
              </a:rPr>
              <a:t>Circuits, contracts, frontend -- everything is open source.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5212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8FAFC"/>
                </a:solidFill>
                <a:latin typeface="JetBrains Mono"/>
              </a:rPr>
              <a:t>github.com/ battleship-zk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